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5143500" cx="9144000"/>
  <p:notesSz cx="6858000" cy="9144000"/>
  <p:embeddedFontLst>
    <p:embeddedFont>
      <p:font typeface="Roboto Mono"/>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F8CB172-22BE-437F-BA43-51FDB99822CB}">
  <a:tblStyle styleId="{3F8CB172-22BE-437F-BA43-51FDB99822CB}"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00EA39ED-CEC4-4C0F-A5C9-E7E0E0D63DE0}"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RobotoMono-bold.fntdata"/><Relationship Id="rId23" Type="http://schemas.openxmlformats.org/officeDocument/2006/relationships/font" Target="fonts/RobotoMon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RobotoMono-boldItalic.fntdata"/><Relationship Id="rId25" Type="http://schemas.openxmlformats.org/officeDocument/2006/relationships/font" Target="fonts/RobotoMono-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f931b27330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3f931b27330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f931b27330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f931b27330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f931b27330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f931b27330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f931b27330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f931b27330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f9356d3775_3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f9356d3775_3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f9356d3775_3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f9356d3775_3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f9356d3775_3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f9356d3775_3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f9356d3775_3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f9356d3775_3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f9356d3775_3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f9356d3775_3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f9356d3775_3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f9356d3775_3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f9356d3775_3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f9356d3775_3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f9356d3775_3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f9356d3775_3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f9356d3775_3_2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f9356d3775_3_2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f9356d3775_3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f9356d3775_3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f9356d3775_3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f9356d3775_3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Trebuchet MS"/>
              <a:buNone/>
              <a:defRPr sz="2800">
                <a:solidFill>
                  <a:schemeClr val="dk1"/>
                </a:solidFill>
                <a:latin typeface="Trebuchet MS"/>
                <a:ea typeface="Trebuchet MS"/>
                <a:cs typeface="Trebuchet MS"/>
                <a:sym typeface="Trebuchet M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Trebuchet MS"/>
              <a:buChar char="●"/>
              <a:defRPr sz="1800">
                <a:solidFill>
                  <a:schemeClr val="dk2"/>
                </a:solidFill>
                <a:latin typeface="Trebuchet MS"/>
                <a:ea typeface="Trebuchet MS"/>
                <a:cs typeface="Trebuchet MS"/>
                <a:sym typeface="Trebuchet MS"/>
              </a:defRPr>
            </a:lvl1pPr>
            <a:lvl2pPr indent="-317500" lvl="1" marL="914400">
              <a:lnSpc>
                <a:spcPct val="115000"/>
              </a:lnSpc>
              <a:spcBef>
                <a:spcPts val="0"/>
              </a:spcBef>
              <a:spcAft>
                <a:spcPts val="0"/>
              </a:spcAft>
              <a:buClr>
                <a:schemeClr val="dk2"/>
              </a:buClr>
              <a:buSzPts val="1400"/>
              <a:buFont typeface="Trebuchet MS"/>
              <a:buChar char="○"/>
              <a:defRPr>
                <a:solidFill>
                  <a:schemeClr val="dk2"/>
                </a:solidFill>
                <a:latin typeface="Trebuchet MS"/>
                <a:ea typeface="Trebuchet MS"/>
                <a:cs typeface="Trebuchet MS"/>
                <a:sym typeface="Trebuchet MS"/>
              </a:defRPr>
            </a:lvl2pPr>
            <a:lvl3pPr indent="-317500" lvl="2" marL="1371600">
              <a:lnSpc>
                <a:spcPct val="115000"/>
              </a:lnSpc>
              <a:spcBef>
                <a:spcPts val="0"/>
              </a:spcBef>
              <a:spcAft>
                <a:spcPts val="0"/>
              </a:spcAft>
              <a:buClr>
                <a:schemeClr val="dk2"/>
              </a:buClr>
              <a:buSzPts val="1400"/>
              <a:buFont typeface="Trebuchet MS"/>
              <a:buChar char="■"/>
              <a:defRPr>
                <a:solidFill>
                  <a:schemeClr val="dk2"/>
                </a:solidFill>
                <a:latin typeface="Trebuchet MS"/>
                <a:ea typeface="Trebuchet MS"/>
                <a:cs typeface="Trebuchet MS"/>
                <a:sym typeface="Trebuchet MS"/>
              </a:defRPr>
            </a:lvl3pPr>
            <a:lvl4pPr indent="-317500" lvl="3" marL="1828800">
              <a:lnSpc>
                <a:spcPct val="115000"/>
              </a:lnSpc>
              <a:spcBef>
                <a:spcPts val="0"/>
              </a:spcBef>
              <a:spcAft>
                <a:spcPts val="0"/>
              </a:spcAft>
              <a:buClr>
                <a:schemeClr val="dk2"/>
              </a:buClr>
              <a:buSzPts val="1400"/>
              <a:buFont typeface="Trebuchet MS"/>
              <a:buChar char="●"/>
              <a:defRPr>
                <a:solidFill>
                  <a:schemeClr val="dk2"/>
                </a:solidFill>
                <a:latin typeface="Trebuchet MS"/>
                <a:ea typeface="Trebuchet MS"/>
                <a:cs typeface="Trebuchet MS"/>
                <a:sym typeface="Trebuchet MS"/>
              </a:defRPr>
            </a:lvl4pPr>
            <a:lvl5pPr indent="-317500" lvl="4" marL="2286000">
              <a:lnSpc>
                <a:spcPct val="115000"/>
              </a:lnSpc>
              <a:spcBef>
                <a:spcPts val="0"/>
              </a:spcBef>
              <a:spcAft>
                <a:spcPts val="0"/>
              </a:spcAft>
              <a:buClr>
                <a:schemeClr val="dk2"/>
              </a:buClr>
              <a:buSzPts val="1400"/>
              <a:buFont typeface="Trebuchet MS"/>
              <a:buChar char="○"/>
              <a:defRPr>
                <a:solidFill>
                  <a:schemeClr val="dk2"/>
                </a:solidFill>
                <a:latin typeface="Trebuchet MS"/>
                <a:ea typeface="Trebuchet MS"/>
                <a:cs typeface="Trebuchet MS"/>
                <a:sym typeface="Trebuchet MS"/>
              </a:defRPr>
            </a:lvl5pPr>
            <a:lvl6pPr indent="-317500" lvl="5" marL="2743200">
              <a:lnSpc>
                <a:spcPct val="115000"/>
              </a:lnSpc>
              <a:spcBef>
                <a:spcPts val="0"/>
              </a:spcBef>
              <a:spcAft>
                <a:spcPts val="0"/>
              </a:spcAft>
              <a:buClr>
                <a:schemeClr val="dk2"/>
              </a:buClr>
              <a:buSzPts val="1400"/>
              <a:buFont typeface="Trebuchet MS"/>
              <a:buChar char="■"/>
              <a:defRPr>
                <a:solidFill>
                  <a:schemeClr val="dk2"/>
                </a:solidFill>
                <a:latin typeface="Trebuchet MS"/>
                <a:ea typeface="Trebuchet MS"/>
                <a:cs typeface="Trebuchet MS"/>
                <a:sym typeface="Trebuchet MS"/>
              </a:defRPr>
            </a:lvl6pPr>
            <a:lvl7pPr indent="-317500" lvl="6" marL="3200400">
              <a:lnSpc>
                <a:spcPct val="115000"/>
              </a:lnSpc>
              <a:spcBef>
                <a:spcPts val="0"/>
              </a:spcBef>
              <a:spcAft>
                <a:spcPts val="0"/>
              </a:spcAft>
              <a:buClr>
                <a:schemeClr val="dk2"/>
              </a:buClr>
              <a:buSzPts val="1400"/>
              <a:buFont typeface="Trebuchet MS"/>
              <a:buChar char="●"/>
              <a:defRPr>
                <a:solidFill>
                  <a:schemeClr val="dk2"/>
                </a:solidFill>
                <a:latin typeface="Trebuchet MS"/>
                <a:ea typeface="Trebuchet MS"/>
                <a:cs typeface="Trebuchet MS"/>
                <a:sym typeface="Trebuchet MS"/>
              </a:defRPr>
            </a:lvl7pPr>
            <a:lvl8pPr indent="-317500" lvl="7" marL="3657600">
              <a:lnSpc>
                <a:spcPct val="115000"/>
              </a:lnSpc>
              <a:spcBef>
                <a:spcPts val="0"/>
              </a:spcBef>
              <a:spcAft>
                <a:spcPts val="0"/>
              </a:spcAft>
              <a:buClr>
                <a:schemeClr val="dk2"/>
              </a:buClr>
              <a:buSzPts val="1400"/>
              <a:buFont typeface="Trebuchet MS"/>
              <a:buChar char="○"/>
              <a:defRPr>
                <a:solidFill>
                  <a:schemeClr val="dk2"/>
                </a:solidFill>
                <a:latin typeface="Trebuchet MS"/>
                <a:ea typeface="Trebuchet MS"/>
                <a:cs typeface="Trebuchet MS"/>
                <a:sym typeface="Trebuchet MS"/>
              </a:defRPr>
            </a:lvl8pPr>
            <a:lvl9pPr indent="-317500" lvl="8" marL="4114800">
              <a:lnSpc>
                <a:spcPct val="115000"/>
              </a:lnSpc>
              <a:spcBef>
                <a:spcPts val="0"/>
              </a:spcBef>
              <a:spcAft>
                <a:spcPts val="0"/>
              </a:spcAft>
              <a:buClr>
                <a:schemeClr val="dk2"/>
              </a:buClr>
              <a:buSzPts val="1400"/>
              <a:buFont typeface="Trebuchet MS"/>
              <a:buChar char="■"/>
              <a:defRPr>
                <a:solidFill>
                  <a:schemeClr val="dk2"/>
                </a:solidFill>
                <a:latin typeface="Trebuchet MS"/>
                <a:ea typeface="Trebuchet MS"/>
                <a:cs typeface="Trebuchet MS"/>
                <a:sym typeface="Trebuchet M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arxiv.org/pdf/2605.13319" TargetMode="External"/><Relationship Id="rId4" Type="http://schemas.openxmlformats.org/officeDocument/2006/relationships/hyperlink" Target="https://github.com/Nuyoahwjl/PipeSD" TargetMode="External"/><Relationship Id="rId5"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4.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3.gif"/><Relationship Id="rId5" Type="http://schemas.openxmlformats.org/officeDocument/2006/relationships/image" Target="../media/image8.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2.gif"/><Relationship Id="rId5" Type="http://schemas.openxmlformats.org/officeDocument/2006/relationships/image" Target="../media/image16.gif"/><Relationship Id="rId6" Type="http://schemas.openxmlformats.org/officeDocument/2006/relationships/image" Target="../media/image9.gif"/><Relationship Id="rId7" Type="http://schemas.openxmlformats.org/officeDocument/2006/relationships/image" Target="../media/image13.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2997150" y="1206500"/>
            <a:ext cx="3149700" cy="1399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zh-CN" sz="7000">
                <a:latin typeface="Trebuchet MS"/>
                <a:ea typeface="Trebuchet MS"/>
                <a:cs typeface="Trebuchet MS"/>
                <a:sym typeface="Trebuchet MS"/>
              </a:rPr>
              <a:t>PipeSD</a:t>
            </a:r>
            <a:endParaRPr b="1" sz="7000">
              <a:latin typeface="Trebuchet MS"/>
              <a:ea typeface="Trebuchet MS"/>
              <a:cs typeface="Trebuchet MS"/>
              <a:sym typeface="Trebuchet MS"/>
            </a:endParaRPr>
          </a:p>
        </p:txBody>
      </p:sp>
      <p:sp>
        <p:nvSpPr>
          <p:cNvPr id="55" name="Google Shape;55;p13"/>
          <p:cNvSpPr txBox="1"/>
          <p:nvPr>
            <p:ph idx="1" type="subTitle"/>
          </p:nvPr>
        </p:nvSpPr>
        <p:spPr>
          <a:xfrm>
            <a:off x="405000" y="2784526"/>
            <a:ext cx="8520600" cy="792600"/>
          </a:xfrm>
          <a:prstGeom prst="rect">
            <a:avLst/>
          </a:prstGeom>
        </p:spPr>
        <p:txBody>
          <a:bodyPr anchorCtr="0" anchor="ctr" bIns="91425" lIns="91425" spcFirstLastPara="1" rIns="91425" wrap="square" tIns="91425">
            <a:normAutofit fontScale="85000" lnSpcReduction="20000"/>
          </a:bodyPr>
          <a:lstStyle/>
          <a:p>
            <a:pPr indent="0" lvl="0" marL="0" rtl="0" algn="ctr">
              <a:spcBef>
                <a:spcPts val="0"/>
              </a:spcBef>
              <a:spcAft>
                <a:spcPts val="0"/>
              </a:spcAft>
              <a:buNone/>
            </a:pPr>
            <a:r>
              <a:rPr b="1" lang="zh-CN">
                <a:latin typeface="Trebuchet MS"/>
                <a:ea typeface="Trebuchet MS"/>
                <a:cs typeface="Trebuchet MS"/>
                <a:sym typeface="Trebuchet MS"/>
              </a:rPr>
              <a:t>An Efficient Cloud-Edge Collaborative Pipeline Inference Framework with Speculative Decoding</a:t>
            </a:r>
            <a:endParaRPr b="1">
              <a:latin typeface="Trebuchet MS"/>
              <a:ea typeface="Trebuchet MS"/>
              <a:cs typeface="Trebuchet MS"/>
              <a:sym typeface="Trebuchet MS"/>
            </a:endParaRPr>
          </a:p>
        </p:txBody>
      </p:sp>
      <p:sp>
        <p:nvSpPr>
          <p:cNvPr id="56" name="Google Shape;56;p13"/>
          <p:cNvSpPr/>
          <p:nvPr/>
        </p:nvSpPr>
        <p:spPr>
          <a:xfrm>
            <a:off x="0" y="4807975"/>
            <a:ext cx="9144000" cy="335400"/>
          </a:xfrm>
          <a:prstGeom prst="rect">
            <a:avLst/>
          </a:prstGeom>
          <a:solidFill>
            <a:srgbClr val="1C458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zh-CN" sz="1500">
                <a:solidFill>
                  <a:schemeClr val="lt2"/>
                </a:solidFill>
                <a:latin typeface="Trebuchet MS"/>
                <a:ea typeface="Trebuchet MS"/>
                <a:cs typeface="Trebuchet MS"/>
                <a:sym typeface="Trebuchet MS"/>
              </a:rPr>
              <a:t>Paper:</a:t>
            </a:r>
            <a:r>
              <a:rPr lang="zh-CN" sz="1500">
                <a:solidFill>
                  <a:schemeClr val="dk2"/>
                </a:solidFill>
                <a:latin typeface="Trebuchet MS"/>
                <a:ea typeface="Trebuchet MS"/>
                <a:cs typeface="Trebuchet MS"/>
                <a:sym typeface="Trebuchet MS"/>
              </a:rPr>
              <a:t> </a:t>
            </a:r>
            <a:r>
              <a:rPr lang="zh-CN" sz="1500" u="sng">
                <a:solidFill>
                  <a:schemeClr val="hlink"/>
                </a:solidFill>
                <a:latin typeface="Trebuchet MS"/>
                <a:ea typeface="Trebuchet MS"/>
                <a:cs typeface="Trebuchet MS"/>
                <a:sym typeface="Trebuchet MS"/>
                <a:hlinkClick r:id="rId3"/>
              </a:rPr>
              <a:t>https://arxiv.org/pdf/2605.13319</a:t>
            </a:r>
            <a:r>
              <a:rPr lang="zh-CN" sz="1500">
                <a:solidFill>
                  <a:schemeClr val="dk2"/>
                </a:solidFill>
                <a:latin typeface="Trebuchet MS"/>
                <a:ea typeface="Trebuchet MS"/>
                <a:cs typeface="Trebuchet MS"/>
                <a:sym typeface="Trebuchet MS"/>
              </a:rPr>
              <a:t>     </a:t>
            </a:r>
            <a:r>
              <a:rPr lang="zh-CN" sz="1500">
                <a:solidFill>
                  <a:schemeClr val="lt2"/>
                </a:solidFill>
                <a:latin typeface="Trebuchet MS"/>
                <a:ea typeface="Trebuchet MS"/>
                <a:cs typeface="Trebuchet MS"/>
                <a:sym typeface="Trebuchet MS"/>
              </a:rPr>
              <a:t>Code:</a:t>
            </a:r>
            <a:r>
              <a:rPr lang="zh-CN" sz="1500">
                <a:solidFill>
                  <a:schemeClr val="dk2"/>
                </a:solidFill>
                <a:latin typeface="Trebuchet MS"/>
                <a:ea typeface="Trebuchet MS"/>
                <a:cs typeface="Trebuchet MS"/>
                <a:sym typeface="Trebuchet MS"/>
              </a:rPr>
              <a:t> </a:t>
            </a:r>
            <a:r>
              <a:rPr lang="zh-CN" sz="1500" u="sng">
                <a:solidFill>
                  <a:schemeClr val="hlink"/>
                </a:solidFill>
                <a:latin typeface="Trebuchet MS"/>
                <a:ea typeface="Trebuchet MS"/>
                <a:cs typeface="Trebuchet MS"/>
                <a:sym typeface="Trebuchet MS"/>
                <a:hlinkClick r:id="rId4"/>
              </a:rPr>
              <a:t>https://github.com/Nuyoahwjl/PipeSD</a:t>
            </a:r>
            <a:endParaRPr sz="1500">
              <a:solidFill>
                <a:schemeClr val="dk2"/>
              </a:solidFill>
              <a:latin typeface="Trebuchet MS"/>
              <a:ea typeface="Trebuchet MS"/>
              <a:cs typeface="Trebuchet MS"/>
              <a:sym typeface="Trebuchet MS"/>
            </a:endParaRPr>
          </a:p>
        </p:txBody>
      </p:sp>
      <p:sp>
        <p:nvSpPr>
          <p:cNvPr id="57" name="Google Shape;57;p13"/>
          <p:cNvSpPr txBox="1"/>
          <p:nvPr/>
        </p:nvSpPr>
        <p:spPr>
          <a:xfrm>
            <a:off x="3260475" y="3755350"/>
            <a:ext cx="2381400" cy="6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zh-CN" sz="2400">
                <a:solidFill>
                  <a:schemeClr val="dk2"/>
                </a:solidFill>
                <a:latin typeface="Trebuchet MS"/>
                <a:ea typeface="Trebuchet MS"/>
                <a:cs typeface="Trebuchet MS"/>
                <a:sym typeface="Trebuchet MS"/>
              </a:rPr>
              <a:t>Jiale Wang</a:t>
            </a:r>
            <a:endParaRPr b="1" sz="2400">
              <a:solidFill>
                <a:schemeClr val="dk2"/>
              </a:solidFill>
              <a:latin typeface="Trebuchet MS"/>
              <a:ea typeface="Trebuchet MS"/>
              <a:cs typeface="Trebuchet MS"/>
              <a:sym typeface="Trebuchet MS"/>
            </a:endParaRPr>
          </a:p>
        </p:txBody>
      </p:sp>
      <p:pic>
        <p:nvPicPr>
          <p:cNvPr id="58" name="Google Shape;58;p13"/>
          <p:cNvPicPr preferRelativeResize="0"/>
          <p:nvPr/>
        </p:nvPicPr>
        <p:blipFill>
          <a:blip r:embed="rId5">
            <a:alphaModFix/>
          </a:blip>
          <a:stretch>
            <a:fillRect/>
          </a:stretch>
        </p:blipFill>
        <p:spPr>
          <a:xfrm>
            <a:off x="6382038" y="152353"/>
            <a:ext cx="2649075" cy="7326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4"/>
          <p:cNvSpPr/>
          <p:nvPr/>
        </p:nvSpPr>
        <p:spPr>
          <a:xfrm>
            <a:off x="0" y="4807975"/>
            <a:ext cx="9144000" cy="335400"/>
          </a:xfrm>
          <a:prstGeom prst="rect">
            <a:avLst/>
          </a:prstGeom>
          <a:solidFill>
            <a:srgbClr val="1C4587"/>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zh-CN" sz="1500">
                <a:solidFill>
                  <a:schemeClr val="lt2"/>
                </a:solidFill>
                <a:latin typeface="Trebuchet MS"/>
                <a:ea typeface="Trebuchet MS"/>
                <a:cs typeface="Trebuchet MS"/>
                <a:sym typeface="Trebuchet MS"/>
              </a:rPr>
              <a:t>  2026-7 · Jiale Wang · HUST</a:t>
            </a:r>
            <a:endParaRPr sz="1500">
              <a:solidFill>
                <a:schemeClr val="lt2"/>
              </a:solidFill>
              <a:latin typeface="Trebuchet MS"/>
              <a:ea typeface="Trebuchet MS"/>
              <a:cs typeface="Trebuchet MS"/>
              <a:sym typeface="Trebuchet MS"/>
            </a:endParaRPr>
          </a:p>
        </p:txBody>
      </p:sp>
      <p:sp>
        <p:nvSpPr>
          <p:cNvPr id="64" name="Google Shape;64;p14"/>
          <p:cNvSpPr txBox="1"/>
          <p:nvPr/>
        </p:nvSpPr>
        <p:spPr>
          <a:xfrm>
            <a:off x="552300" y="1034478"/>
            <a:ext cx="8039400" cy="589800"/>
          </a:xfrm>
          <a:prstGeom prst="rect">
            <a:avLst/>
          </a:prstGeom>
          <a:noFill/>
          <a:ln>
            <a:noFill/>
          </a:ln>
        </p:spPr>
        <p:txBody>
          <a:bodyPr anchorCtr="0" anchor="ctr" bIns="91425" lIns="91425" spcFirstLastPara="1" rIns="91425" wrap="square" tIns="91425">
            <a:noAutofit/>
          </a:bodyPr>
          <a:lstStyle/>
          <a:p>
            <a:pPr indent="0" lvl="0" marL="0" rtl="0" algn="ctr">
              <a:lnSpc>
                <a:spcPct val="122500"/>
              </a:lnSpc>
              <a:spcBef>
                <a:spcPts val="1800"/>
              </a:spcBef>
              <a:spcAft>
                <a:spcPts val="400"/>
              </a:spcAft>
              <a:buNone/>
            </a:pPr>
            <a:r>
              <a:rPr b="1" lang="zh-CN" sz="2000">
                <a:solidFill>
                  <a:srgbClr val="333333"/>
                </a:solidFill>
                <a:latin typeface="Trebuchet MS"/>
                <a:ea typeface="Trebuchet MS"/>
                <a:cs typeface="Trebuchet MS"/>
                <a:sym typeface="Trebuchet MS"/>
              </a:rPr>
              <a:t>Why Conventional Cloud-Edge Speculative Decoding Is Still Slow</a:t>
            </a:r>
            <a:endParaRPr sz="1300">
              <a:solidFill>
                <a:srgbClr val="333333"/>
              </a:solidFill>
            </a:endParaRPr>
          </a:p>
        </p:txBody>
      </p:sp>
      <p:grpSp>
        <p:nvGrpSpPr>
          <p:cNvPr id="65" name="Google Shape;65;p14"/>
          <p:cNvGrpSpPr/>
          <p:nvPr/>
        </p:nvGrpSpPr>
        <p:grpSpPr>
          <a:xfrm>
            <a:off x="500025" y="1692083"/>
            <a:ext cx="8143950" cy="1047900"/>
            <a:chOff x="500025" y="1523850"/>
            <a:chExt cx="8143950" cy="1047900"/>
          </a:xfrm>
        </p:grpSpPr>
        <p:sp>
          <p:nvSpPr>
            <p:cNvPr id="66" name="Google Shape;66;p14"/>
            <p:cNvSpPr/>
            <p:nvPr/>
          </p:nvSpPr>
          <p:spPr>
            <a:xfrm>
              <a:off x="500025" y="1523850"/>
              <a:ext cx="1785900" cy="1047900"/>
            </a:xfrm>
            <a:prstGeom prst="roundRect">
              <a:avLst>
                <a:gd fmla="val 16667" name="adj"/>
              </a:avLst>
            </a:prstGeom>
            <a:solidFill>
              <a:schemeClr val="lt2"/>
            </a:solidFill>
            <a:ln cap="flat" cmpd="sng" w="2857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i="1" lang="zh-CN" sz="1200">
                  <a:solidFill>
                    <a:srgbClr val="434343"/>
                  </a:solidFill>
                  <a:latin typeface="Trebuchet MS"/>
                  <a:ea typeface="Trebuchet MS"/>
                  <a:cs typeface="Trebuchet MS"/>
                  <a:sym typeface="Trebuchet MS"/>
                </a:rPr>
                <a:t>The edge draft model generates a block of draft tokens. </a:t>
              </a:r>
              <a:endParaRPr i="1" sz="1200">
                <a:solidFill>
                  <a:srgbClr val="434343"/>
                </a:solidFill>
                <a:latin typeface="Trebuchet MS"/>
                <a:ea typeface="Trebuchet MS"/>
                <a:cs typeface="Trebuchet MS"/>
                <a:sym typeface="Trebuchet MS"/>
              </a:endParaRPr>
            </a:p>
          </p:txBody>
        </p:sp>
        <p:sp>
          <p:nvSpPr>
            <p:cNvPr id="67" name="Google Shape;67;p14"/>
            <p:cNvSpPr/>
            <p:nvPr/>
          </p:nvSpPr>
          <p:spPr>
            <a:xfrm>
              <a:off x="2619375" y="1523850"/>
              <a:ext cx="1785900" cy="1047900"/>
            </a:xfrm>
            <a:prstGeom prst="roundRect">
              <a:avLst>
                <a:gd fmla="val 16667" name="adj"/>
              </a:avLst>
            </a:prstGeom>
            <a:solidFill>
              <a:schemeClr val="lt2"/>
            </a:solidFill>
            <a:ln cap="flat" cmpd="sng" w="2857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i="1" lang="zh-CN" sz="1200">
                  <a:solidFill>
                    <a:srgbClr val="434343"/>
                  </a:solidFill>
                  <a:latin typeface="Trebuchet MS"/>
                  <a:ea typeface="Trebuchet MS"/>
                  <a:cs typeface="Trebuchet MS"/>
                  <a:sym typeface="Trebuchet MS"/>
                </a:rPr>
                <a:t>The block is uploaded only after generation is complete. </a:t>
              </a:r>
              <a:r>
                <a:rPr lang="zh-CN" sz="1200">
                  <a:solidFill>
                    <a:srgbClr val="434343"/>
                  </a:solidFill>
                  <a:latin typeface="Trebuchet MS"/>
                  <a:ea typeface="Trebuchet MS"/>
                  <a:cs typeface="Trebuchet MS"/>
                  <a:sym typeface="Trebuchet MS"/>
                </a:rPr>
                <a:t> </a:t>
              </a:r>
              <a:endParaRPr sz="1200">
                <a:solidFill>
                  <a:srgbClr val="434343"/>
                </a:solidFill>
                <a:latin typeface="Trebuchet MS"/>
                <a:ea typeface="Trebuchet MS"/>
                <a:cs typeface="Trebuchet MS"/>
                <a:sym typeface="Trebuchet MS"/>
              </a:endParaRPr>
            </a:p>
          </p:txBody>
        </p:sp>
        <p:sp>
          <p:nvSpPr>
            <p:cNvPr id="68" name="Google Shape;68;p14"/>
            <p:cNvSpPr/>
            <p:nvPr/>
          </p:nvSpPr>
          <p:spPr>
            <a:xfrm>
              <a:off x="4738725" y="1523850"/>
              <a:ext cx="1785900" cy="1047900"/>
            </a:xfrm>
            <a:prstGeom prst="roundRect">
              <a:avLst>
                <a:gd fmla="val 16667" name="adj"/>
              </a:avLst>
            </a:prstGeom>
            <a:solidFill>
              <a:schemeClr val="lt2"/>
            </a:solidFill>
            <a:ln cap="flat" cmpd="sng" w="2857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i="1" lang="zh-CN" sz="1200">
                  <a:solidFill>
                    <a:srgbClr val="434343"/>
                  </a:solidFill>
                  <a:latin typeface="Trebuchet MS"/>
                  <a:ea typeface="Trebuchet MS"/>
                  <a:cs typeface="Trebuchet MS"/>
                  <a:sym typeface="Trebuchet MS"/>
                </a:rPr>
                <a:t>The cloud target model performs Non-Autoregressive Verification, or NAV. </a:t>
              </a:r>
              <a:endParaRPr i="1" sz="1200">
                <a:solidFill>
                  <a:srgbClr val="434343"/>
                </a:solidFill>
                <a:latin typeface="Trebuchet MS"/>
                <a:ea typeface="Trebuchet MS"/>
                <a:cs typeface="Trebuchet MS"/>
                <a:sym typeface="Trebuchet MS"/>
              </a:endParaRPr>
            </a:p>
          </p:txBody>
        </p:sp>
        <p:sp>
          <p:nvSpPr>
            <p:cNvPr id="69" name="Google Shape;69;p14"/>
            <p:cNvSpPr/>
            <p:nvPr/>
          </p:nvSpPr>
          <p:spPr>
            <a:xfrm>
              <a:off x="6858075" y="1523850"/>
              <a:ext cx="1785900" cy="1047900"/>
            </a:xfrm>
            <a:prstGeom prst="roundRect">
              <a:avLst>
                <a:gd fmla="val 16667" name="adj"/>
              </a:avLst>
            </a:prstGeom>
            <a:solidFill>
              <a:schemeClr val="lt2"/>
            </a:solidFill>
            <a:ln cap="flat" cmpd="sng" w="2857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i="1" lang="zh-CN" sz="1200">
                  <a:solidFill>
                    <a:srgbClr val="434343"/>
                  </a:solidFill>
                  <a:latin typeface="Trebuchet MS"/>
                  <a:ea typeface="Trebuchet MS"/>
                  <a:cs typeface="Trebuchet MS"/>
                  <a:sym typeface="Trebuchet MS"/>
                </a:rPr>
                <a:t>The edge waits for the verification result before starting the next round. </a:t>
              </a:r>
              <a:endParaRPr i="1" sz="1200">
                <a:solidFill>
                  <a:srgbClr val="434343"/>
                </a:solidFill>
                <a:latin typeface="Trebuchet MS"/>
                <a:ea typeface="Trebuchet MS"/>
                <a:cs typeface="Trebuchet MS"/>
                <a:sym typeface="Trebuchet MS"/>
              </a:endParaRPr>
            </a:p>
          </p:txBody>
        </p:sp>
        <p:cxnSp>
          <p:nvCxnSpPr>
            <p:cNvPr id="70" name="Google Shape;70;p14"/>
            <p:cNvCxnSpPr>
              <a:stCxn id="66" idx="3"/>
              <a:endCxn id="67" idx="1"/>
            </p:cNvCxnSpPr>
            <p:nvPr/>
          </p:nvCxnSpPr>
          <p:spPr>
            <a:xfrm>
              <a:off x="2285925" y="2047800"/>
              <a:ext cx="333600" cy="0"/>
            </a:xfrm>
            <a:prstGeom prst="straightConnector1">
              <a:avLst/>
            </a:prstGeom>
            <a:noFill/>
            <a:ln cap="flat" cmpd="sng" w="19050">
              <a:solidFill>
                <a:schemeClr val="dk2"/>
              </a:solidFill>
              <a:prstDash val="solid"/>
              <a:round/>
              <a:headEnd len="med" w="med" type="none"/>
              <a:tailEnd len="med" w="med" type="triangle"/>
            </a:ln>
          </p:spPr>
        </p:cxnSp>
        <p:cxnSp>
          <p:nvCxnSpPr>
            <p:cNvPr id="71" name="Google Shape;71;p14"/>
            <p:cNvCxnSpPr>
              <a:stCxn id="67" idx="3"/>
              <a:endCxn id="68" idx="1"/>
            </p:cNvCxnSpPr>
            <p:nvPr/>
          </p:nvCxnSpPr>
          <p:spPr>
            <a:xfrm>
              <a:off x="4405275" y="2047800"/>
              <a:ext cx="333600" cy="0"/>
            </a:xfrm>
            <a:prstGeom prst="straightConnector1">
              <a:avLst/>
            </a:prstGeom>
            <a:noFill/>
            <a:ln cap="flat" cmpd="sng" w="19050">
              <a:solidFill>
                <a:schemeClr val="dk2"/>
              </a:solidFill>
              <a:prstDash val="solid"/>
              <a:round/>
              <a:headEnd len="med" w="med" type="none"/>
              <a:tailEnd len="med" w="med" type="triangle"/>
            </a:ln>
          </p:spPr>
        </p:cxnSp>
        <p:cxnSp>
          <p:nvCxnSpPr>
            <p:cNvPr id="72" name="Google Shape;72;p14"/>
            <p:cNvCxnSpPr>
              <a:stCxn id="68" idx="3"/>
              <a:endCxn id="69" idx="1"/>
            </p:cNvCxnSpPr>
            <p:nvPr/>
          </p:nvCxnSpPr>
          <p:spPr>
            <a:xfrm>
              <a:off x="6524625" y="2047800"/>
              <a:ext cx="333600" cy="0"/>
            </a:xfrm>
            <a:prstGeom prst="straightConnector1">
              <a:avLst/>
            </a:prstGeom>
            <a:noFill/>
            <a:ln cap="flat" cmpd="sng" w="19050">
              <a:solidFill>
                <a:schemeClr val="dk2"/>
              </a:solidFill>
              <a:prstDash val="solid"/>
              <a:round/>
              <a:headEnd len="med" w="med" type="none"/>
              <a:tailEnd len="med" w="med" type="triangle"/>
            </a:ln>
          </p:spPr>
        </p:cxnSp>
      </p:grpSp>
      <p:sp>
        <p:nvSpPr>
          <p:cNvPr id="73" name="Google Shape;73;p14"/>
          <p:cNvSpPr txBox="1"/>
          <p:nvPr/>
        </p:nvSpPr>
        <p:spPr>
          <a:xfrm>
            <a:off x="2675100" y="2804999"/>
            <a:ext cx="3793800" cy="444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zh-CN" sz="2000">
                <a:solidFill>
                  <a:srgbClr val="333333"/>
                </a:solidFill>
                <a:highlight>
                  <a:srgbClr val="FFFFFF"/>
                </a:highlight>
                <a:latin typeface="Trebuchet MS"/>
                <a:ea typeface="Trebuchet MS"/>
                <a:cs typeface="Trebuchet MS"/>
                <a:sym typeface="Trebuchet MS"/>
              </a:rPr>
              <a:t>Two Main Bottlenecks</a:t>
            </a:r>
            <a:r>
              <a:rPr b="1" lang="zh-CN" sz="2000">
                <a:solidFill>
                  <a:srgbClr val="434343"/>
                </a:solidFill>
                <a:latin typeface="Trebuchet MS"/>
                <a:ea typeface="Trebuchet MS"/>
                <a:cs typeface="Trebuchet MS"/>
                <a:sym typeface="Trebuchet MS"/>
              </a:rPr>
              <a:t> </a:t>
            </a:r>
            <a:endParaRPr b="1" sz="2000">
              <a:solidFill>
                <a:srgbClr val="434343"/>
              </a:solidFill>
              <a:latin typeface="Trebuchet MS"/>
              <a:ea typeface="Trebuchet MS"/>
              <a:cs typeface="Trebuchet MS"/>
              <a:sym typeface="Trebuchet MS"/>
            </a:endParaRPr>
          </a:p>
        </p:txBody>
      </p:sp>
      <p:sp>
        <p:nvSpPr>
          <p:cNvPr id="74" name="Google Shape;74;p14"/>
          <p:cNvSpPr txBox="1"/>
          <p:nvPr/>
        </p:nvSpPr>
        <p:spPr>
          <a:xfrm>
            <a:off x="500100" y="3287055"/>
            <a:ext cx="8143800" cy="1274100"/>
          </a:xfrm>
          <a:prstGeom prst="rect">
            <a:avLst/>
          </a:prstGeom>
          <a:noFill/>
          <a:ln cap="flat" cmpd="sng" w="28575">
            <a:solidFill>
              <a:srgbClr val="1C4587"/>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zh-CN" sz="1600">
                <a:solidFill>
                  <a:srgbClr val="FF0000"/>
                </a:solidFill>
                <a:highlight>
                  <a:srgbClr val="FFFFFF"/>
                </a:highlight>
                <a:latin typeface="Trebuchet MS"/>
                <a:ea typeface="Trebuchet MS"/>
                <a:cs typeface="Trebuchet MS"/>
                <a:sym typeface="Trebuchet MS"/>
              </a:rPr>
              <a:t>Serial generation and communication</a:t>
            </a:r>
            <a:r>
              <a:rPr b="1" lang="zh-CN" sz="1600">
                <a:solidFill>
                  <a:srgbClr val="333333"/>
                </a:solidFill>
                <a:highlight>
                  <a:srgbClr val="FFFFFF"/>
                </a:highlight>
                <a:latin typeface="Trebuchet MS"/>
                <a:ea typeface="Trebuchet MS"/>
                <a:cs typeface="Trebuchet MS"/>
                <a:sym typeface="Trebuchet MS"/>
              </a:rPr>
              <a:t>:</a:t>
            </a:r>
            <a:r>
              <a:rPr lang="zh-CN" sz="1600">
                <a:solidFill>
                  <a:srgbClr val="333333"/>
                </a:solidFill>
                <a:highlight>
                  <a:srgbClr val="FFFFFF"/>
                </a:highlight>
                <a:latin typeface="Trebuchet MS"/>
                <a:ea typeface="Trebuchet MS"/>
                <a:cs typeface="Trebuchet MS"/>
                <a:sym typeface="Trebuchet MS"/>
              </a:rPr>
              <a:t> </a:t>
            </a:r>
            <a:r>
              <a:rPr i="1" lang="zh-CN" sz="1600">
                <a:solidFill>
                  <a:srgbClr val="333333"/>
                </a:solidFill>
                <a:highlight>
                  <a:srgbClr val="FFFFFF"/>
                </a:highlight>
                <a:latin typeface="Trebuchet MS"/>
                <a:ea typeface="Trebuchet MS"/>
                <a:cs typeface="Trebuchet MS"/>
                <a:sym typeface="Trebuchet MS"/>
              </a:rPr>
              <a:t>the edge processor is idle during upload, while the network is idle during draft generation.</a:t>
            </a:r>
            <a:r>
              <a:rPr i="1" lang="zh-CN" sz="1600">
                <a:solidFill>
                  <a:schemeClr val="dk1"/>
                </a:solidFill>
                <a:latin typeface="Trebuchet MS"/>
                <a:ea typeface="Trebuchet MS"/>
                <a:cs typeface="Trebuchet MS"/>
                <a:sym typeface="Trebuchet MS"/>
              </a:rPr>
              <a:t> </a:t>
            </a:r>
            <a:endParaRPr i="1" sz="1600">
              <a:solidFill>
                <a:schemeClr val="dk1"/>
              </a:solidFill>
              <a:latin typeface="Trebuchet MS"/>
              <a:ea typeface="Trebuchet MS"/>
              <a:cs typeface="Trebuchet MS"/>
              <a:sym typeface="Trebuchet MS"/>
            </a:endParaRPr>
          </a:p>
          <a:p>
            <a:pPr indent="0" lvl="0" marL="0" rtl="0" algn="l">
              <a:spcBef>
                <a:spcPts val="0"/>
              </a:spcBef>
              <a:spcAft>
                <a:spcPts val="0"/>
              </a:spcAft>
              <a:buNone/>
            </a:pPr>
            <a:r>
              <a:rPr b="1" lang="zh-CN" sz="1600">
                <a:solidFill>
                  <a:srgbClr val="FF0000"/>
                </a:solidFill>
                <a:highlight>
                  <a:srgbClr val="FFFFFF"/>
                </a:highlight>
                <a:latin typeface="Trebuchet MS"/>
                <a:ea typeface="Trebuchet MS"/>
                <a:cs typeface="Trebuchet MS"/>
                <a:sym typeface="Trebuchet MS"/>
              </a:rPr>
              <a:t>Inflexible fixed-length or single-threshold NAV triggering</a:t>
            </a:r>
            <a:r>
              <a:rPr b="1" lang="zh-CN" sz="1600">
                <a:solidFill>
                  <a:srgbClr val="333333"/>
                </a:solidFill>
                <a:highlight>
                  <a:srgbClr val="FFFFFF"/>
                </a:highlight>
                <a:latin typeface="Trebuchet MS"/>
                <a:ea typeface="Trebuchet MS"/>
                <a:cs typeface="Trebuchet MS"/>
                <a:sym typeface="Trebuchet MS"/>
              </a:rPr>
              <a:t>:</a:t>
            </a:r>
            <a:r>
              <a:rPr i="1" lang="zh-CN" sz="1600">
                <a:solidFill>
                  <a:srgbClr val="333333"/>
                </a:solidFill>
                <a:highlight>
                  <a:srgbClr val="FFFFFF"/>
                </a:highlight>
                <a:latin typeface="Trebuchet MS"/>
                <a:ea typeface="Trebuchet MS"/>
                <a:cs typeface="Trebuchet MS"/>
                <a:sym typeface="Trebuchet MS"/>
              </a:rPr>
              <a:t> triggering too early repeatedly pays communication startup cost, while triggering too late accumulates low-quality tokens and increases rollback.</a:t>
            </a:r>
            <a:r>
              <a:rPr i="1" lang="zh-CN" sz="1600">
                <a:solidFill>
                  <a:schemeClr val="dk1"/>
                </a:solidFill>
                <a:latin typeface="Trebuchet MS"/>
                <a:ea typeface="Trebuchet MS"/>
                <a:cs typeface="Trebuchet MS"/>
                <a:sym typeface="Trebuchet MS"/>
              </a:rPr>
              <a:t> </a:t>
            </a:r>
            <a:endParaRPr i="1" sz="1600">
              <a:solidFill>
                <a:schemeClr val="dk1"/>
              </a:solidFill>
              <a:latin typeface="Trebuchet MS"/>
              <a:ea typeface="Trebuchet MS"/>
              <a:cs typeface="Trebuchet MS"/>
              <a:sym typeface="Trebuchet MS"/>
            </a:endParaRPr>
          </a:p>
        </p:txBody>
      </p:sp>
      <p:sp>
        <p:nvSpPr>
          <p:cNvPr id="75" name="Google Shape;75;p14"/>
          <p:cNvSpPr/>
          <p:nvPr/>
        </p:nvSpPr>
        <p:spPr>
          <a:xfrm>
            <a:off x="0" y="864105"/>
            <a:ext cx="4329000" cy="42600"/>
          </a:xfrm>
          <a:prstGeom prst="rect">
            <a:avLst/>
          </a:prstGeom>
          <a:solidFill>
            <a:srgbClr val="1C458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 name="Google Shape;76;p14"/>
          <p:cNvSpPr txBox="1"/>
          <p:nvPr/>
        </p:nvSpPr>
        <p:spPr>
          <a:xfrm>
            <a:off x="142950" y="269750"/>
            <a:ext cx="2317500" cy="589800"/>
          </a:xfrm>
          <a:prstGeom prst="rect">
            <a:avLst/>
          </a:prstGeom>
          <a:noFill/>
          <a:ln>
            <a:noFill/>
          </a:ln>
        </p:spPr>
        <p:txBody>
          <a:bodyPr anchorCtr="0" anchor="ctr" bIns="91425" lIns="91425" spcFirstLastPara="1" rIns="91425" wrap="square" tIns="91425">
            <a:noAutofit/>
          </a:bodyPr>
          <a:lstStyle/>
          <a:p>
            <a:pPr indent="0" lvl="0" marL="0" rtl="0" algn="l">
              <a:lnSpc>
                <a:spcPct val="122500"/>
              </a:lnSpc>
              <a:spcBef>
                <a:spcPts val="1800"/>
              </a:spcBef>
              <a:spcAft>
                <a:spcPts val="400"/>
              </a:spcAft>
              <a:buNone/>
            </a:pPr>
            <a:r>
              <a:rPr b="1" lang="zh-CN" sz="3000">
                <a:solidFill>
                  <a:schemeClr val="dk1"/>
                </a:solidFill>
                <a:latin typeface="Trebuchet MS"/>
                <a:ea typeface="Trebuchet MS"/>
                <a:cs typeface="Trebuchet MS"/>
                <a:sym typeface="Trebuchet MS"/>
              </a:rPr>
              <a:t>Motivation</a:t>
            </a:r>
            <a:endParaRPr sz="1800">
              <a:solidFill>
                <a:schemeClr val="dk1"/>
              </a:solidFill>
              <a:latin typeface="Trebuchet MS"/>
              <a:ea typeface="Trebuchet MS"/>
              <a:cs typeface="Trebuchet MS"/>
              <a:sym typeface="Trebuchet MS"/>
            </a:endParaRPr>
          </a:p>
        </p:txBody>
      </p:sp>
      <p:pic>
        <p:nvPicPr>
          <p:cNvPr id="77" name="Google Shape;77;p14"/>
          <p:cNvPicPr preferRelativeResize="0"/>
          <p:nvPr/>
        </p:nvPicPr>
        <p:blipFill>
          <a:blip r:embed="rId3">
            <a:alphaModFix/>
          </a:blip>
          <a:stretch>
            <a:fillRect/>
          </a:stretch>
        </p:blipFill>
        <p:spPr>
          <a:xfrm>
            <a:off x="6382038" y="152353"/>
            <a:ext cx="2649075" cy="7326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5"/>
          <p:cNvSpPr/>
          <p:nvPr/>
        </p:nvSpPr>
        <p:spPr>
          <a:xfrm>
            <a:off x="0" y="864105"/>
            <a:ext cx="4329000" cy="42600"/>
          </a:xfrm>
          <a:prstGeom prst="rect">
            <a:avLst/>
          </a:prstGeom>
          <a:solidFill>
            <a:srgbClr val="1C458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 name="Google Shape;83;p15"/>
          <p:cNvSpPr txBox="1"/>
          <p:nvPr/>
        </p:nvSpPr>
        <p:spPr>
          <a:xfrm>
            <a:off x="142947" y="269750"/>
            <a:ext cx="3829200" cy="589800"/>
          </a:xfrm>
          <a:prstGeom prst="rect">
            <a:avLst/>
          </a:prstGeom>
          <a:noFill/>
          <a:ln>
            <a:noFill/>
          </a:ln>
        </p:spPr>
        <p:txBody>
          <a:bodyPr anchorCtr="0" anchor="ctr" bIns="91425" lIns="91425" spcFirstLastPara="1" rIns="91425" wrap="square" tIns="91425">
            <a:noAutofit/>
          </a:bodyPr>
          <a:lstStyle/>
          <a:p>
            <a:pPr indent="0" lvl="0" marL="0" rtl="0" algn="l">
              <a:lnSpc>
                <a:spcPct val="122500"/>
              </a:lnSpc>
              <a:spcBef>
                <a:spcPts val="1800"/>
              </a:spcBef>
              <a:spcAft>
                <a:spcPts val="400"/>
              </a:spcAft>
              <a:buNone/>
            </a:pPr>
            <a:r>
              <a:rPr b="1" lang="zh-CN" sz="3000">
                <a:solidFill>
                  <a:schemeClr val="dk1"/>
                </a:solidFill>
                <a:latin typeface="Trebuchet MS"/>
                <a:ea typeface="Trebuchet MS"/>
                <a:cs typeface="Trebuchet MS"/>
                <a:sym typeface="Trebuchet MS"/>
              </a:rPr>
              <a:t>NAV </a:t>
            </a:r>
            <a:r>
              <a:rPr b="1" lang="zh-CN">
                <a:solidFill>
                  <a:schemeClr val="dk1"/>
                </a:solidFill>
                <a:latin typeface="Trebuchet MS"/>
                <a:ea typeface="Trebuchet MS"/>
                <a:cs typeface="Trebuchet MS"/>
                <a:sym typeface="Trebuchet MS"/>
              </a:rPr>
              <a:t>(Non-Autoregressive Verification)</a:t>
            </a:r>
            <a:endParaRPr b="1" sz="3200">
              <a:solidFill>
                <a:schemeClr val="dk1"/>
              </a:solidFill>
              <a:latin typeface="Trebuchet MS"/>
              <a:ea typeface="Trebuchet MS"/>
              <a:cs typeface="Trebuchet MS"/>
              <a:sym typeface="Trebuchet MS"/>
            </a:endParaRPr>
          </a:p>
        </p:txBody>
      </p:sp>
      <p:grpSp>
        <p:nvGrpSpPr>
          <p:cNvPr id="84" name="Google Shape;84;p15"/>
          <p:cNvGrpSpPr/>
          <p:nvPr/>
        </p:nvGrpSpPr>
        <p:grpSpPr>
          <a:xfrm>
            <a:off x="142850" y="1183812"/>
            <a:ext cx="8858302" cy="2742000"/>
            <a:chOff x="103650" y="1345000"/>
            <a:chExt cx="8858302" cy="2742000"/>
          </a:xfrm>
        </p:grpSpPr>
        <p:pic>
          <p:nvPicPr>
            <p:cNvPr id="85" name="Google Shape;85;p15" title="fig_sd_01.png"/>
            <p:cNvPicPr preferRelativeResize="0"/>
            <p:nvPr/>
          </p:nvPicPr>
          <p:blipFill rotWithShape="1">
            <a:blip r:embed="rId3">
              <a:alphaModFix/>
            </a:blip>
            <a:srcRect b="0" l="3242" r="4405" t="2105"/>
            <a:stretch/>
          </p:blipFill>
          <p:spPr>
            <a:xfrm>
              <a:off x="4417025" y="1355293"/>
              <a:ext cx="4544927" cy="2721425"/>
            </a:xfrm>
            <a:prstGeom prst="rect">
              <a:avLst/>
            </a:prstGeom>
            <a:noFill/>
            <a:ln cap="flat" cmpd="sng" w="19050">
              <a:solidFill>
                <a:srgbClr val="1C4587"/>
              </a:solidFill>
              <a:prstDash val="dash"/>
              <a:round/>
              <a:headEnd len="sm" w="sm" type="none"/>
              <a:tailEnd len="sm" w="sm" type="none"/>
            </a:ln>
          </p:spPr>
        </p:pic>
        <p:sp>
          <p:nvSpPr>
            <p:cNvPr id="86" name="Google Shape;86;p15"/>
            <p:cNvSpPr txBox="1"/>
            <p:nvPr/>
          </p:nvSpPr>
          <p:spPr>
            <a:xfrm>
              <a:off x="103650" y="1345000"/>
              <a:ext cx="4121700" cy="2742000"/>
            </a:xfrm>
            <a:prstGeom prst="rect">
              <a:avLst/>
            </a:prstGeom>
            <a:noFill/>
            <a:ln cap="flat" cmpd="sng" w="19050">
              <a:solidFill>
                <a:srgbClr val="1C4587"/>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1000"/>
                </a:spcBef>
                <a:spcAft>
                  <a:spcPts val="0"/>
                </a:spcAft>
                <a:buNone/>
              </a:pPr>
              <a:r>
                <a:rPr b="1" lang="zh-CN" sz="1200">
                  <a:solidFill>
                    <a:srgbClr val="333333"/>
                  </a:solidFill>
                  <a:highlight>
                    <a:srgbClr val="FFFFFF"/>
                  </a:highlight>
                  <a:latin typeface="Trebuchet MS"/>
                  <a:ea typeface="Trebuchet MS"/>
                  <a:cs typeface="Trebuchet MS"/>
                  <a:sym typeface="Trebuchet MS"/>
                </a:rPr>
                <a:t>Let the edge draft model generate the candidate sequence</a:t>
              </a:r>
              <a:r>
                <a:rPr b="1" lang="zh-CN" sz="1200">
                  <a:solidFill>
                    <a:schemeClr val="dk1"/>
                  </a:solidFill>
                  <a:latin typeface="Trebuchet MS"/>
                  <a:ea typeface="Trebuchet MS"/>
                  <a:cs typeface="Trebuchet MS"/>
                  <a:sym typeface="Trebuchet MS"/>
                </a:rPr>
                <a:t> </a:t>
              </a:r>
              <a:r>
                <a:rPr b="1" i="1" lang="zh-CN" sz="1500">
                  <a:solidFill>
                    <a:srgbClr val="FF0000"/>
                  </a:solidFill>
                  <a:latin typeface="Times New Roman"/>
                  <a:ea typeface="Times New Roman"/>
                  <a:cs typeface="Times New Roman"/>
                  <a:sym typeface="Times New Roman"/>
                </a:rPr>
                <a:t>D=(d₁,d₂, …  ,dₙ)</a:t>
              </a:r>
              <a:r>
                <a:rPr b="1" lang="zh-CN" sz="1200">
                  <a:solidFill>
                    <a:srgbClr val="333333"/>
                  </a:solidFill>
                  <a:latin typeface="Trebuchet MS"/>
                  <a:ea typeface="Trebuchet MS"/>
                  <a:cs typeface="Trebuchet MS"/>
                  <a:sym typeface="Trebuchet MS"/>
                </a:rPr>
                <a:t>.</a:t>
              </a:r>
              <a:endParaRPr b="1" sz="1200">
                <a:solidFill>
                  <a:srgbClr val="333333"/>
                </a:solidFill>
                <a:latin typeface="Trebuchet MS"/>
                <a:ea typeface="Trebuchet MS"/>
                <a:cs typeface="Trebuchet MS"/>
                <a:sym typeface="Trebuchet MS"/>
              </a:endParaRPr>
            </a:p>
            <a:p>
              <a:pPr indent="0" lvl="0" marL="0" rtl="0" algn="l">
                <a:spcBef>
                  <a:spcPts val="1000"/>
                </a:spcBef>
                <a:spcAft>
                  <a:spcPts val="0"/>
                </a:spcAft>
                <a:buNone/>
              </a:pPr>
              <a:r>
                <a:rPr b="1" lang="zh-CN" sz="1200">
                  <a:solidFill>
                    <a:srgbClr val="333333"/>
                  </a:solidFill>
                  <a:highlight>
                    <a:srgbClr val="FFFFFF"/>
                  </a:highlight>
                  <a:latin typeface="Trebuchet MS"/>
                  <a:ea typeface="Trebuchet MS"/>
                  <a:cs typeface="Trebuchet MS"/>
                  <a:sym typeface="Trebuchet MS"/>
                </a:rPr>
                <a:t>The cloud target model checks this sequence with one parallel forward pass:</a:t>
              </a:r>
              <a:r>
                <a:rPr b="1" lang="zh-CN" sz="1200">
                  <a:solidFill>
                    <a:schemeClr val="dk1"/>
                  </a:solidFill>
                  <a:latin typeface="Trebuchet MS"/>
                  <a:ea typeface="Trebuchet MS"/>
                  <a:cs typeface="Trebuchet MS"/>
                  <a:sym typeface="Trebuchet MS"/>
                </a:rPr>
                <a:t> </a:t>
              </a:r>
              <a:endParaRPr b="1" sz="1200">
                <a:solidFill>
                  <a:srgbClr val="333333"/>
                </a:solidFill>
                <a:latin typeface="Trebuchet MS"/>
                <a:ea typeface="Trebuchet MS"/>
                <a:cs typeface="Trebuchet MS"/>
                <a:sym typeface="Trebuchet MS"/>
              </a:endParaRPr>
            </a:p>
            <a:p>
              <a:pPr indent="-304800" lvl="0" marL="457200" rtl="0" algn="l">
                <a:lnSpc>
                  <a:spcPct val="100000"/>
                </a:lnSpc>
                <a:spcBef>
                  <a:spcPts val="1000"/>
                </a:spcBef>
                <a:spcAft>
                  <a:spcPts val="0"/>
                </a:spcAft>
                <a:buClr>
                  <a:srgbClr val="333333"/>
                </a:buClr>
                <a:buSzPts val="1200"/>
                <a:buFont typeface="Trebuchet MS"/>
                <a:buChar char="●"/>
              </a:pPr>
              <a:r>
                <a:rPr i="1" lang="zh-CN" sz="1200">
                  <a:solidFill>
                    <a:srgbClr val="333333"/>
                  </a:solidFill>
                  <a:latin typeface="Trebuchet MS"/>
                  <a:ea typeface="Trebuchet MS"/>
                  <a:cs typeface="Trebuchet MS"/>
                  <a:sym typeface="Trebuchet MS"/>
                </a:rPr>
                <a:t>It accepts the longest prefix that satisfies the target-model verification rule.</a:t>
              </a:r>
              <a:endParaRPr i="1" sz="1200">
                <a:solidFill>
                  <a:srgbClr val="333333"/>
                </a:solidFill>
                <a:latin typeface="Trebuchet MS"/>
                <a:ea typeface="Trebuchet MS"/>
                <a:cs typeface="Trebuchet MS"/>
                <a:sym typeface="Trebuchet MS"/>
              </a:endParaRPr>
            </a:p>
            <a:p>
              <a:pPr indent="-304800" lvl="0" marL="457200" rtl="0" algn="l">
                <a:lnSpc>
                  <a:spcPct val="100000"/>
                </a:lnSpc>
                <a:spcBef>
                  <a:spcPts val="0"/>
                </a:spcBef>
                <a:spcAft>
                  <a:spcPts val="0"/>
                </a:spcAft>
                <a:buClr>
                  <a:srgbClr val="333333"/>
                </a:buClr>
                <a:buSzPts val="1200"/>
                <a:buFont typeface="Trebuchet MS"/>
                <a:buChar char="●"/>
              </a:pPr>
              <a:r>
                <a:rPr i="1" lang="zh-CN" sz="1200">
                  <a:solidFill>
                    <a:srgbClr val="333333"/>
                  </a:solidFill>
                  <a:latin typeface="Trebuchet MS"/>
                  <a:ea typeface="Trebuchet MS"/>
                  <a:cs typeface="Trebuchet MS"/>
                  <a:sym typeface="Trebuchet MS"/>
                </a:rPr>
                <a:t>It produces one additional target token after the accepted prefix.</a:t>
              </a:r>
              <a:endParaRPr i="1" sz="1200">
                <a:solidFill>
                  <a:srgbClr val="333333"/>
                </a:solidFill>
                <a:latin typeface="Trebuchet MS"/>
                <a:ea typeface="Trebuchet MS"/>
                <a:cs typeface="Trebuchet MS"/>
                <a:sym typeface="Trebuchet MS"/>
              </a:endParaRPr>
            </a:p>
            <a:p>
              <a:pPr indent="-304800" lvl="0" marL="457200" rtl="0" algn="l">
                <a:lnSpc>
                  <a:spcPct val="100000"/>
                </a:lnSpc>
                <a:spcBef>
                  <a:spcPts val="0"/>
                </a:spcBef>
                <a:spcAft>
                  <a:spcPts val="0"/>
                </a:spcAft>
                <a:buClr>
                  <a:srgbClr val="333333"/>
                </a:buClr>
                <a:buSzPts val="1200"/>
                <a:buFont typeface="Trebuchet MS"/>
                <a:buChar char="●"/>
              </a:pPr>
              <a:r>
                <a:rPr i="1" lang="zh-CN" sz="1200">
                  <a:solidFill>
                    <a:srgbClr val="333333"/>
                  </a:solidFill>
                  <a:latin typeface="Trebuchet MS"/>
                  <a:ea typeface="Trebuchet MS"/>
                  <a:cs typeface="Trebuchet MS"/>
                  <a:sym typeface="Trebuchet MS"/>
                </a:rPr>
                <a:t>If a rejection occurs, all draft tokens after the rejection point become invalid.</a:t>
              </a:r>
              <a:endParaRPr i="1" sz="1200">
                <a:solidFill>
                  <a:srgbClr val="333333"/>
                </a:solidFill>
                <a:latin typeface="Trebuchet MS"/>
                <a:ea typeface="Trebuchet MS"/>
                <a:cs typeface="Trebuchet MS"/>
                <a:sym typeface="Trebuchet MS"/>
              </a:endParaRPr>
            </a:p>
            <a:p>
              <a:pPr indent="-304800" lvl="0" marL="457200" rtl="0" algn="l">
                <a:lnSpc>
                  <a:spcPct val="100000"/>
                </a:lnSpc>
                <a:spcBef>
                  <a:spcPts val="0"/>
                </a:spcBef>
                <a:spcAft>
                  <a:spcPts val="0"/>
                </a:spcAft>
                <a:buClr>
                  <a:srgbClr val="333333"/>
                </a:buClr>
                <a:buSzPts val="1200"/>
                <a:buFont typeface="Trebuchet MS"/>
                <a:buChar char="●"/>
              </a:pPr>
              <a:r>
                <a:rPr i="1" lang="zh-CN" sz="1200">
                  <a:solidFill>
                    <a:srgbClr val="333333"/>
                  </a:solidFill>
                  <a:latin typeface="Trebuchet MS"/>
                  <a:ea typeface="Trebuchet MS"/>
                  <a:cs typeface="Trebuchet MS"/>
                  <a:sym typeface="Trebuchet MS"/>
                </a:rPr>
                <a:t>The context of the next round must be based on the cloud-confirmed sequence.</a:t>
              </a:r>
              <a:endParaRPr i="1" sz="1200">
                <a:solidFill>
                  <a:srgbClr val="333333"/>
                </a:solidFill>
                <a:latin typeface="Trebuchet MS"/>
                <a:ea typeface="Trebuchet MS"/>
                <a:cs typeface="Trebuchet MS"/>
                <a:sym typeface="Trebuchet MS"/>
              </a:endParaRPr>
            </a:p>
          </p:txBody>
        </p:sp>
      </p:grpSp>
      <p:sp>
        <p:nvSpPr>
          <p:cNvPr id="87" name="Google Shape;87;p15"/>
          <p:cNvSpPr/>
          <p:nvPr/>
        </p:nvSpPr>
        <p:spPr>
          <a:xfrm>
            <a:off x="144075" y="4094992"/>
            <a:ext cx="8877900" cy="589800"/>
          </a:xfrm>
          <a:prstGeom prst="roundRect">
            <a:avLst>
              <a:gd fmla="val 16667" name="adj"/>
            </a:avLst>
          </a:prstGeom>
          <a:solidFill>
            <a:schemeClr val="lt2"/>
          </a:solidFill>
          <a:ln cap="flat" cmpd="sng" w="19050">
            <a:solidFill>
              <a:srgbClr val="1C4587"/>
            </a:solidFill>
            <a:prstDash val="dash"/>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1000"/>
              </a:spcBef>
              <a:spcAft>
                <a:spcPts val="1000"/>
              </a:spcAft>
              <a:buNone/>
            </a:pPr>
            <a:r>
              <a:rPr b="1" lang="zh-CN" sz="1300">
                <a:solidFill>
                  <a:srgbClr val="333333"/>
                </a:solidFill>
                <a:latin typeface="Trebuchet MS"/>
                <a:ea typeface="Trebuchet MS"/>
                <a:cs typeface="Trebuchet MS"/>
                <a:sym typeface="Trebuchet MS"/>
              </a:rPr>
              <a:t>Critical Reuse Condition: </a:t>
            </a:r>
            <a:r>
              <a:rPr i="1" lang="zh-CN" sz="1300">
                <a:solidFill>
                  <a:srgbClr val="333333"/>
                </a:solidFill>
                <a:latin typeface="Trebuchet MS"/>
                <a:ea typeface="Trebuchet MS"/>
                <a:cs typeface="Trebuchet MS"/>
                <a:sym typeface="Trebuchet MS"/>
              </a:rPr>
              <a:t>Edge-side work generated in advance can be reused only if the target model accepts the entire parent draft and its additional target token matches the token assumed by the proactive branch.</a:t>
            </a:r>
            <a:endParaRPr i="1" sz="1500">
              <a:solidFill>
                <a:srgbClr val="333333"/>
              </a:solidFill>
            </a:endParaRPr>
          </a:p>
        </p:txBody>
      </p:sp>
      <p:pic>
        <p:nvPicPr>
          <p:cNvPr id="88" name="Google Shape;88;p15"/>
          <p:cNvPicPr preferRelativeResize="0"/>
          <p:nvPr/>
        </p:nvPicPr>
        <p:blipFill>
          <a:blip r:embed="rId4">
            <a:alphaModFix/>
          </a:blip>
          <a:stretch>
            <a:fillRect/>
          </a:stretch>
        </p:blipFill>
        <p:spPr>
          <a:xfrm>
            <a:off x="6382038" y="152353"/>
            <a:ext cx="2649075" cy="732650"/>
          </a:xfrm>
          <a:prstGeom prst="rect">
            <a:avLst/>
          </a:prstGeom>
          <a:noFill/>
          <a:ln>
            <a:noFill/>
          </a:ln>
        </p:spPr>
      </p:pic>
      <p:sp>
        <p:nvSpPr>
          <p:cNvPr id="89" name="Google Shape;89;p15"/>
          <p:cNvSpPr/>
          <p:nvPr/>
        </p:nvSpPr>
        <p:spPr>
          <a:xfrm>
            <a:off x="0" y="4807975"/>
            <a:ext cx="9144000" cy="335400"/>
          </a:xfrm>
          <a:prstGeom prst="rect">
            <a:avLst/>
          </a:prstGeom>
          <a:solidFill>
            <a:srgbClr val="1C4587"/>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zh-CN" sz="1500">
                <a:solidFill>
                  <a:schemeClr val="lt2"/>
                </a:solidFill>
                <a:latin typeface="Trebuchet MS"/>
                <a:ea typeface="Trebuchet MS"/>
                <a:cs typeface="Trebuchet MS"/>
                <a:sym typeface="Trebuchet MS"/>
              </a:rPr>
              <a:t>  2026-7 · Jiale Wang · HUST</a:t>
            </a:r>
            <a:endParaRPr sz="1500">
              <a:solidFill>
                <a:schemeClr val="lt2"/>
              </a:solidFill>
              <a:latin typeface="Trebuchet MS"/>
              <a:ea typeface="Trebuchet MS"/>
              <a:cs typeface="Trebuchet MS"/>
              <a:sym typeface="Trebuchet M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6"/>
          <p:cNvSpPr/>
          <p:nvPr/>
        </p:nvSpPr>
        <p:spPr>
          <a:xfrm>
            <a:off x="0" y="864105"/>
            <a:ext cx="4329000" cy="42600"/>
          </a:xfrm>
          <a:prstGeom prst="rect">
            <a:avLst/>
          </a:prstGeom>
          <a:solidFill>
            <a:srgbClr val="1C458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 name="Google Shape;95;p16"/>
          <p:cNvSpPr txBox="1"/>
          <p:nvPr/>
        </p:nvSpPr>
        <p:spPr>
          <a:xfrm>
            <a:off x="142947" y="269750"/>
            <a:ext cx="4066500" cy="589800"/>
          </a:xfrm>
          <a:prstGeom prst="rect">
            <a:avLst/>
          </a:prstGeom>
          <a:noFill/>
          <a:ln>
            <a:noFill/>
          </a:ln>
        </p:spPr>
        <p:txBody>
          <a:bodyPr anchorCtr="0" anchor="ctr" bIns="91425" lIns="91425" spcFirstLastPara="1" rIns="91425" wrap="square" tIns="91425">
            <a:noAutofit/>
          </a:bodyPr>
          <a:lstStyle/>
          <a:p>
            <a:pPr indent="0" lvl="0" marL="0" rtl="0" algn="l">
              <a:lnSpc>
                <a:spcPct val="122500"/>
              </a:lnSpc>
              <a:spcBef>
                <a:spcPts val="1800"/>
              </a:spcBef>
              <a:spcAft>
                <a:spcPts val="400"/>
              </a:spcAft>
              <a:buNone/>
            </a:pPr>
            <a:r>
              <a:rPr b="1" lang="zh-CN" sz="3000">
                <a:solidFill>
                  <a:schemeClr val="dk1"/>
                </a:solidFill>
                <a:latin typeface="Trebuchet MS"/>
                <a:ea typeface="Trebuchet MS"/>
                <a:cs typeface="Trebuchet MS"/>
                <a:sym typeface="Trebuchet MS"/>
              </a:rPr>
              <a:t>PipeSD Architecture</a:t>
            </a:r>
            <a:endParaRPr b="1" sz="3000">
              <a:solidFill>
                <a:schemeClr val="dk1"/>
              </a:solidFill>
              <a:latin typeface="Trebuchet MS"/>
              <a:ea typeface="Trebuchet MS"/>
              <a:cs typeface="Trebuchet MS"/>
              <a:sym typeface="Trebuchet MS"/>
            </a:endParaRPr>
          </a:p>
        </p:txBody>
      </p:sp>
      <p:grpSp>
        <p:nvGrpSpPr>
          <p:cNvPr id="96" name="Google Shape;96;p16"/>
          <p:cNvGrpSpPr/>
          <p:nvPr/>
        </p:nvGrpSpPr>
        <p:grpSpPr>
          <a:xfrm>
            <a:off x="128100" y="1509575"/>
            <a:ext cx="8887800" cy="2755476"/>
            <a:chOff x="128100" y="1489863"/>
            <a:chExt cx="8887800" cy="2755476"/>
          </a:xfrm>
        </p:grpSpPr>
        <p:pic>
          <p:nvPicPr>
            <p:cNvPr id="97" name="Google Shape;97;p16" title="fig3_implementation.png"/>
            <p:cNvPicPr preferRelativeResize="0"/>
            <p:nvPr/>
          </p:nvPicPr>
          <p:blipFill>
            <a:blip r:embed="rId3">
              <a:alphaModFix/>
            </a:blip>
            <a:stretch>
              <a:fillRect/>
            </a:stretch>
          </p:blipFill>
          <p:spPr>
            <a:xfrm>
              <a:off x="128100" y="1489863"/>
              <a:ext cx="3210452" cy="2755476"/>
            </a:xfrm>
            <a:prstGeom prst="rect">
              <a:avLst/>
            </a:prstGeom>
            <a:noFill/>
            <a:ln>
              <a:noFill/>
            </a:ln>
          </p:spPr>
        </p:pic>
        <p:sp>
          <p:nvSpPr>
            <p:cNvPr id="98" name="Google Shape;98;p16"/>
            <p:cNvSpPr/>
            <p:nvPr/>
          </p:nvSpPr>
          <p:spPr>
            <a:xfrm>
              <a:off x="3459300" y="1489875"/>
              <a:ext cx="5556600" cy="737100"/>
            </a:xfrm>
            <a:prstGeom prst="roundRect">
              <a:avLst>
                <a:gd fmla="val 16667" name="adj"/>
              </a:avLst>
            </a:prstGeom>
            <a:solidFill>
              <a:schemeClr val="lt2"/>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zh-CN" sz="1200">
                  <a:solidFill>
                    <a:srgbClr val="333333"/>
                  </a:solidFill>
                  <a:latin typeface="Trebuchet MS"/>
                  <a:ea typeface="Trebuchet MS"/>
                  <a:cs typeface="Trebuchet MS"/>
                  <a:sym typeface="Trebuchet MS"/>
                </a:rPr>
                <a:t>Communication API:</a:t>
              </a:r>
              <a:r>
                <a:rPr lang="zh-CN" sz="1200">
                  <a:solidFill>
                    <a:srgbClr val="333333"/>
                  </a:solidFill>
                  <a:latin typeface="Trebuchet MS"/>
                  <a:ea typeface="Trebuchet MS"/>
                  <a:cs typeface="Trebuchet MS"/>
                  <a:sym typeface="Trebuchet MS"/>
                </a:rPr>
                <a:t> </a:t>
              </a:r>
              <a:r>
                <a:rPr i="1" lang="zh-CN" sz="1200">
                  <a:solidFill>
                    <a:srgbClr val="333333"/>
                  </a:solidFill>
                  <a:latin typeface="Trebuchet MS"/>
                  <a:ea typeface="Trebuchet MS"/>
                  <a:cs typeface="Trebuchet MS"/>
                  <a:sym typeface="Trebuchet MS"/>
                </a:rPr>
                <a:t>receives candidate batches and their round metadata.</a:t>
              </a:r>
              <a:endParaRPr i="1" sz="1200">
                <a:solidFill>
                  <a:srgbClr val="333333"/>
                </a:solidFill>
                <a:latin typeface="Trebuchet MS"/>
                <a:ea typeface="Trebuchet MS"/>
                <a:cs typeface="Trebuchet MS"/>
                <a:sym typeface="Trebuchet MS"/>
              </a:endParaRPr>
            </a:p>
            <a:p>
              <a:pPr indent="0" lvl="0" marL="0" rtl="0" algn="l">
                <a:lnSpc>
                  <a:spcPct val="115000"/>
                </a:lnSpc>
                <a:spcBef>
                  <a:spcPts val="0"/>
                </a:spcBef>
                <a:spcAft>
                  <a:spcPts val="0"/>
                </a:spcAft>
                <a:buNone/>
              </a:pPr>
              <a:r>
                <a:rPr b="1" lang="zh-CN" sz="1200">
                  <a:solidFill>
                    <a:srgbClr val="333333"/>
                  </a:solidFill>
                  <a:latin typeface="Trebuchet MS"/>
                  <a:ea typeface="Trebuchet MS"/>
                  <a:cs typeface="Trebuchet MS"/>
                  <a:sym typeface="Trebuchet MS"/>
                </a:rPr>
                <a:t>Target Model:</a:t>
              </a:r>
              <a:r>
                <a:rPr lang="zh-CN" sz="1200">
                  <a:solidFill>
                    <a:srgbClr val="333333"/>
                  </a:solidFill>
                  <a:latin typeface="Trebuchet MS"/>
                  <a:ea typeface="Trebuchet MS"/>
                  <a:cs typeface="Trebuchet MS"/>
                  <a:sym typeface="Trebuchet MS"/>
                </a:rPr>
                <a:t> </a:t>
              </a:r>
              <a:r>
                <a:rPr i="1" lang="zh-CN" sz="1200">
                  <a:solidFill>
                    <a:srgbClr val="333333"/>
                  </a:solidFill>
                  <a:latin typeface="Trebuchet MS"/>
                  <a:ea typeface="Trebuchet MS"/>
                  <a:cs typeface="Trebuchet MS"/>
                  <a:sym typeface="Trebuchet MS"/>
                </a:rPr>
                <a:t>performs NAV and returns the accepted prefix plus one additional target token.</a:t>
              </a:r>
              <a:endParaRPr i="1" sz="1200">
                <a:latin typeface="Trebuchet MS"/>
                <a:ea typeface="Trebuchet MS"/>
                <a:cs typeface="Trebuchet MS"/>
                <a:sym typeface="Trebuchet MS"/>
              </a:endParaRPr>
            </a:p>
          </p:txBody>
        </p:sp>
        <p:sp>
          <p:nvSpPr>
            <p:cNvPr id="99" name="Google Shape;99;p16"/>
            <p:cNvSpPr/>
            <p:nvPr/>
          </p:nvSpPr>
          <p:spPr>
            <a:xfrm>
              <a:off x="3459300" y="2397300"/>
              <a:ext cx="5556600" cy="1848000"/>
            </a:xfrm>
            <a:prstGeom prst="roundRect">
              <a:avLst>
                <a:gd fmla="val 16667" name="adj"/>
              </a:avLst>
            </a:prstGeom>
            <a:solidFill>
              <a:schemeClr val="lt2"/>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zh-CN" sz="1200">
                  <a:solidFill>
                    <a:srgbClr val="333333"/>
                  </a:solidFill>
                  <a:latin typeface="Trebuchet MS"/>
                  <a:ea typeface="Trebuchet MS"/>
                  <a:cs typeface="Trebuchet MS"/>
                  <a:sym typeface="Trebuchet MS"/>
                </a:rPr>
                <a:t>Draft Model:</a:t>
              </a:r>
              <a:r>
                <a:rPr lang="zh-CN" sz="1200">
                  <a:solidFill>
                    <a:srgbClr val="333333"/>
                  </a:solidFill>
                  <a:latin typeface="Trebuchet MS"/>
                  <a:ea typeface="Trebuchet MS"/>
                  <a:cs typeface="Trebuchet MS"/>
                  <a:sym typeface="Trebuchet MS"/>
                </a:rPr>
                <a:t> </a:t>
              </a:r>
              <a:r>
                <a:rPr i="1" lang="zh-CN" sz="1200">
                  <a:solidFill>
                    <a:srgbClr val="333333"/>
                  </a:solidFill>
                  <a:latin typeface="Trebuchet MS"/>
                  <a:ea typeface="Trebuchet MS"/>
                  <a:cs typeface="Trebuchet MS"/>
                  <a:sym typeface="Trebuchet MS"/>
                </a:rPr>
                <a:t>autoregressively produces candidate tokens.</a:t>
              </a:r>
              <a:endParaRPr i="1" sz="1200">
                <a:solidFill>
                  <a:srgbClr val="333333"/>
                </a:solidFill>
                <a:latin typeface="Trebuchet MS"/>
                <a:ea typeface="Trebuchet MS"/>
                <a:cs typeface="Trebuchet MS"/>
                <a:sym typeface="Trebuchet MS"/>
              </a:endParaRPr>
            </a:p>
            <a:p>
              <a:pPr indent="0" lvl="0" marL="0" rtl="0" algn="l">
                <a:lnSpc>
                  <a:spcPct val="115000"/>
                </a:lnSpc>
                <a:spcBef>
                  <a:spcPts val="0"/>
                </a:spcBef>
                <a:spcAft>
                  <a:spcPts val="0"/>
                </a:spcAft>
                <a:buNone/>
              </a:pPr>
              <a:r>
                <a:rPr b="1" lang="zh-CN" sz="1200">
                  <a:solidFill>
                    <a:srgbClr val="333333"/>
                  </a:solidFill>
                  <a:latin typeface="Trebuchet MS"/>
                  <a:ea typeface="Trebuchet MS"/>
                  <a:cs typeface="Trebuchet MS"/>
                  <a:sym typeface="Trebuchet MS"/>
                </a:rPr>
                <a:t>Transmission Controller:</a:t>
              </a:r>
              <a:r>
                <a:rPr lang="zh-CN" sz="1200">
                  <a:solidFill>
                    <a:srgbClr val="333333"/>
                  </a:solidFill>
                  <a:latin typeface="Trebuchet MS"/>
                  <a:ea typeface="Trebuchet MS"/>
                  <a:cs typeface="Trebuchet MS"/>
                  <a:sym typeface="Trebuchet MS"/>
                </a:rPr>
                <a:t> </a:t>
              </a:r>
              <a:r>
                <a:rPr i="1" lang="zh-CN" sz="1200">
                  <a:solidFill>
                    <a:srgbClr val="333333"/>
                  </a:solidFill>
                  <a:latin typeface="Trebuchet MS"/>
                  <a:ea typeface="Trebuchet MS"/>
                  <a:cs typeface="Trebuchet MS"/>
                  <a:sym typeface="Trebuchet MS"/>
                </a:rPr>
                <a:t>combines the </a:t>
              </a:r>
              <a:r>
                <a:rPr b="1" i="1" lang="zh-CN" sz="1200">
                  <a:solidFill>
                    <a:srgbClr val="FF0000"/>
                  </a:solidFill>
                  <a:latin typeface="Trebuchet MS"/>
                  <a:ea typeface="Trebuchet MS"/>
                  <a:cs typeface="Trebuchet MS"/>
                  <a:sym typeface="Trebuchet MS"/>
                </a:rPr>
                <a:t>DP</a:t>
              </a:r>
              <a:r>
                <a:rPr i="1" lang="zh-CN" sz="1200">
                  <a:solidFill>
                    <a:srgbClr val="333333"/>
                  </a:solidFill>
                  <a:latin typeface="Trebuchet MS"/>
                  <a:ea typeface="Trebuchet MS"/>
                  <a:cs typeface="Trebuchet MS"/>
                  <a:sym typeface="Trebuchet MS"/>
                </a:rPr>
                <a:t> batch scheduler and the dual-threshold NAV trigger.</a:t>
              </a:r>
              <a:endParaRPr i="1" sz="1200">
                <a:solidFill>
                  <a:srgbClr val="333333"/>
                </a:solidFill>
                <a:latin typeface="Trebuchet MS"/>
                <a:ea typeface="Trebuchet MS"/>
                <a:cs typeface="Trebuchet MS"/>
                <a:sym typeface="Trebuchet MS"/>
              </a:endParaRPr>
            </a:p>
            <a:p>
              <a:pPr indent="0" lvl="0" marL="0" rtl="0" algn="l">
                <a:lnSpc>
                  <a:spcPct val="115000"/>
                </a:lnSpc>
                <a:spcBef>
                  <a:spcPts val="0"/>
                </a:spcBef>
                <a:spcAft>
                  <a:spcPts val="0"/>
                </a:spcAft>
                <a:buNone/>
              </a:pPr>
              <a:r>
                <a:rPr b="1" lang="zh-CN" sz="1200">
                  <a:solidFill>
                    <a:srgbClr val="333333"/>
                  </a:solidFill>
                  <a:latin typeface="Trebuchet MS"/>
                  <a:ea typeface="Trebuchet MS"/>
                  <a:cs typeface="Trebuchet MS"/>
                  <a:sym typeface="Trebuchet MS"/>
                </a:rPr>
                <a:t>Environment Monitor:</a:t>
              </a:r>
              <a:r>
                <a:rPr lang="zh-CN" sz="1200">
                  <a:solidFill>
                    <a:srgbClr val="333333"/>
                  </a:solidFill>
                  <a:latin typeface="Trebuchet MS"/>
                  <a:ea typeface="Trebuchet MS"/>
                  <a:cs typeface="Trebuchet MS"/>
                  <a:sym typeface="Trebuchet MS"/>
                </a:rPr>
                <a:t> </a:t>
              </a:r>
              <a:r>
                <a:rPr i="1" lang="zh-CN" sz="1200">
                  <a:solidFill>
                    <a:srgbClr val="333333"/>
                  </a:solidFill>
                  <a:latin typeface="Trebuchet MS"/>
                  <a:ea typeface="Trebuchet MS"/>
                  <a:cs typeface="Trebuchet MS"/>
                  <a:sym typeface="Trebuchet MS"/>
                </a:rPr>
                <a:t>estimates token-generation time (</a:t>
              </a:r>
              <a:r>
                <a:rPr b="1" i="1" lang="zh-CN" sz="1200">
                  <a:solidFill>
                    <a:srgbClr val="FF0000"/>
                  </a:solidFill>
                  <a:latin typeface="Georgia"/>
                  <a:ea typeface="Georgia"/>
                  <a:cs typeface="Georgia"/>
                  <a:sym typeface="Georgia"/>
                </a:rPr>
                <a:t>γ</a:t>
              </a:r>
              <a:r>
                <a:rPr i="1" lang="zh-CN" sz="1200">
                  <a:solidFill>
                    <a:srgbClr val="333333"/>
                  </a:solidFill>
                  <a:latin typeface="Trebuchet MS"/>
                  <a:ea typeface="Trebuchet MS"/>
                  <a:cs typeface="Trebuchet MS"/>
                  <a:sym typeface="Trebuchet MS"/>
                </a:rPr>
                <a:t>), communication startup cost (</a:t>
              </a:r>
              <a:r>
                <a:rPr b="1" i="1" lang="zh-CN" sz="1200">
                  <a:solidFill>
                    <a:srgbClr val="FF0000"/>
                  </a:solidFill>
                  <a:latin typeface="Georgia"/>
                  <a:ea typeface="Georgia"/>
                  <a:cs typeface="Georgia"/>
                  <a:sym typeface="Georgia"/>
                </a:rPr>
                <a:t>α</a:t>
              </a:r>
              <a:r>
                <a:rPr i="1" lang="zh-CN" sz="1200">
                  <a:solidFill>
                    <a:srgbClr val="333333"/>
                  </a:solidFill>
                  <a:latin typeface="Trebuchet MS"/>
                  <a:ea typeface="Trebuchet MS"/>
                  <a:cs typeface="Trebuchet MS"/>
                  <a:sym typeface="Trebuchet MS"/>
                </a:rPr>
                <a:t>), and per-token communication time (</a:t>
              </a:r>
              <a:r>
                <a:rPr b="1" i="1" lang="zh-CN" sz="1200">
                  <a:solidFill>
                    <a:srgbClr val="FF0000"/>
                  </a:solidFill>
                  <a:latin typeface="Georgia"/>
                  <a:ea typeface="Georgia"/>
                  <a:cs typeface="Georgia"/>
                  <a:sym typeface="Georgia"/>
                </a:rPr>
                <a:t>β</a:t>
              </a:r>
              <a:r>
                <a:rPr i="1" lang="zh-CN" sz="1200">
                  <a:solidFill>
                    <a:srgbClr val="333333"/>
                  </a:solidFill>
                  <a:latin typeface="Trebuchet MS"/>
                  <a:ea typeface="Trebuchet MS"/>
                  <a:cs typeface="Trebuchet MS"/>
                  <a:sym typeface="Trebuchet MS"/>
                </a:rPr>
                <a:t>).</a:t>
              </a:r>
              <a:endParaRPr i="1" sz="1200">
                <a:solidFill>
                  <a:srgbClr val="333333"/>
                </a:solidFill>
                <a:latin typeface="Trebuchet MS"/>
                <a:ea typeface="Trebuchet MS"/>
                <a:cs typeface="Trebuchet MS"/>
                <a:sym typeface="Trebuchet MS"/>
              </a:endParaRPr>
            </a:p>
            <a:p>
              <a:pPr indent="0" lvl="0" marL="0" rtl="0" algn="l">
                <a:lnSpc>
                  <a:spcPct val="115000"/>
                </a:lnSpc>
                <a:spcBef>
                  <a:spcPts val="0"/>
                </a:spcBef>
                <a:spcAft>
                  <a:spcPts val="0"/>
                </a:spcAft>
                <a:buNone/>
              </a:pPr>
              <a:r>
                <a:rPr b="1" lang="zh-CN" sz="1200">
                  <a:solidFill>
                    <a:srgbClr val="333333"/>
                  </a:solidFill>
                  <a:latin typeface="Trebuchet MS"/>
                  <a:ea typeface="Trebuchet MS"/>
                  <a:cs typeface="Trebuchet MS"/>
                  <a:sym typeface="Trebuchet MS"/>
                </a:rPr>
                <a:t>Parameter Updater:</a:t>
              </a:r>
              <a:r>
                <a:rPr lang="zh-CN" sz="1200">
                  <a:solidFill>
                    <a:srgbClr val="333333"/>
                  </a:solidFill>
                  <a:latin typeface="Trebuchet MS"/>
                  <a:ea typeface="Trebuchet MS"/>
                  <a:cs typeface="Trebuchet MS"/>
                  <a:sym typeface="Trebuchet MS"/>
                </a:rPr>
                <a:t> </a:t>
              </a:r>
              <a:r>
                <a:rPr i="1" lang="zh-CN" sz="1200">
                  <a:solidFill>
                    <a:srgbClr val="333333"/>
                  </a:solidFill>
                  <a:latin typeface="Trebuchet MS"/>
                  <a:ea typeface="Trebuchet MS"/>
                  <a:cs typeface="Trebuchet MS"/>
                  <a:sym typeface="Trebuchet MS"/>
                </a:rPr>
                <a:t>uses </a:t>
              </a:r>
              <a:r>
                <a:rPr b="1" i="1" lang="zh-CN" sz="1200">
                  <a:solidFill>
                    <a:srgbClr val="FF0000"/>
                  </a:solidFill>
                  <a:latin typeface="Trebuchet MS"/>
                  <a:ea typeface="Trebuchet MS"/>
                  <a:cs typeface="Trebuchet MS"/>
                  <a:sym typeface="Trebuchet MS"/>
                </a:rPr>
                <a:t>Bayesian optimizatio</a:t>
              </a:r>
              <a:r>
                <a:rPr b="1" i="1" lang="zh-CN" sz="1200">
                  <a:solidFill>
                    <a:srgbClr val="FF0000"/>
                  </a:solidFill>
                  <a:latin typeface="Trebuchet MS"/>
                  <a:ea typeface="Trebuchet MS"/>
                  <a:cs typeface="Trebuchet MS"/>
                  <a:sym typeface="Trebuchet MS"/>
                </a:rPr>
                <a:t>n</a:t>
              </a:r>
              <a:r>
                <a:rPr i="1" lang="zh-CN" sz="1200">
                  <a:solidFill>
                    <a:srgbClr val="333333"/>
                  </a:solidFill>
                  <a:latin typeface="Trebuchet MS"/>
                  <a:ea typeface="Trebuchet MS"/>
                  <a:cs typeface="Trebuchet MS"/>
                  <a:sym typeface="Trebuchet MS"/>
                </a:rPr>
                <a:t> to update the thresholds and recomputes DP batch boundaries when the environment changes.</a:t>
              </a:r>
              <a:endParaRPr i="1" sz="1200">
                <a:solidFill>
                  <a:srgbClr val="333333"/>
                </a:solidFill>
                <a:latin typeface="Trebuchet MS"/>
                <a:ea typeface="Trebuchet MS"/>
                <a:cs typeface="Trebuchet MS"/>
                <a:sym typeface="Trebuchet MS"/>
              </a:endParaRPr>
            </a:p>
            <a:p>
              <a:pPr indent="0" lvl="0" marL="0" rtl="0" algn="l">
                <a:lnSpc>
                  <a:spcPct val="115000"/>
                </a:lnSpc>
                <a:spcBef>
                  <a:spcPts val="0"/>
                </a:spcBef>
                <a:spcAft>
                  <a:spcPts val="0"/>
                </a:spcAft>
                <a:buNone/>
              </a:pPr>
              <a:r>
                <a:rPr b="1" lang="zh-CN" sz="1200">
                  <a:solidFill>
                    <a:srgbClr val="333333"/>
                  </a:solidFill>
                  <a:latin typeface="Trebuchet MS"/>
                  <a:ea typeface="Trebuchet MS"/>
                  <a:cs typeface="Trebuchet MS"/>
                  <a:sym typeface="Trebuchet MS"/>
                </a:rPr>
                <a:t>Communication Interface:</a:t>
              </a:r>
              <a:r>
                <a:rPr lang="zh-CN" sz="1200">
                  <a:solidFill>
                    <a:srgbClr val="333333"/>
                  </a:solidFill>
                  <a:latin typeface="Trebuchet MS"/>
                  <a:ea typeface="Trebuchet MS"/>
                  <a:cs typeface="Trebuchet MS"/>
                  <a:sym typeface="Trebuchet MS"/>
                </a:rPr>
                <a:t> </a:t>
              </a:r>
              <a:r>
                <a:rPr i="1" lang="zh-CN" sz="1200">
                  <a:solidFill>
                    <a:srgbClr val="333333"/>
                  </a:solidFill>
                  <a:latin typeface="Trebuchet MS"/>
                  <a:ea typeface="Trebuchet MS"/>
                  <a:cs typeface="Trebuchet MS"/>
                  <a:sym typeface="Trebuchet MS"/>
                </a:rPr>
                <a:t>uploads batches and receives NAV results.</a:t>
              </a:r>
              <a:endParaRPr i="1" sz="1200">
                <a:latin typeface="Trebuchet MS"/>
                <a:ea typeface="Trebuchet MS"/>
                <a:cs typeface="Trebuchet MS"/>
                <a:sym typeface="Trebuchet MS"/>
              </a:endParaRPr>
            </a:p>
          </p:txBody>
        </p:sp>
      </p:grpSp>
      <p:cxnSp>
        <p:nvCxnSpPr>
          <p:cNvPr id="100" name="Google Shape;100;p16"/>
          <p:cNvCxnSpPr/>
          <p:nvPr/>
        </p:nvCxnSpPr>
        <p:spPr>
          <a:xfrm>
            <a:off x="7878825" y="2029250"/>
            <a:ext cx="300" cy="602100"/>
          </a:xfrm>
          <a:prstGeom prst="straightConnector1">
            <a:avLst/>
          </a:prstGeom>
          <a:noFill/>
          <a:ln cap="flat" cmpd="sng" w="19050">
            <a:solidFill>
              <a:srgbClr val="1C4587"/>
            </a:solidFill>
            <a:prstDash val="solid"/>
            <a:round/>
            <a:headEnd len="med" w="med" type="none"/>
            <a:tailEnd len="med" w="med" type="triangle"/>
          </a:ln>
        </p:spPr>
      </p:cxnSp>
      <p:cxnSp>
        <p:nvCxnSpPr>
          <p:cNvPr id="101" name="Google Shape;101;p16"/>
          <p:cNvCxnSpPr/>
          <p:nvPr/>
        </p:nvCxnSpPr>
        <p:spPr>
          <a:xfrm rot="10800000">
            <a:off x="8159950" y="2020425"/>
            <a:ext cx="0" cy="612600"/>
          </a:xfrm>
          <a:prstGeom prst="straightConnector1">
            <a:avLst/>
          </a:prstGeom>
          <a:noFill/>
          <a:ln cap="flat" cmpd="sng" w="19050">
            <a:solidFill>
              <a:srgbClr val="1C4587"/>
            </a:solidFill>
            <a:prstDash val="solid"/>
            <a:round/>
            <a:headEnd len="med" w="med" type="none"/>
            <a:tailEnd len="med" w="med" type="triangle"/>
          </a:ln>
        </p:spPr>
      </p:cxnSp>
      <p:pic>
        <p:nvPicPr>
          <p:cNvPr id="102" name="Google Shape;102;p16"/>
          <p:cNvPicPr preferRelativeResize="0"/>
          <p:nvPr/>
        </p:nvPicPr>
        <p:blipFill>
          <a:blip r:embed="rId4">
            <a:alphaModFix/>
          </a:blip>
          <a:stretch>
            <a:fillRect/>
          </a:stretch>
        </p:blipFill>
        <p:spPr>
          <a:xfrm>
            <a:off x="6382038" y="152353"/>
            <a:ext cx="2649075" cy="732650"/>
          </a:xfrm>
          <a:prstGeom prst="rect">
            <a:avLst/>
          </a:prstGeom>
          <a:noFill/>
          <a:ln>
            <a:noFill/>
          </a:ln>
        </p:spPr>
      </p:pic>
      <p:sp>
        <p:nvSpPr>
          <p:cNvPr id="103" name="Google Shape;103;p16"/>
          <p:cNvSpPr/>
          <p:nvPr/>
        </p:nvSpPr>
        <p:spPr>
          <a:xfrm>
            <a:off x="0" y="4807975"/>
            <a:ext cx="9144000" cy="335400"/>
          </a:xfrm>
          <a:prstGeom prst="rect">
            <a:avLst/>
          </a:prstGeom>
          <a:solidFill>
            <a:srgbClr val="1C4587"/>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zh-CN" sz="1500">
                <a:solidFill>
                  <a:schemeClr val="lt2"/>
                </a:solidFill>
                <a:latin typeface="Trebuchet MS"/>
                <a:ea typeface="Trebuchet MS"/>
                <a:cs typeface="Trebuchet MS"/>
                <a:sym typeface="Trebuchet MS"/>
              </a:rPr>
              <a:t>  2026-7 · Jiale Wang · HUST</a:t>
            </a:r>
            <a:endParaRPr sz="1500">
              <a:solidFill>
                <a:schemeClr val="lt2"/>
              </a:solidFill>
              <a:latin typeface="Trebuchet MS"/>
              <a:ea typeface="Trebuchet MS"/>
              <a:cs typeface="Trebuchet MS"/>
              <a:sym typeface="Trebuchet M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7"/>
          <p:cNvSpPr/>
          <p:nvPr/>
        </p:nvSpPr>
        <p:spPr>
          <a:xfrm>
            <a:off x="0" y="864105"/>
            <a:ext cx="4329000" cy="42600"/>
          </a:xfrm>
          <a:prstGeom prst="rect">
            <a:avLst/>
          </a:prstGeom>
          <a:solidFill>
            <a:srgbClr val="1C458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09" name="Google Shape;109;p17"/>
          <p:cNvPicPr preferRelativeResize="0"/>
          <p:nvPr/>
        </p:nvPicPr>
        <p:blipFill>
          <a:blip r:embed="rId3">
            <a:alphaModFix/>
          </a:blip>
          <a:stretch>
            <a:fillRect/>
          </a:stretch>
        </p:blipFill>
        <p:spPr>
          <a:xfrm>
            <a:off x="6382038" y="152353"/>
            <a:ext cx="2649075" cy="732650"/>
          </a:xfrm>
          <a:prstGeom prst="rect">
            <a:avLst/>
          </a:prstGeom>
          <a:noFill/>
          <a:ln>
            <a:noFill/>
          </a:ln>
        </p:spPr>
      </p:pic>
      <p:sp>
        <p:nvSpPr>
          <p:cNvPr id="110" name="Google Shape;110;p17"/>
          <p:cNvSpPr txBox="1"/>
          <p:nvPr/>
        </p:nvSpPr>
        <p:spPr>
          <a:xfrm>
            <a:off x="142947" y="269750"/>
            <a:ext cx="4066500" cy="589800"/>
          </a:xfrm>
          <a:prstGeom prst="rect">
            <a:avLst/>
          </a:prstGeom>
          <a:noFill/>
          <a:ln>
            <a:noFill/>
          </a:ln>
        </p:spPr>
        <p:txBody>
          <a:bodyPr anchorCtr="0" anchor="ctr" bIns="91425" lIns="91425" spcFirstLastPara="1" rIns="91425" wrap="square" tIns="91425">
            <a:noAutofit/>
          </a:bodyPr>
          <a:lstStyle/>
          <a:p>
            <a:pPr indent="0" lvl="0" marL="0" rtl="0" algn="l">
              <a:lnSpc>
                <a:spcPct val="122500"/>
              </a:lnSpc>
              <a:spcBef>
                <a:spcPts val="1800"/>
              </a:spcBef>
              <a:spcAft>
                <a:spcPts val="400"/>
              </a:spcAft>
              <a:buNone/>
            </a:pPr>
            <a:r>
              <a:rPr b="1" lang="zh-CN" sz="3000">
                <a:solidFill>
                  <a:schemeClr val="dk1"/>
                </a:solidFill>
                <a:latin typeface="Trebuchet MS"/>
                <a:ea typeface="Trebuchet MS"/>
                <a:cs typeface="Trebuchet MS"/>
                <a:sym typeface="Trebuchet MS"/>
              </a:rPr>
              <a:t>Pipeline Workflow</a:t>
            </a:r>
            <a:endParaRPr b="1" sz="3000">
              <a:solidFill>
                <a:schemeClr val="dk1"/>
              </a:solidFill>
              <a:latin typeface="Trebuchet MS"/>
              <a:ea typeface="Trebuchet MS"/>
              <a:cs typeface="Trebuchet MS"/>
              <a:sym typeface="Trebuchet MS"/>
            </a:endParaRPr>
          </a:p>
        </p:txBody>
      </p:sp>
      <p:pic>
        <p:nvPicPr>
          <p:cNvPr id="111" name="Google Shape;111;p17" title="fig1_overall.png"/>
          <p:cNvPicPr preferRelativeResize="0"/>
          <p:nvPr/>
        </p:nvPicPr>
        <p:blipFill>
          <a:blip r:embed="rId4">
            <a:alphaModFix/>
          </a:blip>
          <a:stretch>
            <a:fillRect/>
          </a:stretch>
        </p:blipFill>
        <p:spPr>
          <a:xfrm>
            <a:off x="4315934" y="2697920"/>
            <a:ext cx="4758098" cy="1974801"/>
          </a:xfrm>
          <a:prstGeom prst="rect">
            <a:avLst/>
          </a:prstGeom>
          <a:noFill/>
          <a:ln cap="flat" cmpd="sng" w="19050">
            <a:solidFill>
              <a:srgbClr val="1C4587"/>
            </a:solidFill>
            <a:prstDash val="dash"/>
            <a:round/>
            <a:headEnd len="sm" w="sm" type="none"/>
            <a:tailEnd len="sm" w="sm" type="none"/>
          </a:ln>
        </p:spPr>
      </p:pic>
      <p:pic>
        <p:nvPicPr>
          <p:cNvPr id="112" name="Google Shape;112;p17"/>
          <p:cNvPicPr preferRelativeResize="0"/>
          <p:nvPr/>
        </p:nvPicPr>
        <p:blipFill>
          <a:blip r:embed="rId5">
            <a:alphaModFix/>
          </a:blip>
          <a:stretch>
            <a:fillRect/>
          </a:stretch>
        </p:blipFill>
        <p:spPr>
          <a:xfrm>
            <a:off x="106971" y="1183125"/>
            <a:ext cx="1391075" cy="1388625"/>
          </a:xfrm>
          <a:prstGeom prst="rect">
            <a:avLst/>
          </a:prstGeom>
          <a:noFill/>
          <a:ln>
            <a:noFill/>
          </a:ln>
        </p:spPr>
      </p:pic>
      <p:cxnSp>
        <p:nvCxnSpPr>
          <p:cNvPr id="113" name="Google Shape;113;p17"/>
          <p:cNvCxnSpPr/>
          <p:nvPr/>
        </p:nvCxnSpPr>
        <p:spPr>
          <a:xfrm flipH="1" rot="10800000">
            <a:off x="1298871" y="1098525"/>
            <a:ext cx="1317600" cy="439800"/>
          </a:xfrm>
          <a:prstGeom prst="bentConnector3">
            <a:avLst>
              <a:gd fmla="val 28250" name="adj1"/>
            </a:avLst>
          </a:prstGeom>
          <a:noFill/>
          <a:ln cap="flat" cmpd="sng" w="19050">
            <a:solidFill>
              <a:srgbClr val="1C4587"/>
            </a:solidFill>
            <a:prstDash val="solid"/>
            <a:round/>
            <a:headEnd len="med" w="med" type="none"/>
            <a:tailEnd len="med" w="med" type="none"/>
          </a:ln>
        </p:spPr>
      </p:cxnSp>
      <p:sp>
        <p:nvSpPr>
          <p:cNvPr id="114" name="Google Shape;114;p17"/>
          <p:cNvSpPr/>
          <p:nvPr/>
        </p:nvSpPr>
        <p:spPr>
          <a:xfrm>
            <a:off x="2529871" y="946850"/>
            <a:ext cx="447900" cy="320700"/>
          </a:xfrm>
          <a:prstGeom prst="ellipse">
            <a:avLst/>
          </a:prstGeom>
          <a:solidFill>
            <a:srgbClr val="1C4587"/>
          </a:solidFill>
          <a:ln cap="flat" cmpd="sng" w="952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zh-CN" sz="1600">
                <a:solidFill>
                  <a:schemeClr val="lt1"/>
                </a:solidFill>
                <a:latin typeface="Trebuchet MS"/>
                <a:ea typeface="Trebuchet MS"/>
                <a:cs typeface="Trebuchet MS"/>
                <a:sym typeface="Trebuchet MS"/>
              </a:rPr>
              <a:t>1</a:t>
            </a:r>
            <a:endParaRPr b="1" sz="1600">
              <a:solidFill>
                <a:schemeClr val="lt1"/>
              </a:solidFill>
              <a:latin typeface="Trebuchet MS"/>
              <a:ea typeface="Trebuchet MS"/>
              <a:cs typeface="Trebuchet MS"/>
              <a:sym typeface="Trebuchet MS"/>
            </a:endParaRPr>
          </a:p>
        </p:txBody>
      </p:sp>
      <p:sp>
        <p:nvSpPr>
          <p:cNvPr id="115" name="Google Shape;115;p17"/>
          <p:cNvSpPr txBox="1"/>
          <p:nvPr/>
        </p:nvSpPr>
        <p:spPr>
          <a:xfrm>
            <a:off x="2931348" y="939491"/>
            <a:ext cx="6182700" cy="33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zh-CN" sz="1200">
                <a:solidFill>
                  <a:srgbClr val="333333"/>
                </a:solidFill>
                <a:latin typeface="Trebuchet MS"/>
                <a:ea typeface="Trebuchet MS"/>
                <a:cs typeface="Trebuchet MS"/>
                <a:sym typeface="Trebuchet MS"/>
              </a:rPr>
              <a:t>Draft Generation:</a:t>
            </a:r>
            <a:r>
              <a:rPr lang="zh-CN" sz="1200">
                <a:solidFill>
                  <a:srgbClr val="333333"/>
                </a:solidFill>
                <a:latin typeface="Trebuchet MS"/>
                <a:ea typeface="Trebuchet MS"/>
                <a:cs typeface="Trebuchet MS"/>
                <a:sym typeface="Trebuchet MS"/>
              </a:rPr>
              <a:t> </a:t>
            </a:r>
            <a:r>
              <a:rPr i="1" lang="zh-CN" sz="1200">
                <a:solidFill>
                  <a:srgbClr val="333333"/>
                </a:solidFill>
                <a:latin typeface="Trebuchet MS"/>
                <a:ea typeface="Trebuchet MS"/>
                <a:cs typeface="Trebuchet MS"/>
                <a:sym typeface="Trebuchet MS"/>
              </a:rPr>
              <a:t>the edge generates tokens one by one and records their confidence.</a:t>
            </a:r>
            <a:r>
              <a:rPr lang="zh-CN" sz="1100">
                <a:solidFill>
                  <a:schemeClr val="dk1"/>
                </a:solidFill>
              </a:rPr>
              <a:t> </a:t>
            </a:r>
            <a:endParaRPr sz="1800">
              <a:solidFill>
                <a:schemeClr val="dk2"/>
              </a:solidFill>
              <a:latin typeface="Trebuchet MS"/>
              <a:ea typeface="Trebuchet MS"/>
              <a:cs typeface="Trebuchet MS"/>
              <a:sym typeface="Trebuchet MS"/>
            </a:endParaRPr>
          </a:p>
        </p:txBody>
      </p:sp>
      <p:sp>
        <p:nvSpPr>
          <p:cNvPr id="116" name="Google Shape;116;p17"/>
          <p:cNvSpPr/>
          <p:nvPr/>
        </p:nvSpPr>
        <p:spPr>
          <a:xfrm>
            <a:off x="2529871" y="1530125"/>
            <a:ext cx="447900" cy="320700"/>
          </a:xfrm>
          <a:prstGeom prst="ellipse">
            <a:avLst/>
          </a:prstGeom>
          <a:solidFill>
            <a:srgbClr val="1C4587"/>
          </a:solidFill>
          <a:ln cap="flat" cmpd="sng" w="952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zh-CN" sz="1600">
                <a:solidFill>
                  <a:schemeClr val="lt1"/>
                </a:solidFill>
                <a:latin typeface="Trebuchet MS"/>
                <a:ea typeface="Trebuchet MS"/>
                <a:cs typeface="Trebuchet MS"/>
                <a:sym typeface="Trebuchet MS"/>
              </a:rPr>
              <a:t>2</a:t>
            </a:r>
            <a:endParaRPr b="1" sz="1600">
              <a:solidFill>
                <a:schemeClr val="lt1"/>
              </a:solidFill>
              <a:latin typeface="Trebuchet MS"/>
              <a:ea typeface="Trebuchet MS"/>
              <a:cs typeface="Trebuchet MS"/>
              <a:sym typeface="Trebuchet MS"/>
            </a:endParaRPr>
          </a:p>
        </p:txBody>
      </p:sp>
      <p:sp>
        <p:nvSpPr>
          <p:cNvPr id="117" name="Google Shape;117;p17"/>
          <p:cNvSpPr txBox="1"/>
          <p:nvPr/>
        </p:nvSpPr>
        <p:spPr>
          <a:xfrm>
            <a:off x="2931346" y="1431425"/>
            <a:ext cx="6043800" cy="51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zh-CN" sz="1200">
                <a:solidFill>
                  <a:srgbClr val="333333"/>
                </a:solidFill>
                <a:latin typeface="Trebuchet MS"/>
                <a:ea typeface="Trebuchet MS"/>
                <a:cs typeface="Trebuchet MS"/>
                <a:sym typeface="Trebuchet MS"/>
              </a:rPr>
              <a:t>Token-Batch Scheduling:</a:t>
            </a:r>
            <a:r>
              <a:rPr lang="zh-CN" sz="1200">
                <a:solidFill>
                  <a:srgbClr val="333333"/>
                </a:solidFill>
                <a:latin typeface="Trebuchet MS"/>
                <a:ea typeface="Trebuchet MS"/>
                <a:cs typeface="Trebuchet MS"/>
                <a:sym typeface="Trebuchet MS"/>
              </a:rPr>
              <a:t> </a:t>
            </a:r>
            <a:r>
              <a:rPr i="1" lang="zh-CN" sz="1200">
                <a:solidFill>
                  <a:srgbClr val="333333"/>
                </a:solidFill>
                <a:latin typeface="Trebuchet MS"/>
                <a:ea typeface="Trebuchet MS"/>
                <a:cs typeface="Trebuchet MS"/>
                <a:sym typeface="Trebuchet MS"/>
              </a:rPr>
              <a:t>once the current DP boundary is reached, the completed batch is uploaded asynchronously while generation continues.</a:t>
            </a:r>
            <a:endParaRPr sz="1200">
              <a:solidFill>
                <a:schemeClr val="dk2"/>
              </a:solidFill>
              <a:latin typeface="Trebuchet MS"/>
              <a:ea typeface="Trebuchet MS"/>
              <a:cs typeface="Trebuchet MS"/>
              <a:sym typeface="Trebuchet MS"/>
            </a:endParaRPr>
          </a:p>
        </p:txBody>
      </p:sp>
      <p:cxnSp>
        <p:nvCxnSpPr>
          <p:cNvPr id="118" name="Google Shape;118;p17"/>
          <p:cNvCxnSpPr>
            <a:endCxn id="119" idx="2"/>
          </p:cNvCxnSpPr>
          <p:nvPr/>
        </p:nvCxnSpPr>
        <p:spPr>
          <a:xfrm>
            <a:off x="1116271" y="1829606"/>
            <a:ext cx="1413600" cy="438900"/>
          </a:xfrm>
          <a:prstGeom prst="bentConnector3">
            <a:avLst>
              <a:gd fmla="val 63199" name="adj1"/>
            </a:avLst>
          </a:prstGeom>
          <a:noFill/>
          <a:ln cap="flat" cmpd="sng" w="19050">
            <a:solidFill>
              <a:srgbClr val="1C4587"/>
            </a:solidFill>
            <a:prstDash val="solid"/>
            <a:round/>
            <a:headEnd len="med" w="med" type="none"/>
            <a:tailEnd len="med" w="med" type="none"/>
          </a:ln>
        </p:spPr>
      </p:cxnSp>
      <p:cxnSp>
        <p:nvCxnSpPr>
          <p:cNvPr id="120" name="Google Shape;120;p17"/>
          <p:cNvCxnSpPr>
            <a:endCxn id="116" idx="2"/>
          </p:cNvCxnSpPr>
          <p:nvPr/>
        </p:nvCxnSpPr>
        <p:spPr>
          <a:xfrm>
            <a:off x="1188271" y="1683875"/>
            <a:ext cx="1341600" cy="6600"/>
          </a:xfrm>
          <a:prstGeom prst="straightConnector1">
            <a:avLst/>
          </a:prstGeom>
          <a:noFill/>
          <a:ln cap="flat" cmpd="sng" w="19050">
            <a:solidFill>
              <a:srgbClr val="1C4587"/>
            </a:solidFill>
            <a:prstDash val="solid"/>
            <a:round/>
            <a:headEnd len="med" w="med" type="none"/>
            <a:tailEnd len="med" w="med" type="none"/>
          </a:ln>
        </p:spPr>
      </p:cxnSp>
      <p:sp>
        <p:nvSpPr>
          <p:cNvPr id="119" name="Google Shape;119;p17"/>
          <p:cNvSpPr/>
          <p:nvPr/>
        </p:nvSpPr>
        <p:spPr>
          <a:xfrm>
            <a:off x="2529871" y="2108156"/>
            <a:ext cx="447900" cy="320700"/>
          </a:xfrm>
          <a:prstGeom prst="ellipse">
            <a:avLst/>
          </a:prstGeom>
          <a:solidFill>
            <a:srgbClr val="1C4587"/>
          </a:solidFill>
          <a:ln cap="flat" cmpd="sng" w="952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zh-CN" sz="1600">
                <a:solidFill>
                  <a:schemeClr val="lt1"/>
                </a:solidFill>
                <a:latin typeface="Trebuchet MS"/>
                <a:ea typeface="Trebuchet MS"/>
                <a:cs typeface="Trebuchet MS"/>
                <a:sym typeface="Trebuchet MS"/>
              </a:rPr>
              <a:t>3</a:t>
            </a:r>
            <a:endParaRPr b="1" sz="1600">
              <a:solidFill>
                <a:schemeClr val="lt1"/>
              </a:solidFill>
              <a:latin typeface="Trebuchet MS"/>
              <a:ea typeface="Trebuchet MS"/>
              <a:cs typeface="Trebuchet MS"/>
              <a:sym typeface="Trebuchet MS"/>
            </a:endParaRPr>
          </a:p>
        </p:txBody>
      </p:sp>
      <p:sp>
        <p:nvSpPr>
          <p:cNvPr id="121" name="Google Shape;121;p17"/>
          <p:cNvSpPr txBox="1"/>
          <p:nvPr/>
        </p:nvSpPr>
        <p:spPr>
          <a:xfrm>
            <a:off x="2931346" y="2025363"/>
            <a:ext cx="6043800" cy="51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zh-CN" sz="1200">
                <a:solidFill>
                  <a:srgbClr val="333333"/>
                </a:solidFill>
                <a:latin typeface="Trebuchet MS"/>
                <a:ea typeface="Trebuchet MS"/>
                <a:cs typeface="Trebuchet MS"/>
                <a:sym typeface="Trebuchet MS"/>
              </a:rPr>
              <a:t>Dual-Threshold Triggering:</a:t>
            </a:r>
            <a:r>
              <a:rPr lang="zh-CN" sz="1200">
                <a:solidFill>
                  <a:srgbClr val="333333"/>
                </a:solidFill>
                <a:latin typeface="Trebuchet MS"/>
                <a:ea typeface="Trebuchet MS"/>
                <a:cs typeface="Trebuchet MS"/>
                <a:sym typeface="Trebuchet MS"/>
              </a:rPr>
              <a:t> </a:t>
            </a:r>
            <a:r>
              <a:rPr i="1" lang="zh-CN" sz="1200">
                <a:solidFill>
                  <a:srgbClr val="333333"/>
                </a:solidFill>
                <a:latin typeface="Trebuchet MS"/>
                <a:ea typeface="Trebuchet MS"/>
                <a:cs typeface="Trebuchet MS"/>
                <a:sym typeface="Trebuchet MS"/>
              </a:rPr>
              <a:t>after every token, the system checks both token-level and cumulative confidence; crossing either threshold triggers NAV.</a:t>
            </a:r>
            <a:endParaRPr i="1" sz="1200">
              <a:solidFill>
                <a:schemeClr val="dk2"/>
              </a:solidFill>
              <a:latin typeface="Trebuchet MS"/>
              <a:ea typeface="Trebuchet MS"/>
              <a:cs typeface="Trebuchet MS"/>
              <a:sym typeface="Trebuchet MS"/>
            </a:endParaRPr>
          </a:p>
        </p:txBody>
      </p:sp>
      <p:sp>
        <p:nvSpPr>
          <p:cNvPr id="122" name="Google Shape;122;p17"/>
          <p:cNvSpPr/>
          <p:nvPr/>
        </p:nvSpPr>
        <p:spPr>
          <a:xfrm>
            <a:off x="274900" y="1524900"/>
            <a:ext cx="352898" cy="1324981"/>
          </a:xfrm>
          <a:custGeom>
            <a:rect b="b" l="l" r="r" t="t"/>
            <a:pathLst>
              <a:path extrusionOk="0" h="46328" w="13057">
                <a:moveTo>
                  <a:pt x="178" y="0"/>
                </a:moveTo>
                <a:lnTo>
                  <a:pt x="0" y="46328"/>
                </a:lnTo>
                <a:lnTo>
                  <a:pt x="13057" y="46328"/>
                </a:lnTo>
              </a:path>
            </a:pathLst>
          </a:custGeom>
          <a:noFill/>
          <a:ln cap="flat" cmpd="sng" w="19050">
            <a:solidFill>
              <a:srgbClr val="1C4587"/>
            </a:solidFill>
            <a:prstDash val="solid"/>
            <a:round/>
            <a:headEnd len="med" w="med" type="none"/>
            <a:tailEnd len="med" w="med" type="none"/>
          </a:ln>
        </p:spPr>
      </p:sp>
      <p:sp>
        <p:nvSpPr>
          <p:cNvPr id="123" name="Google Shape;123;p17"/>
          <p:cNvSpPr/>
          <p:nvPr/>
        </p:nvSpPr>
        <p:spPr>
          <a:xfrm>
            <a:off x="630315" y="2686065"/>
            <a:ext cx="447900" cy="320700"/>
          </a:xfrm>
          <a:prstGeom prst="ellipse">
            <a:avLst/>
          </a:prstGeom>
          <a:solidFill>
            <a:srgbClr val="1C4587"/>
          </a:solidFill>
          <a:ln cap="flat" cmpd="sng" w="952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zh-CN" sz="1600">
                <a:solidFill>
                  <a:schemeClr val="lt1"/>
                </a:solidFill>
                <a:latin typeface="Trebuchet MS"/>
                <a:ea typeface="Trebuchet MS"/>
                <a:cs typeface="Trebuchet MS"/>
                <a:sym typeface="Trebuchet MS"/>
              </a:rPr>
              <a:t>4</a:t>
            </a:r>
            <a:endParaRPr b="1" sz="1600">
              <a:solidFill>
                <a:schemeClr val="lt1"/>
              </a:solidFill>
              <a:latin typeface="Trebuchet MS"/>
              <a:ea typeface="Trebuchet MS"/>
              <a:cs typeface="Trebuchet MS"/>
              <a:sym typeface="Trebuchet MS"/>
            </a:endParaRPr>
          </a:p>
        </p:txBody>
      </p:sp>
      <p:sp>
        <p:nvSpPr>
          <p:cNvPr id="124" name="Google Shape;124;p17"/>
          <p:cNvSpPr txBox="1"/>
          <p:nvPr/>
        </p:nvSpPr>
        <p:spPr>
          <a:xfrm>
            <a:off x="1035450" y="2571750"/>
            <a:ext cx="3345300" cy="589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zh-CN" sz="1200">
                <a:solidFill>
                  <a:srgbClr val="333333"/>
                </a:solidFill>
                <a:latin typeface="Trebuchet MS"/>
                <a:ea typeface="Trebuchet MS"/>
                <a:cs typeface="Trebuchet MS"/>
                <a:sym typeface="Trebuchet MS"/>
              </a:rPr>
              <a:t>Cloud NAV:</a:t>
            </a:r>
            <a:r>
              <a:rPr lang="zh-CN" sz="1200">
                <a:solidFill>
                  <a:srgbClr val="333333"/>
                </a:solidFill>
                <a:latin typeface="Trebuchet MS"/>
                <a:ea typeface="Trebuchet MS"/>
                <a:cs typeface="Trebuchet MS"/>
                <a:sym typeface="Trebuchet MS"/>
              </a:rPr>
              <a:t> </a:t>
            </a:r>
            <a:r>
              <a:rPr i="1" lang="zh-CN" sz="1200">
                <a:solidFill>
                  <a:srgbClr val="333333"/>
                </a:solidFill>
                <a:latin typeface="Trebuchet MS"/>
                <a:ea typeface="Trebuchet MS"/>
                <a:cs typeface="Trebuchet MS"/>
                <a:sym typeface="Trebuchet MS"/>
              </a:rPr>
              <a:t>the cloud verifies the uploaded candidates and returns accepted tokens plus one additional target token.</a:t>
            </a:r>
            <a:r>
              <a:rPr i="1" lang="zh-CN" sz="1200">
                <a:solidFill>
                  <a:schemeClr val="dk1"/>
                </a:solidFill>
                <a:latin typeface="Trebuchet MS"/>
                <a:ea typeface="Trebuchet MS"/>
                <a:cs typeface="Trebuchet MS"/>
                <a:sym typeface="Trebuchet MS"/>
              </a:rPr>
              <a:t> </a:t>
            </a:r>
            <a:endParaRPr i="1" sz="1200">
              <a:solidFill>
                <a:schemeClr val="dk2"/>
              </a:solidFill>
              <a:latin typeface="Trebuchet MS"/>
              <a:ea typeface="Trebuchet MS"/>
              <a:cs typeface="Trebuchet MS"/>
              <a:sym typeface="Trebuchet MS"/>
            </a:endParaRPr>
          </a:p>
        </p:txBody>
      </p:sp>
      <p:sp>
        <p:nvSpPr>
          <p:cNvPr id="125" name="Google Shape;125;p17"/>
          <p:cNvSpPr/>
          <p:nvPr/>
        </p:nvSpPr>
        <p:spPr>
          <a:xfrm>
            <a:off x="361900" y="1683875"/>
            <a:ext cx="265906" cy="1912304"/>
          </a:xfrm>
          <a:custGeom>
            <a:rect b="b" l="l" r="r" t="t"/>
            <a:pathLst>
              <a:path extrusionOk="0" h="46328" w="13057">
                <a:moveTo>
                  <a:pt x="178" y="0"/>
                </a:moveTo>
                <a:lnTo>
                  <a:pt x="0" y="46328"/>
                </a:lnTo>
                <a:lnTo>
                  <a:pt x="13057" y="46328"/>
                </a:lnTo>
              </a:path>
            </a:pathLst>
          </a:custGeom>
          <a:noFill/>
          <a:ln cap="flat" cmpd="sng" w="19050">
            <a:solidFill>
              <a:srgbClr val="1C4587"/>
            </a:solidFill>
            <a:prstDash val="solid"/>
            <a:round/>
            <a:headEnd len="med" w="med" type="none"/>
            <a:tailEnd len="med" w="med" type="none"/>
          </a:ln>
        </p:spPr>
      </p:sp>
      <p:sp>
        <p:nvSpPr>
          <p:cNvPr id="126" name="Google Shape;126;p17"/>
          <p:cNvSpPr/>
          <p:nvPr/>
        </p:nvSpPr>
        <p:spPr>
          <a:xfrm>
            <a:off x="630315" y="3434530"/>
            <a:ext cx="447900" cy="320700"/>
          </a:xfrm>
          <a:prstGeom prst="ellipse">
            <a:avLst/>
          </a:prstGeom>
          <a:solidFill>
            <a:srgbClr val="1C4587"/>
          </a:solidFill>
          <a:ln cap="flat" cmpd="sng" w="952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zh-CN" sz="1600">
                <a:solidFill>
                  <a:schemeClr val="lt1"/>
                </a:solidFill>
                <a:latin typeface="Trebuchet MS"/>
                <a:ea typeface="Trebuchet MS"/>
                <a:cs typeface="Trebuchet MS"/>
                <a:sym typeface="Trebuchet MS"/>
              </a:rPr>
              <a:t>5</a:t>
            </a:r>
            <a:endParaRPr b="1" sz="1600">
              <a:solidFill>
                <a:schemeClr val="lt1"/>
              </a:solidFill>
              <a:latin typeface="Trebuchet MS"/>
              <a:ea typeface="Trebuchet MS"/>
              <a:cs typeface="Trebuchet MS"/>
              <a:sym typeface="Trebuchet MS"/>
            </a:endParaRPr>
          </a:p>
        </p:txBody>
      </p:sp>
      <p:sp>
        <p:nvSpPr>
          <p:cNvPr id="127" name="Google Shape;127;p17"/>
          <p:cNvSpPr txBox="1"/>
          <p:nvPr/>
        </p:nvSpPr>
        <p:spPr>
          <a:xfrm>
            <a:off x="1035455" y="3203282"/>
            <a:ext cx="3345300" cy="732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zh-CN" sz="1200">
                <a:solidFill>
                  <a:srgbClr val="333333"/>
                </a:solidFill>
                <a:latin typeface="Trebuchet MS"/>
                <a:ea typeface="Trebuchet MS"/>
                <a:cs typeface="Trebuchet MS"/>
                <a:sym typeface="Trebuchet MS"/>
              </a:rPr>
              <a:t>Speculative Continuation:</a:t>
            </a:r>
            <a:r>
              <a:rPr lang="zh-CN" sz="1200">
                <a:solidFill>
                  <a:srgbClr val="333333"/>
                </a:solidFill>
                <a:latin typeface="Trebuchet MS"/>
                <a:ea typeface="Trebuchet MS"/>
                <a:cs typeface="Trebuchet MS"/>
                <a:sym typeface="Trebuchet MS"/>
              </a:rPr>
              <a:t> </a:t>
            </a:r>
            <a:r>
              <a:rPr i="1" lang="zh-CN" sz="1200">
                <a:solidFill>
                  <a:srgbClr val="333333"/>
                </a:solidFill>
                <a:latin typeface="Trebuchet MS"/>
                <a:ea typeface="Trebuchet MS"/>
                <a:cs typeface="Trebuchet MS"/>
                <a:sym typeface="Trebuchet MS"/>
              </a:rPr>
              <a:t>while waiting for NAV, the edge generates and may upload next-round candidates into an isolated proactive buffer.</a:t>
            </a:r>
            <a:r>
              <a:rPr i="1" lang="zh-CN" sz="1200">
                <a:solidFill>
                  <a:schemeClr val="dk1"/>
                </a:solidFill>
                <a:latin typeface="Trebuchet MS"/>
                <a:ea typeface="Trebuchet MS"/>
                <a:cs typeface="Trebuchet MS"/>
                <a:sym typeface="Trebuchet MS"/>
              </a:rPr>
              <a:t> </a:t>
            </a:r>
            <a:endParaRPr i="1" sz="1200">
              <a:solidFill>
                <a:schemeClr val="dk2"/>
              </a:solidFill>
              <a:latin typeface="Trebuchet MS"/>
              <a:ea typeface="Trebuchet MS"/>
              <a:cs typeface="Trebuchet MS"/>
              <a:sym typeface="Trebuchet MS"/>
            </a:endParaRPr>
          </a:p>
        </p:txBody>
      </p:sp>
      <p:sp>
        <p:nvSpPr>
          <p:cNvPr id="128" name="Google Shape;128;p17"/>
          <p:cNvSpPr/>
          <p:nvPr/>
        </p:nvSpPr>
        <p:spPr>
          <a:xfrm>
            <a:off x="464675" y="1829600"/>
            <a:ext cx="163115" cy="2489088"/>
          </a:xfrm>
          <a:custGeom>
            <a:rect b="b" l="l" r="r" t="t"/>
            <a:pathLst>
              <a:path extrusionOk="0" h="46328" w="13057">
                <a:moveTo>
                  <a:pt x="178" y="0"/>
                </a:moveTo>
                <a:lnTo>
                  <a:pt x="0" y="46328"/>
                </a:lnTo>
                <a:lnTo>
                  <a:pt x="13057" y="46328"/>
                </a:lnTo>
              </a:path>
            </a:pathLst>
          </a:custGeom>
          <a:noFill/>
          <a:ln cap="flat" cmpd="sng" w="19050">
            <a:solidFill>
              <a:srgbClr val="1C4587"/>
            </a:solidFill>
            <a:prstDash val="solid"/>
            <a:round/>
            <a:headEnd len="med" w="med" type="none"/>
            <a:tailEnd len="med" w="med" type="none"/>
          </a:ln>
        </p:spPr>
      </p:sp>
      <p:sp>
        <p:nvSpPr>
          <p:cNvPr id="129" name="Google Shape;129;p17"/>
          <p:cNvSpPr/>
          <p:nvPr/>
        </p:nvSpPr>
        <p:spPr>
          <a:xfrm>
            <a:off x="630315" y="4153926"/>
            <a:ext cx="447900" cy="320700"/>
          </a:xfrm>
          <a:prstGeom prst="ellipse">
            <a:avLst/>
          </a:prstGeom>
          <a:solidFill>
            <a:srgbClr val="1C4587"/>
          </a:solidFill>
          <a:ln cap="flat" cmpd="sng" w="952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zh-CN" sz="1600">
                <a:solidFill>
                  <a:schemeClr val="lt1"/>
                </a:solidFill>
                <a:latin typeface="Trebuchet MS"/>
                <a:ea typeface="Trebuchet MS"/>
                <a:cs typeface="Trebuchet MS"/>
                <a:sym typeface="Trebuchet MS"/>
              </a:rPr>
              <a:t>6</a:t>
            </a:r>
            <a:endParaRPr b="1" sz="1600">
              <a:solidFill>
                <a:schemeClr val="lt1"/>
              </a:solidFill>
              <a:latin typeface="Trebuchet MS"/>
              <a:ea typeface="Trebuchet MS"/>
              <a:cs typeface="Trebuchet MS"/>
              <a:sym typeface="Trebuchet MS"/>
            </a:endParaRPr>
          </a:p>
        </p:txBody>
      </p:sp>
      <p:sp>
        <p:nvSpPr>
          <p:cNvPr id="130" name="Google Shape;130;p17"/>
          <p:cNvSpPr txBox="1"/>
          <p:nvPr/>
        </p:nvSpPr>
        <p:spPr>
          <a:xfrm>
            <a:off x="1035450" y="3992411"/>
            <a:ext cx="3293400" cy="732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zh-CN" sz="1200">
                <a:solidFill>
                  <a:srgbClr val="333333"/>
                </a:solidFill>
                <a:latin typeface="Trebuchet MS"/>
                <a:ea typeface="Trebuchet MS"/>
                <a:cs typeface="Trebuchet MS"/>
                <a:sym typeface="Trebuchet MS"/>
              </a:rPr>
              <a:t>Commit or Discard:</a:t>
            </a:r>
            <a:r>
              <a:rPr lang="zh-CN" sz="1200">
                <a:solidFill>
                  <a:srgbClr val="333333"/>
                </a:solidFill>
                <a:latin typeface="Trebuchet MS"/>
                <a:ea typeface="Trebuchet MS"/>
                <a:cs typeface="Trebuchet MS"/>
                <a:sym typeface="Trebuchet MS"/>
              </a:rPr>
              <a:t> </a:t>
            </a:r>
            <a:r>
              <a:rPr i="1" lang="zh-CN" sz="1200">
                <a:solidFill>
                  <a:srgbClr val="333333"/>
                </a:solidFill>
                <a:latin typeface="Trebuchet MS"/>
                <a:ea typeface="Trebuchet MS"/>
                <a:cs typeface="Trebuchet MS"/>
                <a:sym typeface="Trebuchet MS"/>
              </a:rPr>
              <a:t>proactive data is reused only when the parent draft is fully accepted and the additional token matches; otherwise it is cancelled and discarded.</a:t>
            </a:r>
            <a:r>
              <a:rPr lang="zh-CN" sz="1200">
                <a:solidFill>
                  <a:schemeClr val="dk1"/>
                </a:solidFill>
                <a:latin typeface="Trebuchet MS"/>
                <a:ea typeface="Trebuchet MS"/>
                <a:cs typeface="Trebuchet MS"/>
                <a:sym typeface="Trebuchet MS"/>
              </a:rPr>
              <a:t> </a:t>
            </a:r>
            <a:endParaRPr i="1" sz="1200">
              <a:solidFill>
                <a:schemeClr val="dk2"/>
              </a:solidFill>
              <a:latin typeface="Trebuchet MS"/>
              <a:ea typeface="Trebuchet MS"/>
              <a:cs typeface="Trebuchet MS"/>
              <a:sym typeface="Trebuchet MS"/>
            </a:endParaRPr>
          </a:p>
        </p:txBody>
      </p:sp>
      <p:sp>
        <p:nvSpPr>
          <p:cNvPr id="131" name="Google Shape;131;p17"/>
          <p:cNvSpPr/>
          <p:nvPr/>
        </p:nvSpPr>
        <p:spPr>
          <a:xfrm>
            <a:off x="0" y="4807975"/>
            <a:ext cx="9144000" cy="335400"/>
          </a:xfrm>
          <a:prstGeom prst="rect">
            <a:avLst/>
          </a:prstGeom>
          <a:solidFill>
            <a:srgbClr val="1C4587"/>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zh-CN" sz="1500">
                <a:solidFill>
                  <a:schemeClr val="lt2"/>
                </a:solidFill>
                <a:latin typeface="Trebuchet MS"/>
                <a:ea typeface="Trebuchet MS"/>
                <a:cs typeface="Trebuchet MS"/>
                <a:sym typeface="Trebuchet MS"/>
              </a:rPr>
              <a:t>  2026-7 · Jiale Wang · HUST</a:t>
            </a:r>
            <a:endParaRPr sz="1500">
              <a:solidFill>
                <a:schemeClr val="lt2"/>
              </a:solidFill>
              <a:latin typeface="Trebuchet MS"/>
              <a:ea typeface="Trebuchet MS"/>
              <a:cs typeface="Trebuchet MS"/>
              <a:sym typeface="Trebuchet M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8"/>
          <p:cNvSpPr/>
          <p:nvPr/>
        </p:nvSpPr>
        <p:spPr>
          <a:xfrm>
            <a:off x="0" y="864105"/>
            <a:ext cx="4329000" cy="42600"/>
          </a:xfrm>
          <a:prstGeom prst="rect">
            <a:avLst/>
          </a:prstGeom>
          <a:solidFill>
            <a:srgbClr val="1C458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37" name="Google Shape;137;p18"/>
          <p:cNvPicPr preferRelativeResize="0"/>
          <p:nvPr/>
        </p:nvPicPr>
        <p:blipFill>
          <a:blip r:embed="rId3">
            <a:alphaModFix/>
          </a:blip>
          <a:stretch>
            <a:fillRect/>
          </a:stretch>
        </p:blipFill>
        <p:spPr>
          <a:xfrm>
            <a:off x="6382038" y="152353"/>
            <a:ext cx="2649075" cy="732650"/>
          </a:xfrm>
          <a:prstGeom prst="rect">
            <a:avLst/>
          </a:prstGeom>
          <a:noFill/>
          <a:ln>
            <a:noFill/>
          </a:ln>
        </p:spPr>
      </p:pic>
      <p:sp>
        <p:nvSpPr>
          <p:cNvPr id="138" name="Google Shape;138;p18"/>
          <p:cNvSpPr txBox="1"/>
          <p:nvPr/>
        </p:nvSpPr>
        <p:spPr>
          <a:xfrm>
            <a:off x="142947" y="269750"/>
            <a:ext cx="4066500" cy="589800"/>
          </a:xfrm>
          <a:prstGeom prst="rect">
            <a:avLst/>
          </a:prstGeom>
          <a:noFill/>
          <a:ln>
            <a:noFill/>
          </a:ln>
        </p:spPr>
        <p:txBody>
          <a:bodyPr anchorCtr="0" anchor="ctr" bIns="91425" lIns="91425" spcFirstLastPara="1" rIns="91425" wrap="square" tIns="91425">
            <a:noAutofit/>
          </a:bodyPr>
          <a:lstStyle/>
          <a:p>
            <a:pPr indent="0" lvl="0" marL="0" rtl="0" algn="l">
              <a:lnSpc>
                <a:spcPct val="122500"/>
              </a:lnSpc>
              <a:spcBef>
                <a:spcPts val="1800"/>
              </a:spcBef>
              <a:spcAft>
                <a:spcPts val="400"/>
              </a:spcAft>
              <a:buNone/>
            </a:pPr>
            <a:r>
              <a:rPr b="1" lang="zh-CN" sz="3000">
                <a:solidFill>
                  <a:schemeClr val="dk1"/>
                </a:solidFill>
                <a:latin typeface="Trebuchet MS"/>
                <a:ea typeface="Trebuchet MS"/>
                <a:cs typeface="Trebuchet MS"/>
                <a:sym typeface="Trebuchet MS"/>
              </a:rPr>
              <a:t>DP Scheduling</a:t>
            </a:r>
            <a:endParaRPr b="1" sz="3000">
              <a:solidFill>
                <a:schemeClr val="dk1"/>
              </a:solidFill>
              <a:latin typeface="Trebuchet MS"/>
              <a:ea typeface="Trebuchet MS"/>
              <a:cs typeface="Trebuchet MS"/>
              <a:sym typeface="Trebuchet MS"/>
            </a:endParaRPr>
          </a:p>
        </p:txBody>
      </p:sp>
      <p:sp>
        <p:nvSpPr>
          <p:cNvPr id="139" name="Google Shape;139;p18"/>
          <p:cNvSpPr txBox="1"/>
          <p:nvPr/>
        </p:nvSpPr>
        <p:spPr>
          <a:xfrm>
            <a:off x="182250" y="977325"/>
            <a:ext cx="8779500" cy="5298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1000"/>
              </a:spcBef>
              <a:spcAft>
                <a:spcPts val="1000"/>
              </a:spcAft>
              <a:buNone/>
            </a:pPr>
            <a:r>
              <a:rPr lang="zh-CN" sz="1600">
                <a:solidFill>
                  <a:srgbClr val="333333"/>
                </a:solidFill>
                <a:latin typeface="Trebuchet MS"/>
                <a:ea typeface="Trebuchet MS"/>
                <a:cs typeface="Trebuchet MS"/>
                <a:sym typeface="Trebuchet MS"/>
              </a:rPr>
              <a:t>The paper models the transmission time </a:t>
            </a:r>
            <a:r>
              <a:rPr lang="zh-CN" sz="1600">
                <a:solidFill>
                  <a:srgbClr val="333333"/>
                </a:solidFill>
                <a:latin typeface="Trebuchet MS"/>
                <a:ea typeface="Trebuchet MS"/>
                <a:cs typeface="Trebuchet MS"/>
                <a:sym typeface="Trebuchet MS"/>
              </a:rPr>
              <a:t>and the generation time </a:t>
            </a:r>
            <a:r>
              <a:rPr lang="zh-CN" sz="1600">
                <a:solidFill>
                  <a:srgbClr val="333333"/>
                </a:solidFill>
                <a:latin typeface="Trebuchet MS"/>
                <a:ea typeface="Trebuchet MS"/>
                <a:cs typeface="Trebuchet MS"/>
                <a:sym typeface="Trebuchet MS"/>
              </a:rPr>
              <a:t>of a batch of size (</a:t>
            </a:r>
            <a:r>
              <a:rPr lang="zh-CN" sz="1600">
                <a:solidFill>
                  <a:srgbClr val="FF0000"/>
                </a:solidFill>
                <a:latin typeface="Trebuchet MS"/>
                <a:ea typeface="Trebuchet MS"/>
                <a:cs typeface="Trebuchet MS"/>
                <a:sym typeface="Trebuchet MS"/>
              </a:rPr>
              <a:t>b</a:t>
            </a:r>
            <a:r>
              <a:rPr lang="zh-CN" sz="1600">
                <a:solidFill>
                  <a:srgbClr val="333333"/>
                </a:solidFill>
                <a:latin typeface="Trebuchet MS"/>
                <a:ea typeface="Trebuchet MS"/>
                <a:cs typeface="Trebuchet MS"/>
                <a:sym typeface="Trebuchet MS"/>
              </a:rPr>
              <a:t>) as:</a:t>
            </a:r>
            <a:endParaRPr sz="2200">
              <a:solidFill>
                <a:srgbClr val="333333"/>
              </a:solidFill>
              <a:latin typeface="Trebuchet MS"/>
              <a:ea typeface="Trebuchet MS"/>
              <a:cs typeface="Trebuchet MS"/>
              <a:sym typeface="Trebuchet MS"/>
            </a:endParaRPr>
          </a:p>
        </p:txBody>
      </p:sp>
      <p:pic>
        <p:nvPicPr>
          <p:cNvPr id="140" name="Google Shape;140;p18" title="{&quot;red&quot;:0,&quot;green&quot;:0,&quot;blue&quot;:0,&quot;origURL&quot;:&quot;http://www.texrendr.com/?eqn=%0AT_%7Bcomm%7D(b)%3D%5Calpha%2B%5Cbeta%20b%2C%20%20%5Cqquad%20T_%7Bgen%7D(b)%3D%5Cgamma%20b.%20%0A#0&quot;,&quot;size&quot;:12,&quot;width&quot;:435.9448818897638,&quot;height&quot;:178.13385826771653}"/>
          <p:cNvPicPr preferRelativeResize="0"/>
          <p:nvPr/>
        </p:nvPicPr>
        <p:blipFill>
          <a:blip r:embed="rId4">
            <a:alphaModFix/>
          </a:blip>
          <a:stretch>
            <a:fillRect/>
          </a:stretch>
        </p:blipFill>
        <p:spPr>
          <a:xfrm>
            <a:off x="2870273" y="1507124"/>
            <a:ext cx="3403449" cy="248150"/>
          </a:xfrm>
          <a:prstGeom prst="rect">
            <a:avLst/>
          </a:prstGeom>
          <a:noFill/>
          <a:ln>
            <a:noFill/>
          </a:ln>
        </p:spPr>
      </p:pic>
      <p:sp>
        <p:nvSpPr>
          <p:cNvPr id="141" name="Google Shape;141;p18"/>
          <p:cNvSpPr txBox="1"/>
          <p:nvPr/>
        </p:nvSpPr>
        <p:spPr>
          <a:xfrm>
            <a:off x="853050" y="1792028"/>
            <a:ext cx="7437900" cy="732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zh-CN" sz="1600">
                <a:solidFill>
                  <a:srgbClr val="333333"/>
                </a:solidFill>
                <a:latin typeface="Trebuchet MS"/>
                <a:ea typeface="Trebuchet MS"/>
                <a:cs typeface="Trebuchet MS"/>
                <a:sym typeface="Trebuchet MS"/>
              </a:rPr>
              <a:t>For a predicted window of </a:t>
            </a:r>
            <a:r>
              <a:rPr lang="zh-CN" sz="1600">
                <a:solidFill>
                  <a:srgbClr val="FF0000"/>
                </a:solidFill>
                <a:latin typeface="Trebuchet MS"/>
                <a:ea typeface="Trebuchet MS"/>
                <a:cs typeface="Trebuchet MS"/>
                <a:sym typeface="Trebuchet MS"/>
              </a:rPr>
              <a:t>N</a:t>
            </a:r>
            <a:r>
              <a:rPr lang="zh-CN" sz="1600">
                <a:solidFill>
                  <a:srgbClr val="333333"/>
                </a:solidFill>
                <a:latin typeface="Trebuchet MS"/>
                <a:ea typeface="Trebuchet MS"/>
                <a:cs typeface="Trebuchet MS"/>
                <a:sym typeface="Trebuchet MS"/>
              </a:rPr>
              <a:t> tokens, select batch boundaries that minimize the completion time of the final transmission. </a:t>
            </a:r>
            <a:endParaRPr sz="1600">
              <a:solidFill>
                <a:srgbClr val="333333"/>
              </a:solidFill>
              <a:latin typeface="Trebuchet MS"/>
              <a:ea typeface="Trebuchet MS"/>
              <a:cs typeface="Trebuchet MS"/>
              <a:sym typeface="Trebuchet MS"/>
            </a:endParaRPr>
          </a:p>
        </p:txBody>
      </p:sp>
      <p:pic>
        <p:nvPicPr>
          <p:cNvPr id="142" name="Google Shape;142;p18" title="{&quot;red&quot;:89,&quot;green&quot;:89,&quot;blue&quot;:89,&quot;origURL&quot;:&quot;http://www.texrendr.com/?eqn=%0Adp%5Bj%5D%3D%5Cmin_%7B0%5Cle%20i%3Cj%7D%5Cleft%5B%5Cmax%5Cleft(dp%5Bi%5D%2C%5C%2C%5Cgamma%20j%5Cright)%2B%5Calpha%2B%5Cbeta(j-i)%5Cright%5D%0A#0&quot;,&quot;size&quot;:12,&quot;width&quot;:467.31496062992125,&quot;height&quot;:85.58267716535433}"/>
          <p:cNvPicPr preferRelativeResize="0"/>
          <p:nvPr/>
        </p:nvPicPr>
        <p:blipFill>
          <a:blip r:embed="rId5">
            <a:alphaModFix/>
          </a:blip>
          <a:stretch>
            <a:fillRect/>
          </a:stretch>
        </p:blipFill>
        <p:spPr>
          <a:xfrm>
            <a:off x="2248363" y="2542049"/>
            <a:ext cx="4647270" cy="413750"/>
          </a:xfrm>
          <a:prstGeom prst="rect">
            <a:avLst/>
          </a:prstGeom>
          <a:noFill/>
          <a:ln>
            <a:noFill/>
          </a:ln>
        </p:spPr>
      </p:pic>
      <p:sp>
        <p:nvSpPr>
          <p:cNvPr id="143" name="Google Shape;143;p18"/>
          <p:cNvSpPr/>
          <p:nvPr/>
        </p:nvSpPr>
        <p:spPr>
          <a:xfrm>
            <a:off x="664363" y="3127124"/>
            <a:ext cx="7815300" cy="1440900"/>
          </a:xfrm>
          <a:prstGeom prst="roundRect">
            <a:avLst>
              <a:gd fmla="val 16667" name="adj"/>
            </a:avLst>
          </a:prstGeom>
          <a:solidFill>
            <a:schemeClr val="lt2"/>
          </a:solidFill>
          <a:ln cap="flat" cmpd="sng" w="19050">
            <a:solidFill>
              <a:srgbClr val="1C4587"/>
            </a:solidFill>
            <a:prstDash val="dash"/>
            <a:round/>
            <a:headEnd len="sm" w="sm" type="none"/>
            <a:tailEnd len="sm" w="sm" type="none"/>
          </a:ln>
        </p:spPr>
        <p:txBody>
          <a:bodyPr anchorCtr="0" anchor="ctr" bIns="91425" lIns="91425" spcFirstLastPara="1" rIns="91425" wrap="square" tIns="91425">
            <a:noAutofit/>
          </a:bodyPr>
          <a:lstStyle/>
          <a:p>
            <a:pPr indent="-304800" lvl="0" marL="457200" rtl="0" algn="l">
              <a:lnSpc>
                <a:spcPct val="115000"/>
              </a:lnSpc>
              <a:spcBef>
                <a:spcPts val="1000"/>
              </a:spcBef>
              <a:spcAft>
                <a:spcPts val="0"/>
              </a:spcAft>
              <a:buClr>
                <a:srgbClr val="333333"/>
              </a:buClr>
              <a:buSzPts val="1200"/>
              <a:buFont typeface="Trebuchet MS"/>
              <a:buChar char="●"/>
            </a:pPr>
            <a:r>
              <a:rPr i="1" lang="zh-CN" sz="1200">
                <a:solidFill>
                  <a:srgbClr val="333333"/>
                </a:solidFill>
                <a:latin typeface="Trebuchet MS"/>
                <a:ea typeface="Trebuchet MS"/>
                <a:cs typeface="Trebuchet MS"/>
                <a:sym typeface="Trebuchet MS"/>
              </a:rPr>
              <a:t>A batch can be sent only after all tokens in that batch have been generated and the previous transmission has </a:t>
            </a:r>
            <a:r>
              <a:rPr i="1" lang="zh-CN" sz="1200">
                <a:solidFill>
                  <a:srgbClr val="FF0000"/>
                </a:solidFill>
                <a:latin typeface="Trebuchet MS"/>
                <a:ea typeface="Trebuchet MS"/>
                <a:cs typeface="Trebuchet MS"/>
                <a:sym typeface="Trebuchet MS"/>
              </a:rPr>
              <a:t>completed</a:t>
            </a:r>
            <a:r>
              <a:rPr i="1" lang="zh-CN" sz="1200">
                <a:solidFill>
                  <a:srgbClr val="333333"/>
                </a:solidFill>
                <a:latin typeface="Trebuchet MS"/>
                <a:ea typeface="Trebuchet MS"/>
                <a:cs typeface="Trebuchet MS"/>
                <a:sym typeface="Trebuchet MS"/>
              </a:rPr>
              <a:t>.</a:t>
            </a:r>
            <a:endParaRPr i="1" sz="1200">
              <a:solidFill>
                <a:srgbClr val="333333"/>
              </a:solidFill>
              <a:latin typeface="Trebuchet MS"/>
              <a:ea typeface="Trebuchet MS"/>
              <a:cs typeface="Trebuchet MS"/>
              <a:sym typeface="Trebuchet MS"/>
            </a:endParaRPr>
          </a:p>
          <a:p>
            <a:pPr indent="-304800" lvl="0" marL="457200" rtl="0" algn="l">
              <a:lnSpc>
                <a:spcPct val="115000"/>
              </a:lnSpc>
              <a:spcBef>
                <a:spcPts val="0"/>
              </a:spcBef>
              <a:spcAft>
                <a:spcPts val="0"/>
              </a:spcAft>
              <a:buClr>
                <a:srgbClr val="333333"/>
              </a:buClr>
              <a:buSzPts val="1200"/>
              <a:buFont typeface="Trebuchet MS"/>
              <a:buChar char="●"/>
            </a:pPr>
            <a:r>
              <a:rPr i="1" lang="zh-CN" sz="1200">
                <a:solidFill>
                  <a:srgbClr val="333333"/>
                </a:solidFill>
                <a:latin typeface="Trebuchet MS"/>
                <a:ea typeface="Trebuchet MS"/>
                <a:cs typeface="Trebuchet MS"/>
                <a:sym typeface="Trebuchet MS"/>
              </a:rPr>
              <a:t>Dynamic programming enumerates the previous partition point with complexity (O</a:t>
            </a:r>
            <a:r>
              <a:rPr i="1" lang="zh-CN" sz="1200">
                <a:solidFill>
                  <a:srgbClr val="333333"/>
                </a:solidFill>
                <a:latin typeface="Trebuchet MS"/>
                <a:ea typeface="Trebuchet MS"/>
                <a:cs typeface="Trebuchet MS"/>
                <a:sym typeface="Trebuchet MS"/>
              </a:rPr>
              <a:t>(N²)</a:t>
            </a:r>
            <a:r>
              <a:rPr i="1" lang="zh-CN" sz="1200">
                <a:solidFill>
                  <a:srgbClr val="333333"/>
                </a:solidFill>
                <a:latin typeface="Trebuchet MS"/>
                <a:ea typeface="Trebuchet MS"/>
                <a:cs typeface="Trebuchet MS"/>
                <a:sym typeface="Trebuchet MS"/>
              </a:rPr>
              <a:t>).</a:t>
            </a:r>
            <a:endParaRPr i="1" sz="1200">
              <a:solidFill>
                <a:srgbClr val="333333"/>
              </a:solidFill>
              <a:latin typeface="Trebuchet MS"/>
              <a:ea typeface="Trebuchet MS"/>
              <a:cs typeface="Trebuchet MS"/>
              <a:sym typeface="Trebuchet MS"/>
            </a:endParaRPr>
          </a:p>
          <a:p>
            <a:pPr indent="-304800" lvl="0" marL="457200" rtl="0" algn="l">
              <a:lnSpc>
                <a:spcPct val="115000"/>
              </a:lnSpc>
              <a:spcBef>
                <a:spcPts val="0"/>
              </a:spcBef>
              <a:spcAft>
                <a:spcPts val="0"/>
              </a:spcAft>
              <a:buClr>
                <a:srgbClr val="333333"/>
              </a:buClr>
              <a:buSzPts val="1200"/>
              <a:buFont typeface="Trebuchet MS"/>
              <a:buChar char="●"/>
            </a:pPr>
            <a:r>
              <a:rPr i="1" lang="zh-CN" sz="1200">
                <a:solidFill>
                  <a:srgbClr val="333333"/>
                </a:solidFill>
                <a:latin typeface="Trebuchet MS"/>
                <a:ea typeface="Trebuchet MS"/>
                <a:cs typeface="Trebuchet MS"/>
                <a:sym typeface="Trebuchet MS"/>
              </a:rPr>
              <a:t>(</a:t>
            </a:r>
            <a:r>
              <a:rPr i="1" lang="zh-CN" sz="1500">
                <a:solidFill>
                  <a:srgbClr val="FF0000"/>
                </a:solidFill>
                <a:latin typeface="Trebuchet MS"/>
                <a:ea typeface="Trebuchet MS"/>
                <a:cs typeface="Trebuchet MS"/>
                <a:sym typeface="Trebuchet MS"/>
              </a:rPr>
              <a:t>N̂</a:t>
            </a:r>
            <a:r>
              <a:rPr i="1" lang="zh-CN" sz="1200">
                <a:solidFill>
                  <a:srgbClr val="333333"/>
                </a:solidFill>
                <a:latin typeface="Trebuchet MS"/>
                <a:ea typeface="Trebuchet MS"/>
                <a:cs typeface="Trebuchet MS"/>
                <a:sym typeface="Trebuchet MS"/>
              </a:rPr>
              <a:t>) starts at 20 and is later updated using the moving average of draft lengths from the most recent 100 rounds.</a:t>
            </a:r>
            <a:endParaRPr i="1" sz="1200">
              <a:solidFill>
                <a:srgbClr val="333333"/>
              </a:solidFill>
              <a:latin typeface="Trebuchet MS"/>
              <a:ea typeface="Trebuchet MS"/>
              <a:cs typeface="Trebuchet MS"/>
              <a:sym typeface="Trebuchet MS"/>
            </a:endParaRPr>
          </a:p>
          <a:p>
            <a:pPr indent="-304800" lvl="0" marL="457200" rtl="0" algn="l">
              <a:lnSpc>
                <a:spcPct val="115000"/>
              </a:lnSpc>
              <a:spcBef>
                <a:spcPts val="0"/>
              </a:spcBef>
              <a:spcAft>
                <a:spcPts val="0"/>
              </a:spcAft>
              <a:buClr>
                <a:srgbClr val="333333"/>
              </a:buClr>
              <a:buSzPts val="1200"/>
              <a:buFont typeface="Trebuchet MS"/>
              <a:buChar char="●"/>
            </a:pPr>
            <a:r>
              <a:rPr i="1" lang="zh-CN" sz="1200">
                <a:solidFill>
                  <a:srgbClr val="333333"/>
                </a:solidFill>
                <a:latin typeface="Trebuchet MS"/>
                <a:ea typeface="Trebuchet MS"/>
                <a:cs typeface="Trebuchet MS"/>
                <a:sym typeface="Trebuchet MS"/>
              </a:rPr>
              <a:t>If NAV returns early, the active schedule is interrupted and unsent tokens are </a:t>
            </a:r>
            <a:r>
              <a:rPr i="1" lang="zh-CN" sz="1200">
                <a:solidFill>
                  <a:srgbClr val="FF0000"/>
                </a:solidFill>
                <a:latin typeface="Trebuchet MS"/>
                <a:ea typeface="Trebuchet MS"/>
                <a:cs typeface="Trebuchet MS"/>
                <a:sym typeface="Trebuchet MS"/>
              </a:rPr>
              <a:t>cleared</a:t>
            </a:r>
            <a:r>
              <a:rPr i="1" lang="zh-CN" sz="1200">
                <a:solidFill>
                  <a:srgbClr val="333333"/>
                </a:solidFill>
                <a:latin typeface="Trebuchet MS"/>
                <a:ea typeface="Trebuchet MS"/>
                <a:cs typeface="Trebuchet MS"/>
                <a:sym typeface="Trebuchet MS"/>
              </a:rPr>
              <a:t>.</a:t>
            </a:r>
            <a:endParaRPr i="1">
              <a:latin typeface="Trebuchet MS"/>
              <a:ea typeface="Trebuchet MS"/>
              <a:cs typeface="Trebuchet MS"/>
              <a:sym typeface="Trebuchet MS"/>
            </a:endParaRPr>
          </a:p>
        </p:txBody>
      </p:sp>
      <p:sp>
        <p:nvSpPr>
          <p:cNvPr id="144" name="Google Shape;144;p18"/>
          <p:cNvSpPr/>
          <p:nvPr/>
        </p:nvSpPr>
        <p:spPr>
          <a:xfrm>
            <a:off x="0" y="4807975"/>
            <a:ext cx="9144000" cy="335400"/>
          </a:xfrm>
          <a:prstGeom prst="rect">
            <a:avLst/>
          </a:prstGeom>
          <a:solidFill>
            <a:srgbClr val="1C4587"/>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zh-CN" sz="1500">
                <a:solidFill>
                  <a:schemeClr val="lt2"/>
                </a:solidFill>
                <a:latin typeface="Trebuchet MS"/>
                <a:ea typeface="Trebuchet MS"/>
                <a:cs typeface="Trebuchet MS"/>
                <a:sym typeface="Trebuchet MS"/>
              </a:rPr>
              <a:t>  2026-7 · Jiale Wang · HUST</a:t>
            </a:r>
            <a:endParaRPr sz="1500">
              <a:solidFill>
                <a:schemeClr val="lt2"/>
              </a:solidFill>
              <a:latin typeface="Trebuchet MS"/>
              <a:ea typeface="Trebuchet MS"/>
              <a:cs typeface="Trebuchet MS"/>
              <a:sym typeface="Trebuchet M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9"/>
          <p:cNvSpPr/>
          <p:nvPr/>
        </p:nvSpPr>
        <p:spPr>
          <a:xfrm>
            <a:off x="0" y="864105"/>
            <a:ext cx="4329000" cy="42600"/>
          </a:xfrm>
          <a:prstGeom prst="rect">
            <a:avLst/>
          </a:prstGeom>
          <a:solidFill>
            <a:srgbClr val="1C458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50" name="Google Shape;150;p19"/>
          <p:cNvPicPr preferRelativeResize="0"/>
          <p:nvPr/>
        </p:nvPicPr>
        <p:blipFill>
          <a:blip r:embed="rId3">
            <a:alphaModFix/>
          </a:blip>
          <a:stretch>
            <a:fillRect/>
          </a:stretch>
        </p:blipFill>
        <p:spPr>
          <a:xfrm>
            <a:off x="6382038" y="152353"/>
            <a:ext cx="2649075" cy="732650"/>
          </a:xfrm>
          <a:prstGeom prst="rect">
            <a:avLst/>
          </a:prstGeom>
          <a:noFill/>
          <a:ln>
            <a:noFill/>
          </a:ln>
        </p:spPr>
      </p:pic>
      <p:sp>
        <p:nvSpPr>
          <p:cNvPr id="151" name="Google Shape;151;p19"/>
          <p:cNvSpPr txBox="1"/>
          <p:nvPr/>
        </p:nvSpPr>
        <p:spPr>
          <a:xfrm>
            <a:off x="142947" y="269750"/>
            <a:ext cx="4166100" cy="5898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zh-CN" sz="3000">
                <a:solidFill>
                  <a:schemeClr val="dk1"/>
                </a:solidFill>
                <a:latin typeface="Trebuchet MS"/>
                <a:ea typeface="Trebuchet MS"/>
                <a:cs typeface="Trebuchet MS"/>
                <a:sym typeface="Trebuchet MS"/>
              </a:rPr>
              <a:t>BO </a:t>
            </a:r>
            <a:r>
              <a:rPr b="1" lang="zh-CN" sz="3000">
                <a:solidFill>
                  <a:schemeClr val="dk1"/>
                </a:solidFill>
              </a:rPr>
              <a:t>Threshold</a:t>
            </a:r>
            <a:endParaRPr b="1" sz="3000">
              <a:solidFill>
                <a:schemeClr val="dk1"/>
              </a:solidFill>
              <a:latin typeface="Trebuchet MS"/>
              <a:ea typeface="Trebuchet MS"/>
              <a:cs typeface="Trebuchet MS"/>
              <a:sym typeface="Trebuchet MS"/>
            </a:endParaRPr>
          </a:p>
        </p:txBody>
      </p:sp>
      <p:grpSp>
        <p:nvGrpSpPr>
          <p:cNvPr id="152" name="Google Shape;152;p19"/>
          <p:cNvGrpSpPr/>
          <p:nvPr/>
        </p:nvGrpSpPr>
        <p:grpSpPr>
          <a:xfrm>
            <a:off x="490200" y="958865"/>
            <a:ext cx="8163600" cy="2184600"/>
            <a:chOff x="490200" y="1021667"/>
            <a:chExt cx="8163600" cy="2184600"/>
          </a:xfrm>
        </p:grpSpPr>
        <p:sp>
          <p:nvSpPr>
            <p:cNvPr id="153" name="Google Shape;153;p19"/>
            <p:cNvSpPr txBox="1"/>
            <p:nvPr/>
          </p:nvSpPr>
          <p:spPr>
            <a:xfrm>
              <a:off x="490200" y="1021667"/>
              <a:ext cx="8163600" cy="2184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zh-CN">
                  <a:solidFill>
                    <a:srgbClr val="333333"/>
                  </a:solidFill>
                  <a:latin typeface="Trebuchet MS"/>
                  <a:ea typeface="Trebuchet MS"/>
                  <a:cs typeface="Trebuchet MS"/>
                  <a:sym typeface="Trebuchet MS"/>
                </a:rPr>
                <a:t>For the (n)-th draft token:</a:t>
              </a:r>
              <a:endParaRPr>
                <a:solidFill>
                  <a:srgbClr val="333333"/>
                </a:solidFill>
                <a:latin typeface="Trebuchet MS"/>
                <a:ea typeface="Trebuchet MS"/>
                <a:cs typeface="Trebuchet MS"/>
                <a:sym typeface="Trebuchet MS"/>
              </a:endParaRPr>
            </a:p>
            <a:p>
              <a:pPr indent="-317500" lvl="0" marL="457200" rtl="0" algn="l">
                <a:lnSpc>
                  <a:spcPct val="100000"/>
                </a:lnSpc>
                <a:spcBef>
                  <a:spcPts val="1000"/>
                </a:spcBef>
                <a:spcAft>
                  <a:spcPts val="0"/>
                </a:spcAft>
                <a:buClr>
                  <a:srgbClr val="333333"/>
                </a:buClr>
                <a:buSzPts val="1400"/>
                <a:buFont typeface="Trebuchet MS"/>
                <a:buChar char="●"/>
              </a:pPr>
              <a:r>
                <a:rPr lang="zh-CN">
                  <a:solidFill>
                    <a:srgbClr val="333333"/>
                  </a:solidFill>
                  <a:latin typeface="Trebuchet MS"/>
                  <a:ea typeface="Trebuchet MS"/>
                  <a:cs typeface="Trebuchet MS"/>
                  <a:sym typeface="Trebuchet MS"/>
                </a:rPr>
                <a:t>Token-level confidence: </a:t>
              </a:r>
              <a:endParaRPr>
                <a:solidFill>
                  <a:srgbClr val="333333"/>
                </a:solidFill>
                <a:latin typeface="Trebuchet MS"/>
                <a:ea typeface="Trebuchet MS"/>
                <a:cs typeface="Trebuchet MS"/>
                <a:sym typeface="Trebuchet MS"/>
              </a:endParaRPr>
            </a:p>
            <a:p>
              <a:pPr indent="-317500" lvl="0" marL="457200" rtl="0" algn="l">
                <a:lnSpc>
                  <a:spcPct val="100000"/>
                </a:lnSpc>
                <a:spcBef>
                  <a:spcPts val="1000"/>
                </a:spcBef>
                <a:spcAft>
                  <a:spcPts val="0"/>
                </a:spcAft>
                <a:buClr>
                  <a:srgbClr val="333333"/>
                </a:buClr>
                <a:buSzPts val="1400"/>
                <a:buFont typeface="Trebuchet MS"/>
                <a:buChar char="●"/>
              </a:pPr>
              <a:r>
                <a:rPr lang="zh-CN">
                  <a:solidFill>
                    <a:srgbClr val="333333"/>
                  </a:solidFill>
                  <a:latin typeface="Trebuchet MS"/>
                  <a:ea typeface="Trebuchet MS"/>
                  <a:cs typeface="Trebuchet MS"/>
                  <a:sym typeface="Trebuchet MS"/>
                </a:rPr>
                <a:t>Cumulative sequence confidence: </a:t>
              </a:r>
              <a:endParaRPr>
                <a:solidFill>
                  <a:srgbClr val="333333"/>
                </a:solidFill>
                <a:latin typeface="Trebuchet MS"/>
                <a:ea typeface="Trebuchet MS"/>
                <a:cs typeface="Trebuchet MS"/>
                <a:sym typeface="Trebuchet MS"/>
              </a:endParaRPr>
            </a:p>
            <a:p>
              <a:pPr indent="0" lvl="0" marL="0" rtl="0" algn="l">
                <a:lnSpc>
                  <a:spcPct val="100000"/>
                </a:lnSpc>
                <a:spcBef>
                  <a:spcPts val="1000"/>
                </a:spcBef>
                <a:spcAft>
                  <a:spcPts val="0"/>
                </a:spcAft>
                <a:buNone/>
              </a:pPr>
              <a:r>
                <a:rPr lang="zh-CN">
                  <a:solidFill>
                    <a:srgbClr val="333333"/>
                  </a:solidFill>
                  <a:latin typeface="Trebuchet MS"/>
                  <a:ea typeface="Trebuchet MS"/>
                  <a:cs typeface="Trebuchet MS"/>
                  <a:sym typeface="Trebuchet MS"/>
                </a:rPr>
                <a:t>NAV is triggered when: </a:t>
              </a:r>
              <a:endParaRPr>
                <a:solidFill>
                  <a:srgbClr val="333333"/>
                </a:solidFill>
                <a:latin typeface="Trebuchet MS"/>
                <a:ea typeface="Trebuchet MS"/>
                <a:cs typeface="Trebuchet MS"/>
                <a:sym typeface="Trebuchet MS"/>
              </a:endParaRPr>
            </a:p>
            <a:p>
              <a:pPr indent="0" lvl="0" marL="0" rtl="0" algn="l">
                <a:lnSpc>
                  <a:spcPct val="100000"/>
                </a:lnSpc>
                <a:spcBef>
                  <a:spcPts val="1000"/>
                </a:spcBef>
                <a:spcAft>
                  <a:spcPts val="1000"/>
                </a:spcAft>
                <a:buNone/>
              </a:pPr>
              <a:r>
                <a:rPr lang="zh-CN">
                  <a:solidFill>
                    <a:srgbClr val="333333"/>
                  </a:solidFill>
                  <a:latin typeface="Trebuchet MS"/>
                  <a:ea typeface="Trebuchet MS"/>
                  <a:cs typeface="Trebuchet MS"/>
                  <a:sym typeface="Trebuchet MS"/>
                </a:rPr>
                <a:t>Bayesian optimization searches for thresholds that minimize average time per token (</a:t>
              </a:r>
              <a:r>
                <a:rPr lang="zh-CN">
                  <a:solidFill>
                    <a:srgbClr val="FF0000"/>
                  </a:solidFill>
                  <a:latin typeface="Trebuchet MS"/>
                  <a:ea typeface="Trebuchet MS"/>
                  <a:cs typeface="Trebuchet MS"/>
                  <a:sym typeface="Trebuchet MS"/>
                </a:rPr>
                <a:t>TPT</a:t>
              </a:r>
              <a:r>
                <a:rPr lang="zh-CN">
                  <a:solidFill>
                    <a:srgbClr val="333333"/>
                  </a:solidFill>
                  <a:latin typeface="Trebuchet MS"/>
                  <a:ea typeface="Trebuchet MS"/>
                  <a:cs typeface="Trebuchet MS"/>
                  <a:sym typeface="Trebuchet MS"/>
                </a:rPr>
                <a:t>). </a:t>
              </a:r>
              <a:endParaRPr sz="2000">
                <a:solidFill>
                  <a:schemeClr val="dk2"/>
                </a:solidFill>
                <a:latin typeface="Trebuchet MS"/>
                <a:ea typeface="Trebuchet MS"/>
                <a:cs typeface="Trebuchet MS"/>
                <a:sym typeface="Trebuchet MS"/>
              </a:endParaRPr>
            </a:p>
          </p:txBody>
        </p:sp>
        <p:pic>
          <p:nvPicPr>
            <p:cNvPr id="154" name="Google Shape;154;p19" title="{&quot;red&quot;:51,&quot;green&quot;:51,&quot;blue&quot;:51,&quot;origURL&quot;:&quot;http://www.texrendr.com/?eqn=P(d_n)#0&quot;,&quot;size&quot;:12,&quot;width&quot;:477.6377952755906,&quot;height&quot;:187.48818897637796}"/>
            <p:cNvPicPr preferRelativeResize="0"/>
            <p:nvPr/>
          </p:nvPicPr>
          <p:blipFill>
            <a:blip r:embed="rId4">
              <a:alphaModFix/>
            </a:blip>
            <a:stretch>
              <a:fillRect/>
            </a:stretch>
          </p:blipFill>
          <p:spPr>
            <a:xfrm>
              <a:off x="3036501" y="1460465"/>
              <a:ext cx="566737" cy="204900"/>
            </a:xfrm>
            <a:prstGeom prst="rect">
              <a:avLst/>
            </a:prstGeom>
            <a:noFill/>
            <a:ln>
              <a:noFill/>
            </a:ln>
          </p:spPr>
        </p:pic>
        <p:pic>
          <p:nvPicPr>
            <p:cNvPr id="155" name="Google Shape;155;p19" title="{&quot;red&quot;:51,&quot;green&quot;:51,&quot;blue&quot;:51,&quot;origURL&quot;:&quot;http://www.texrendr.com/?eqn=C_n%3D%5Cprod_%7Bi%3D1%7D%5E%7Bn%7DP(d_i)#0&quot;,&quot;size&quot;:12,&quot;width&quot;:477.6377952755906,&quot;height&quot;:187.48818897637796}"/>
            <p:cNvPicPr preferRelativeResize="0"/>
            <p:nvPr/>
          </p:nvPicPr>
          <p:blipFill>
            <a:blip r:embed="rId5">
              <a:alphaModFix/>
            </a:blip>
            <a:stretch>
              <a:fillRect/>
            </a:stretch>
          </p:blipFill>
          <p:spPr>
            <a:xfrm>
              <a:off x="3824575" y="1768934"/>
              <a:ext cx="1494850" cy="260525"/>
            </a:xfrm>
            <a:prstGeom prst="rect">
              <a:avLst/>
            </a:prstGeom>
            <a:noFill/>
            <a:ln>
              <a:noFill/>
            </a:ln>
          </p:spPr>
        </p:pic>
        <p:pic>
          <p:nvPicPr>
            <p:cNvPr id="156" name="Google Shape;156;p19" title="{&quot;red&quot;:51,&quot;green&quot;:51,&quot;blue&quot;:51,&quot;origURL&quot;:&quot;http://www.texrendr.com/?eqn=%0AC_n%5Cle%20R_1%20%5Cquad%20%5Ctext%7Bor%7D%5Cquad%20P(d_n)%5Cle%20R_2.%0A#0&quot;,&quot;size&quot;:12,&quot;width&quot;:477.6377952755906,&quot;height&quot;:187.48818897637796}"/>
            <p:cNvPicPr preferRelativeResize="0"/>
            <p:nvPr/>
          </p:nvPicPr>
          <p:blipFill>
            <a:blip r:embed="rId6">
              <a:alphaModFix/>
            </a:blip>
            <a:stretch>
              <a:fillRect/>
            </a:stretch>
          </p:blipFill>
          <p:spPr>
            <a:xfrm>
              <a:off x="2523558" y="2140250"/>
              <a:ext cx="2097108" cy="204900"/>
            </a:xfrm>
            <a:prstGeom prst="rect">
              <a:avLst/>
            </a:prstGeom>
            <a:noFill/>
            <a:ln>
              <a:noFill/>
            </a:ln>
          </p:spPr>
        </p:pic>
        <p:pic>
          <p:nvPicPr>
            <p:cNvPr id="157" name="Google Shape;157;p19" title="{&quot;red&quot;:51,&quot;green&quot;:51,&quot;blue&quot;:51,&quot;origURL&quot;:&quot;http://www.texrendr.com/?eqn=%0A(R_1%5E%7B*%7D%2C%20R_2%5E%7B*%7D)%3D%5Cunderset%7B(R_1%2CR_2)%5Cin(0%2C1)%5E2%7D%7B%5Carg%5Cmin%7D%5Coperatorname%7BTPT%7D(R_1%2CR_2)%0A#0&quot;,&quot;size&quot;:12,&quot;width&quot;:547.9370078740158,&quot;height&quot;:297.0472440944882}"/>
            <p:cNvPicPr preferRelativeResize="0"/>
            <p:nvPr/>
          </p:nvPicPr>
          <p:blipFill>
            <a:blip r:embed="rId7">
              <a:alphaModFix/>
            </a:blip>
            <a:stretch>
              <a:fillRect/>
            </a:stretch>
          </p:blipFill>
          <p:spPr>
            <a:xfrm>
              <a:off x="2747749" y="2715180"/>
              <a:ext cx="3271666" cy="449112"/>
            </a:xfrm>
            <a:prstGeom prst="rect">
              <a:avLst/>
            </a:prstGeom>
            <a:noFill/>
            <a:ln>
              <a:noFill/>
            </a:ln>
          </p:spPr>
        </p:pic>
      </p:grpSp>
      <p:sp>
        <p:nvSpPr>
          <p:cNvPr id="158" name="Google Shape;158;p19"/>
          <p:cNvSpPr/>
          <p:nvPr/>
        </p:nvSpPr>
        <p:spPr>
          <a:xfrm>
            <a:off x="664350" y="3206167"/>
            <a:ext cx="7815300" cy="1400700"/>
          </a:xfrm>
          <a:prstGeom prst="roundRect">
            <a:avLst>
              <a:gd fmla="val 16667" name="adj"/>
            </a:avLst>
          </a:prstGeom>
          <a:solidFill>
            <a:schemeClr val="lt2"/>
          </a:solidFill>
          <a:ln cap="flat" cmpd="sng" w="19050">
            <a:solidFill>
              <a:srgbClr val="1C4587"/>
            </a:solidFill>
            <a:prstDash val="dash"/>
            <a:round/>
            <a:headEnd len="sm" w="sm" type="none"/>
            <a:tailEnd len="sm" w="sm" type="none"/>
          </a:ln>
        </p:spPr>
        <p:txBody>
          <a:bodyPr anchorCtr="0" anchor="ctr" bIns="91425" lIns="91425" spcFirstLastPara="1" rIns="91425" wrap="square" tIns="91425">
            <a:noAutofit/>
          </a:bodyPr>
          <a:lstStyle/>
          <a:p>
            <a:pPr indent="-304800" lvl="0" marL="457200" rtl="0" algn="l">
              <a:lnSpc>
                <a:spcPct val="115000"/>
              </a:lnSpc>
              <a:spcBef>
                <a:spcPts val="1000"/>
              </a:spcBef>
              <a:spcAft>
                <a:spcPts val="0"/>
              </a:spcAft>
              <a:buClr>
                <a:srgbClr val="333333"/>
              </a:buClr>
              <a:buSzPts val="1200"/>
              <a:buFont typeface="Trebuchet MS"/>
              <a:buChar char="●"/>
            </a:pPr>
            <a:r>
              <a:rPr i="1" lang="zh-CN" sz="1200">
                <a:solidFill>
                  <a:srgbClr val="333333"/>
                </a:solidFill>
                <a:latin typeface="Trebuchet MS"/>
                <a:ea typeface="Trebuchet MS"/>
                <a:cs typeface="Trebuchet MS"/>
                <a:sym typeface="Trebuchet MS"/>
              </a:rPr>
              <a:t>The </a:t>
            </a:r>
            <a:r>
              <a:rPr i="1" lang="zh-CN" sz="1200">
                <a:solidFill>
                  <a:srgbClr val="FF0000"/>
                </a:solidFill>
                <a:latin typeface="Trebuchet MS"/>
                <a:ea typeface="Trebuchet MS"/>
                <a:cs typeface="Trebuchet MS"/>
                <a:sym typeface="Trebuchet MS"/>
              </a:rPr>
              <a:t>token threshold</a:t>
            </a:r>
            <a:r>
              <a:rPr i="1" lang="zh-CN" sz="1200">
                <a:solidFill>
                  <a:srgbClr val="333333"/>
                </a:solidFill>
                <a:latin typeface="Trebuchet MS"/>
                <a:ea typeface="Trebuchet MS"/>
                <a:cs typeface="Trebuchet MS"/>
                <a:sym typeface="Trebuchet MS"/>
              </a:rPr>
              <a:t> detects a sudden local confidence drop.</a:t>
            </a:r>
            <a:r>
              <a:rPr lang="zh-CN" sz="1100">
                <a:solidFill>
                  <a:schemeClr val="dk1"/>
                </a:solidFill>
              </a:rPr>
              <a:t> </a:t>
            </a:r>
            <a:endParaRPr i="1" sz="1200">
              <a:solidFill>
                <a:srgbClr val="333333"/>
              </a:solidFill>
              <a:latin typeface="Trebuchet MS"/>
              <a:ea typeface="Trebuchet MS"/>
              <a:cs typeface="Trebuchet MS"/>
              <a:sym typeface="Trebuchet MS"/>
            </a:endParaRPr>
          </a:p>
          <a:p>
            <a:pPr indent="-304800" lvl="0" marL="457200" rtl="0" algn="l">
              <a:lnSpc>
                <a:spcPct val="115000"/>
              </a:lnSpc>
              <a:spcBef>
                <a:spcPts val="0"/>
              </a:spcBef>
              <a:spcAft>
                <a:spcPts val="0"/>
              </a:spcAft>
              <a:buClr>
                <a:srgbClr val="333333"/>
              </a:buClr>
              <a:buSzPts val="1200"/>
              <a:buFont typeface="Trebuchet MS"/>
              <a:buChar char="●"/>
            </a:pPr>
            <a:r>
              <a:rPr i="1" lang="zh-CN" sz="1200">
                <a:solidFill>
                  <a:srgbClr val="333333"/>
                </a:solidFill>
                <a:latin typeface="Trebuchet MS"/>
                <a:ea typeface="Trebuchet MS"/>
                <a:cs typeface="Trebuchet MS"/>
                <a:sym typeface="Trebuchet MS"/>
              </a:rPr>
              <a:t>The </a:t>
            </a:r>
            <a:r>
              <a:rPr i="1" lang="zh-CN" sz="1200">
                <a:solidFill>
                  <a:srgbClr val="FF0000"/>
                </a:solidFill>
                <a:latin typeface="Trebuchet MS"/>
                <a:ea typeface="Trebuchet MS"/>
                <a:cs typeface="Trebuchet MS"/>
                <a:sym typeface="Trebuchet MS"/>
              </a:rPr>
              <a:t>cumulative threshold</a:t>
            </a:r>
            <a:r>
              <a:rPr i="1" lang="zh-CN" sz="1200">
                <a:solidFill>
                  <a:srgbClr val="333333"/>
                </a:solidFill>
                <a:latin typeface="Trebuchet MS"/>
                <a:ea typeface="Trebuchet MS"/>
                <a:cs typeface="Trebuchet MS"/>
                <a:sym typeface="Trebuchet MS"/>
              </a:rPr>
              <a:t> detects the growing risk created by several individually plausible tokens.</a:t>
            </a:r>
            <a:r>
              <a:rPr i="1" lang="zh-CN" sz="1200">
                <a:solidFill>
                  <a:schemeClr val="dk1"/>
                </a:solidFill>
                <a:latin typeface="Trebuchet MS"/>
                <a:ea typeface="Trebuchet MS"/>
                <a:cs typeface="Trebuchet MS"/>
                <a:sym typeface="Trebuchet MS"/>
              </a:rPr>
              <a:t> </a:t>
            </a:r>
            <a:endParaRPr i="1" sz="1200">
              <a:solidFill>
                <a:srgbClr val="333333"/>
              </a:solidFill>
              <a:latin typeface="Trebuchet MS"/>
              <a:ea typeface="Trebuchet MS"/>
              <a:cs typeface="Trebuchet MS"/>
              <a:sym typeface="Trebuchet MS"/>
            </a:endParaRPr>
          </a:p>
          <a:p>
            <a:pPr indent="-304800" lvl="0" marL="457200" rtl="0" algn="l">
              <a:lnSpc>
                <a:spcPct val="115000"/>
              </a:lnSpc>
              <a:spcBef>
                <a:spcPts val="0"/>
              </a:spcBef>
              <a:spcAft>
                <a:spcPts val="0"/>
              </a:spcAft>
              <a:buClr>
                <a:srgbClr val="333333"/>
              </a:buClr>
              <a:buSzPts val="1200"/>
              <a:buFont typeface="Trebuchet MS"/>
              <a:buChar char="●"/>
            </a:pPr>
            <a:r>
              <a:rPr i="1" lang="zh-CN" sz="1200">
                <a:solidFill>
                  <a:srgbClr val="333333"/>
                </a:solidFill>
                <a:latin typeface="Trebuchet MS"/>
                <a:ea typeface="Trebuchet MS"/>
                <a:cs typeface="Trebuchet MS"/>
                <a:sym typeface="Trebuchet MS"/>
              </a:rPr>
              <a:t>The current implementation follows 16 budget and uses Expected Improvement with </a:t>
            </a:r>
            <a:r>
              <a:rPr i="1" lang="zh-CN" sz="1200">
                <a:solidFill>
                  <a:srgbClr val="333333"/>
                </a:solidFill>
                <a:latin typeface="Roboto Mono"/>
                <a:ea typeface="Roboto Mono"/>
                <a:cs typeface="Roboto Mono"/>
                <a:sym typeface="Roboto Mono"/>
              </a:rPr>
              <a:t>xi=0.1</a:t>
            </a:r>
            <a:r>
              <a:rPr i="1" lang="zh-CN" sz="1200">
                <a:solidFill>
                  <a:srgbClr val="333333"/>
                </a:solidFill>
                <a:latin typeface="Trebuchet MS"/>
                <a:ea typeface="Trebuchet MS"/>
                <a:cs typeface="Trebuchet MS"/>
                <a:sym typeface="Trebuchet MS"/>
              </a:rPr>
              <a:t>.</a:t>
            </a:r>
            <a:r>
              <a:rPr i="1" lang="zh-CN" sz="1200">
                <a:solidFill>
                  <a:schemeClr val="dk1"/>
                </a:solidFill>
                <a:latin typeface="Trebuchet MS"/>
                <a:ea typeface="Trebuchet MS"/>
                <a:cs typeface="Trebuchet MS"/>
                <a:sym typeface="Trebuchet MS"/>
              </a:rPr>
              <a:t> </a:t>
            </a:r>
            <a:endParaRPr i="1" sz="1200">
              <a:solidFill>
                <a:srgbClr val="333333"/>
              </a:solidFill>
              <a:latin typeface="Trebuchet MS"/>
              <a:ea typeface="Trebuchet MS"/>
              <a:cs typeface="Trebuchet MS"/>
              <a:sym typeface="Trebuchet MS"/>
            </a:endParaRPr>
          </a:p>
          <a:p>
            <a:pPr indent="-304800" lvl="0" marL="457200" rtl="0" algn="l">
              <a:lnSpc>
                <a:spcPct val="115000"/>
              </a:lnSpc>
              <a:spcBef>
                <a:spcPts val="0"/>
              </a:spcBef>
              <a:spcAft>
                <a:spcPts val="0"/>
              </a:spcAft>
              <a:buClr>
                <a:srgbClr val="333333"/>
              </a:buClr>
              <a:buSzPts val="1200"/>
              <a:buFont typeface="Trebuchet MS"/>
              <a:buChar char="●"/>
            </a:pPr>
            <a:r>
              <a:rPr i="1" lang="zh-CN" sz="1200">
                <a:solidFill>
                  <a:srgbClr val="333333"/>
                </a:solidFill>
                <a:latin typeface="Trebuchet MS"/>
                <a:ea typeface="Trebuchet MS"/>
                <a:cs typeface="Trebuchet MS"/>
                <a:sym typeface="Trebuchet MS"/>
              </a:rPr>
              <a:t>PipeSD runs BO once at startup to initialize (R1,R2), then </a:t>
            </a:r>
            <a:r>
              <a:rPr i="1" lang="zh-CN" sz="1200">
                <a:solidFill>
                  <a:srgbClr val="FF0000"/>
                </a:solidFill>
                <a:latin typeface="Trebuchet MS"/>
                <a:ea typeface="Trebuchet MS"/>
                <a:cs typeface="Trebuchet MS"/>
                <a:sym typeface="Trebuchet MS"/>
              </a:rPr>
              <a:t>asynchronously</a:t>
            </a:r>
            <a:r>
              <a:rPr i="1" lang="zh-CN" sz="1200">
                <a:solidFill>
                  <a:srgbClr val="333333"/>
                </a:solidFill>
                <a:latin typeface="Trebuchet MS"/>
                <a:ea typeface="Trebuchet MS"/>
                <a:cs typeface="Trebuchet MS"/>
                <a:sym typeface="Trebuchet MS"/>
              </a:rPr>
              <a:t> re-optimizes the thresholds when performance changes significantly, enabling online adaptation. </a:t>
            </a:r>
            <a:endParaRPr i="1">
              <a:latin typeface="Trebuchet MS"/>
              <a:ea typeface="Trebuchet MS"/>
              <a:cs typeface="Trebuchet MS"/>
              <a:sym typeface="Trebuchet MS"/>
            </a:endParaRPr>
          </a:p>
        </p:txBody>
      </p:sp>
      <p:sp>
        <p:nvSpPr>
          <p:cNvPr id="159" name="Google Shape;159;p19"/>
          <p:cNvSpPr/>
          <p:nvPr/>
        </p:nvSpPr>
        <p:spPr>
          <a:xfrm>
            <a:off x="0" y="4807975"/>
            <a:ext cx="9144000" cy="335400"/>
          </a:xfrm>
          <a:prstGeom prst="rect">
            <a:avLst/>
          </a:prstGeom>
          <a:solidFill>
            <a:srgbClr val="1C4587"/>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zh-CN" sz="1500">
                <a:solidFill>
                  <a:schemeClr val="lt2"/>
                </a:solidFill>
                <a:latin typeface="Trebuchet MS"/>
                <a:ea typeface="Trebuchet MS"/>
                <a:cs typeface="Trebuchet MS"/>
                <a:sym typeface="Trebuchet MS"/>
              </a:rPr>
              <a:t>  2026-7 · Jiale Wang · HUST</a:t>
            </a:r>
            <a:endParaRPr sz="1500">
              <a:solidFill>
                <a:schemeClr val="lt2"/>
              </a:solidFill>
              <a:latin typeface="Trebuchet MS"/>
              <a:ea typeface="Trebuchet MS"/>
              <a:cs typeface="Trebuchet MS"/>
              <a:sym typeface="Trebuchet M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0"/>
          <p:cNvSpPr/>
          <p:nvPr/>
        </p:nvSpPr>
        <p:spPr>
          <a:xfrm>
            <a:off x="0" y="864105"/>
            <a:ext cx="4329000" cy="42600"/>
          </a:xfrm>
          <a:prstGeom prst="rect">
            <a:avLst/>
          </a:prstGeom>
          <a:solidFill>
            <a:srgbClr val="1C458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65" name="Google Shape;165;p20"/>
          <p:cNvPicPr preferRelativeResize="0"/>
          <p:nvPr/>
        </p:nvPicPr>
        <p:blipFill>
          <a:blip r:embed="rId3">
            <a:alphaModFix/>
          </a:blip>
          <a:stretch>
            <a:fillRect/>
          </a:stretch>
        </p:blipFill>
        <p:spPr>
          <a:xfrm>
            <a:off x="6382038" y="152353"/>
            <a:ext cx="2649075" cy="732650"/>
          </a:xfrm>
          <a:prstGeom prst="rect">
            <a:avLst/>
          </a:prstGeom>
          <a:noFill/>
          <a:ln>
            <a:noFill/>
          </a:ln>
        </p:spPr>
      </p:pic>
      <p:sp>
        <p:nvSpPr>
          <p:cNvPr id="166" name="Google Shape;166;p20"/>
          <p:cNvSpPr txBox="1"/>
          <p:nvPr/>
        </p:nvSpPr>
        <p:spPr>
          <a:xfrm>
            <a:off x="142947" y="269750"/>
            <a:ext cx="4166100" cy="5898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zh-CN" sz="3000">
                <a:solidFill>
                  <a:schemeClr val="dk1"/>
                </a:solidFill>
                <a:latin typeface="Trebuchet MS"/>
                <a:ea typeface="Trebuchet MS"/>
                <a:cs typeface="Trebuchet MS"/>
                <a:sym typeface="Trebuchet MS"/>
              </a:rPr>
              <a:t>Data Lifecycle</a:t>
            </a:r>
            <a:endParaRPr b="1" sz="3000">
              <a:solidFill>
                <a:schemeClr val="dk1"/>
              </a:solidFill>
              <a:latin typeface="Trebuchet MS"/>
              <a:ea typeface="Trebuchet MS"/>
              <a:cs typeface="Trebuchet MS"/>
              <a:sym typeface="Trebuchet MS"/>
            </a:endParaRPr>
          </a:p>
        </p:txBody>
      </p:sp>
      <p:graphicFrame>
        <p:nvGraphicFramePr>
          <p:cNvPr id="167" name="Google Shape;167;p20"/>
          <p:cNvGraphicFramePr/>
          <p:nvPr/>
        </p:nvGraphicFramePr>
        <p:xfrm>
          <a:off x="952490" y="1178729"/>
          <a:ext cx="3000000" cy="3000000"/>
        </p:xfrm>
        <a:graphic>
          <a:graphicData uri="http://schemas.openxmlformats.org/drawingml/2006/table">
            <a:tbl>
              <a:tblPr>
                <a:noFill/>
                <a:tableStyleId>{3F8CB172-22BE-437F-BA43-51FDB99822CB}</a:tableStyleId>
              </a:tblPr>
              <a:tblGrid>
                <a:gridCol w="3330575"/>
                <a:gridCol w="3908425"/>
              </a:tblGrid>
              <a:tr h="354550">
                <a:tc>
                  <a:txBody>
                    <a:bodyPr/>
                    <a:lstStyle/>
                    <a:p>
                      <a:pPr indent="0" lvl="0" marL="0" rtl="0" algn="l">
                        <a:spcBef>
                          <a:spcPts val="0"/>
                        </a:spcBef>
                        <a:spcAft>
                          <a:spcPts val="0"/>
                        </a:spcAft>
                        <a:buNone/>
                      </a:pPr>
                      <a:r>
                        <a:rPr b="1" lang="zh-CN">
                          <a:solidFill>
                            <a:srgbClr val="333333"/>
                          </a:solidFill>
                          <a:latin typeface="Trebuchet MS"/>
                          <a:ea typeface="Trebuchet MS"/>
                          <a:cs typeface="Trebuchet MS"/>
                          <a:sym typeface="Trebuchet MS"/>
                        </a:rPr>
                        <a:t>Cloud Verification Result</a:t>
                      </a:r>
                      <a:r>
                        <a:rPr b="1" lang="zh-CN">
                          <a:solidFill>
                            <a:schemeClr val="dk1"/>
                          </a:solidFill>
                          <a:latin typeface="Trebuchet MS"/>
                          <a:ea typeface="Trebuchet MS"/>
                          <a:cs typeface="Trebuchet MS"/>
                          <a:sym typeface="Trebuchet MS"/>
                        </a:rPr>
                        <a:t> </a:t>
                      </a:r>
                      <a:endParaRPr b="1">
                        <a:latin typeface="Trebuchet MS"/>
                        <a:ea typeface="Trebuchet MS"/>
                        <a:cs typeface="Trebuchet MS"/>
                        <a:sym typeface="Trebuchet MS"/>
                      </a:endParaRPr>
                    </a:p>
                  </a:txBody>
                  <a:tcPr marT="91425" marB="91425" marR="91425" marL="91425">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l">
                        <a:spcBef>
                          <a:spcPts val="0"/>
                        </a:spcBef>
                        <a:spcAft>
                          <a:spcPts val="0"/>
                        </a:spcAft>
                        <a:buNone/>
                      </a:pPr>
                      <a:r>
                        <a:rPr b="1" lang="zh-CN">
                          <a:solidFill>
                            <a:srgbClr val="333333"/>
                          </a:solidFill>
                          <a:latin typeface="Trebuchet MS"/>
                          <a:ea typeface="Trebuchet MS"/>
                          <a:cs typeface="Trebuchet MS"/>
                          <a:sym typeface="Trebuchet MS"/>
                        </a:rPr>
                        <a:t>Required Action</a:t>
                      </a:r>
                      <a:r>
                        <a:rPr b="1" lang="zh-CN">
                          <a:solidFill>
                            <a:schemeClr val="dk1"/>
                          </a:solidFill>
                          <a:latin typeface="Trebuchet MS"/>
                          <a:ea typeface="Trebuchet MS"/>
                          <a:cs typeface="Trebuchet MS"/>
                          <a:sym typeface="Trebuchet MS"/>
                        </a:rPr>
                        <a:t> </a:t>
                      </a:r>
                      <a:endParaRPr b="1">
                        <a:latin typeface="Trebuchet MS"/>
                        <a:ea typeface="Trebuchet MS"/>
                        <a:cs typeface="Trebuchet MS"/>
                        <a:sym typeface="Trebuchet MS"/>
                      </a:endParaRPr>
                    </a:p>
                  </a:txBody>
                  <a:tcPr marT="91425" marB="91425" marR="91425" marL="91425">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r>
              <a:tr h="490950">
                <a:tc>
                  <a:txBody>
                    <a:bodyPr/>
                    <a:lstStyle/>
                    <a:p>
                      <a:pPr indent="0" lvl="0" marL="0" rtl="0" algn="l">
                        <a:spcBef>
                          <a:spcPts val="0"/>
                        </a:spcBef>
                        <a:spcAft>
                          <a:spcPts val="0"/>
                        </a:spcAft>
                        <a:buNone/>
                      </a:pPr>
                      <a:r>
                        <a:rPr i="1" lang="zh-CN" sz="1200">
                          <a:solidFill>
                            <a:srgbClr val="333333"/>
                          </a:solidFill>
                          <a:latin typeface="Trebuchet MS"/>
                          <a:ea typeface="Trebuchet MS"/>
                          <a:cs typeface="Trebuchet MS"/>
                          <a:sym typeface="Trebuchet MS"/>
                        </a:rPr>
                        <a:t>Only </a:t>
                      </a:r>
                      <a:r>
                        <a:rPr i="1" lang="zh-CN" sz="1200">
                          <a:solidFill>
                            <a:srgbClr val="FF0000"/>
                          </a:solidFill>
                          <a:latin typeface="Trebuchet MS"/>
                          <a:ea typeface="Trebuchet MS"/>
                          <a:cs typeface="Trebuchet MS"/>
                          <a:sym typeface="Trebuchet MS"/>
                        </a:rPr>
                        <a:t>part</a:t>
                      </a:r>
                      <a:r>
                        <a:rPr i="1" lang="zh-CN" sz="1200">
                          <a:solidFill>
                            <a:srgbClr val="333333"/>
                          </a:solidFill>
                          <a:latin typeface="Trebuchet MS"/>
                          <a:ea typeface="Trebuchet MS"/>
                          <a:cs typeface="Trebuchet MS"/>
                          <a:sym typeface="Trebuchet MS"/>
                        </a:rPr>
                        <a:t> of the parent draft is accepted</a:t>
                      </a:r>
                      <a:r>
                        <a:rPr i="1" lang="zh-CN" sz="1200">
                          <a:solidFill>
                            <a:schemeClr val="dk1"/>
                          </a:solidFill>
                          <a:latin typeface="Trebuchet MS"/>
                          <a:ea typeface="Trebuchet MS"/>
                          <a:cs typeface="Trebuchet MS"/>
                          <a:sym typeface="Trebuchet MS"/>
                        </a:rPr>
                        <a:t> </a:t>
                      </a:r>
                      <a:endParaRPr i="1" sz="1200">
                        <a:latin typeface="Trebuchet MS"/>
                        <a:ea typeface="Trebuchet MS"/>
                        <a:cs typeface="Trebuchet MS"/>
                        <a:sym typeface="Trebuchet MS"/>
                      </a:endParaRPr>
                    </a:p>
                  </a:txBody>
                  <a:tcPr marT="91425" marB="91425" marR="91425" marL="91425">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l">
                        <a:spcBef>
                          <a:spcPts val="0"/>
                        </a:spcBef>
                        <a:spcAft>
                          <a:spcPts val="0"/>
                        </a:spcAft>
                        <a:buNone/>
                      </a:pPr>
                      <a:r>
                        <a:rPr i="1" lang="zh-CN" sz="1200">
                          <a:solidFill>
                            <a:srgbClr val="333333"/>
                          </a:solidFill>
                          <a:latin typeface="Trebuchet MS"/>
                          <a:ea typeface="Trebuchet MS"/>
                          <a:cs typeface="Trebuchet MS"/>
                          <a:sym typeface="Trebuchet MS"/>
                        </a:rPr>
                        <a:t>Roll back tokens after the rejection point and </a:t>
                      </a:r>
                      <a:r>
                        <a:rPr i="1" lang="zh-CN" sz="1200">
                          <a:solidFill>
                            <a:srgbClr val="FF0000"/>
                          </a:solidFill>
                          <a:latin typeface="Trebuchet MS"/>
                          <a:ea typeface="Trebuchet MS"/>
                          <a:cs typeface="Trebuchet MS"/>
                          <a:sym typeface="Trebuchet MS"/>
                        </a:rPr>
                        <a:t>cancel or discard</a:t>
                      </a:r>
                      <a:r>
                        <a:rPr i="1" lang="zh-CN" sz="1200">
                          <a:solidFill>
                            <a:srgbClr val="333333"/>
                          </a:solidFill>
                          <a:latin typeface="Trebuchet MS"/>
                          <a:ea typeface="Trebuchet MS"/>
                          <a:cs typeface="Trebuchet MS"/>
                          <a:sym typeface="Trebuchet MS"/>
                        </a:rPr>
                        <a:t> next-round proactive data</a:t>
                      </a:r>
                      <a:r>
                        <a:rPr i="1" lang="zh-CN" sz="1200">
                          <a:solidFill>
                            <a:schemeClr val="dk1"/>
                          </a:solidFill>
                          <a:latin typeface="Trebuchet MS"/>
                          <a:ea typeface="Trebuchet MS"/>
                          <a:cs typeface="Trebuchet MS"/>
                          <a:sym typeface="Trebuchet MS"/>
                        </a:rPr>
                        <a:t> </a:t>
                      </a:r>
                      <a:endParaRPr i="1" sz="1200">
                        <a:latin typeface="Trebuchet MS"/>
                        <a:ea typeface="Trebuchet MS"/>
                        <a:cs typeface="Trebuchet MS"/>
                        <a:sym typeface="Trebuchet MS"/>
                      </a:endParaRPr>
                    </a:p>
                  </a:txBody>
                  <a:tcPr marT="91425" marB="91425" marR="91425" marL="91425">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r>
              <a:tr h="490950">
                <a:tc>
                  <a:txBody>
                    <a:bodyPr/>
                    <a:lstStyle/>
                    <a:p>
                      <a:pPr indent="0" lvl="0" marL="0" rtl="0" algn="l">
                        <a:spcBef>
                          <a:spcPts val="0"/>
                        </a:spcBef>
                        <a:spcAft>
                          <a:spcPts val="0"/>
                        </a:spcAft>
                        <a:buNone/>
                      </a:pPr>
                      <a:r>
                        <a:rPr i="1" lang="zh-CN" sz="1200">
                          <a:solidFill>
                            <a:srgbClr val="333333"/>
                          </a:solidFill>
                          <a:latin typeface="Trebuchet MS"/>
                          <a:ea typeface="Trebuchet MS"/>
                          <a:cs typeface="Trebuchet MS"/>
                          <a:sym typeface="Trebuchet MS"/>
                        </a:rPr>
                        <a:t>The </a:t>
                      </a:r>
                      <a:r>
                        <a:rPr i="1" lang="zh-CN" sz="1200">
                          <a:solidFill>
                            <a:srgbClr val="FF0000"/>
                          </a:solidFill>
                          <a:latin typeface="Trebuchet MS"/>
                          <a:ea typeface="Trebuchet MS"/>
                          <a:cs typeface="Trebuchet MS"/>
                          <a:sym typeface="Trebuchet MS"/>
                        </a:rPr>
                        <a:t>full</a:t>
                      </a:r>
                      <a:r>
                        <a:rPr i="1" lang="zh-CN" sz="1200">
                          <a:solidFill>
                            <a:srgbClr val="333333"/>
                          </a:solidFill>
                          <a:latin typeface="Trebuchet MS"/>
                          <a:ea typeface="Trebuchet MS"/>
                          <a:cs typeface="Trebuchet MS"/>
                          <a:sym typeface="Trebuchet MS"/>
                        </a:rPr>
                        <a:t> draft is accepted, but the additional target token does </a:t>
                      </a:r>
                      <a:r>
                        <a:rPr i="1" lang="zh-CN" sz="1200">
                          <a:solidFill>
                            <a:srgbClr val="FF0000"/>
                          </a:solidFill>
                          <a:latin typeface="Trebuchet MS"/>
                          <a:ea typeface="Trebuchet MS"/>
                          <a:cs typeface="Trebuchet MS"/>
                          <a:sym typeface="Trebuchet MS"/>
                        </a:rPr>
                        <a:t>not match</a:t>
                      </a:r>
                      <a:r>
                        <a:rPr i="1" lang="zh-CN" sz="1200">
                          <a:solidFill>
                            <a:schemeClr val="dk1"/>
                          </a:solidFill>
                          <a:latin typeface="Trebuchet MS"/>
                          <a:ea typeface="Trebuchet MS"/>
                          <a:cs typeface="Trebuchet MS"/>
                          <a:sym typeface="Trebuchet MS"/>
                        </a:rPr>
                        <a:t> </a:t>
                      </a:r>
                      <a:endParaRPr i="1" sz="1200">
                        <a:latin typeface="Trebuchet MS"/>
                        <a:ea typeface="Trebuchet MS"/>
                        <a:cs typeface="Trebuchet MS"/>
                        <a:sym typeface="Trebuchet MS"/>
                      </a:endParaRPr>
                    </a:p>
                  </a:txBody>
                  <a:tcPr marT="91425" marB="91425" marR="91425" marL="91425">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l">
                        <a:spcBef>
                          <a:spcPts val="0"/>
                        </a:spcBef>
                        <a:spcAft>
                          <a:spcPts val="0"/>
                        </a:spcAft>
                        <a:buNone/>
                      </a:pPr>
                      <a:r>
                        <a:rPr i="1" lang="zh-CN" sz="1200">
                          <a:solidFill>
                            <a:srgbClr val="333333"/>
                          </a:solidFill>
                          <a:latin typeface="Trebuchet MS"/>
                          <a:ea typeface="Trebuchet MS"/>
                          <a:cs typeface="Trebuchet MS"/>
                          <a:sym typeface="Trebuchet MS"/>
                        </a:rPr>
                        <a:t>The proactive context is incorrect; discard it and </a:t>
                      </a:r>
                      <a:r>
                        <a:rPr i="1" lang="zh-CN" sz="1200">
                          <a:solidFill>
                            <a:srgbClr val="FF0000"/>
                          </a:solidFill>
                          <a:latin typeface="Trebuchet MS"/>
                          <a:ea typeface="Trebuchet MS"/>
                          <a:cs typeface="Trebuchet MS"/>
                          <a:sym typeface="Trebuchet MS"/>
                        </a:rPr>
                        <a:t>restart</a:t>
                      </a:r>
                      <a:r>
                        <a:rPr i="1" lang="zh-CN" sz="1200">
                          <a:solidFill>
                            <a:srgbClr val="333333"/>
                          </a:solidFill>
                          <a:latin typeface="Trebuchet MS"/>
                          <a:ea typeface="Trebuchet MS"/>
                          <a:cs typeface="Trebuchet MS"/>
                          <a:sym typeface="Trebuchet MS"/>
                        </a:rPr>
                        <a:t> from the target token</a:t>
                      </a:r>
                      <a:r>
                        <a:rPr i="1" lang="zh-CN" sz="1200">
                          <a:solidFill>
                            <a:schemeClr val="dk1"/>
                          </a:solidFill>
                          <a:latin typeface="Trebuchet MS"/>
                          <a:ea typeface="Trebuchet MS"/>
                          <a:cs typeface="Trebuchet MS"/>
                          <a:sym typeface="Trebuchet MS"/>
                        </a:rPr>
                        <a:t> </a:t>
                      </a:r>
                      <a:endParaRPr i="1" sz="1200">
                        <a:latin typeface="Trebuchet MS"/>
                        <a:ea typeface="Trebuchet MS"/>
                        <a:cs typeface="Trebuchet MS"/>
                        <a:sym typeface="Trebuchet MS"/>
                      </a:endParaRPr>
                    </a:p>
                  </a:txBody>
                  <a:tcPr marT="91425" marB="91425" marR="91425" marL="91425">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r>
              <a:tr h="490950">
                <a:tc>
                  <a:txBody>
                    <a:bodyPr/>
                    <a:lstStyle/>
                    <a:p>
                      <a:pPr indent="0" lvl="0" marL="0" rtl="0" algn="l">
                        <a:spcBef>
                          <a:spcPts val="0"/>
                        </a:spcBef>
                        <a:spcAft>
                          <a:spcPts val="0"/>
                        </a:spcAft>
                        <a:buNone/>
                      </a:pPr>
                      <a:r>
                        <a:rPr i="1" lang="zh-CN" sz="1200">
                          <a:solidFill>
                            <a:srgbClr val="333333"/>
                          </a:solidFill>
                          <a:latin typeface="Trebuchet MS"/>
                          <a:ea typeface="Trebuchet MS"/>
                          <a:cs typeface="Trebuchet MS"/>
                          <a:sym typeface="Trebuchet MS"/>
                        </a:rPr>
                        <a:t>The </a:t>
                      </a:r>
                      <a:r>
                        <a:rPr i="1" lang="zh-CN" sz="1200">
                          <a:solidFill>
                            <a:srgbClr val="FF0000"/>
                          </a:solidFill>
                          <a:latin typeface="Trebuchet MS"/>
                          <a:ea typeface="Trebuchet MS"/>
                          <a:cs typeface="Trebuchet MS"/>
                          <a:sym typeface="Trebuchet MS"/>
                        </a:rPr>
                        <a:t>full</a:t>
                      </a:r>
                      <a:r>
                        <a:rPr i="1" lang="zh-CN" sz="1200">
                          <a:solidFill>
                            <a:srgbClr val="333333"/>
                          </a:solidFill>
                          <a:latin typeface="Trebuchet MS"/>
                          <a:ea typeface="Trebuchet MS"/>
                          <a:cs typeface="Trebuchet MS"/>
                          <a:sym typeface="Trebuchet MS"/>
                        </a:rPr>
                        <a:t> draft is accepted and the additional token </a:t>
                      </a:r>
                      <a:r>
                        <a:rPr i="1" lang="zh-CN" sz="1200">
                          <a:solidFill>
                            <a:srgbClr val="FF0000"/>
                          </a:solidFill>
                          <a:latin typeface="Trebuchet MS"/>
                          <a:ea typeface="Trebuchet MS"/>
                          <a:cs typeface="Trebuchet MS"/>
                          <a:sym typeface="Trebuchet MS"/>
                        </a:rPr>
                        <a:t>matches</a:t>
                      </a:r>
                      <a:r>
                        <a:rPr i="1" lang="zh-CN" sz="1200">
                          <a:solidFill>
                            <a:schemeClr val="dk1"/>
                          </a:solidFill>
                          <a:latin typeface="Trebuchet MS"/>
                          <a:ea typeface="Trebuchet MS"/>
                          <a:cs typeface="Trebuchet MS"/>
                          <a:sym typeface="Trebuchet MS"/>
                        </a:rPr>
                        <a:t> </a:t>
                      </a:r>
                      <a:endParaRPr i="1" sz="1200">
                        <a:latin typeface="Trebuchet MS"/>
                        <a:ea typeface="Trebuchet MS"/>
                        <a:cs typeface="Trebuchet MS"/>
                        <a:sym typeface="Trebuchet MS"/>
                      </a:endParaRPr>
                    </a:p>
                  </a:txBody>
                  <a:tcPr marT="91425" marB="91425" marR="91425" marL="91425">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i="1" lang="zh-CN" sz="1200">
                          <a:solidFill>
                            <a:srgbClr val="333333"/>
                          </a:solidFill>
                          <a:latin typeface="Trebuchet MS"/>
                          <a:ea typeface="Trebuchet MS"/>
                          <a:cs typeface="Trebuchet MS"/>
                          <a:sym typeface="Trebuchet MS"/>
                        </a:rPr>
                        <a:t>Promote the isolated </a:t>
                      </a:r>
                      <a:r>
                        <a:rPr i="1" lang="zh-CN" sz="1200">
                          <a:solidFill>
                            <a:srgbClr val="FF0000"/>
                          </a:solidFill>
                          <a:latin typeface="Trebuchet MS"/>
                          <a:ea typeface="Trebuchet MS"/>
                          <a:cs typeface="Trebuchet MS"/>
                          <a:sym typeface="Trebuchet MS"/>
                        </a:rPr>
                        <a:t>proactive buffer</a:t>
                      </a:r>
                      <a:r>
                        <a:rPr i="1" lang="zh-CN" sz="1200">
                          <a:solidFill>
                            <a:srgbClr val="333333"/>
                          </a:solidFill>
                          <a:latin typeface="Trebuchet MS"/>
                          <a:ea typeface="Trebuchet MS"/>
                          <a:cs typeface="Trebuchet MS"/>
                          <a:sym typeface="Trebuchet MS"/>
                        </a:rPr>
                        <a:t> to the next formal round</a:t>
                      </a:r>
                      <a:endParaRPr i="1" sz="1200">
                        <a:solidFill>
                          <a:srgbClr val="333333"/>
                        </a:solidFill>
                        <a:latin typeface="Trebuchet MS"/>
                        <a:ea typeface="Trebuchet MS"/>
                        <a:cs typeface="Trebuchet MS"/>
                        <a:sym typeface="Trebuchet MS"/>
                      </a:endParaRPr>
                    </a:p>
                  </a:txBody>
                  <a:tcPr marT="57150" marB="57150" marR="123825" marL="123825">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r>
            </a:tbl>
          </a:graphicData>
        </a:graphic>
      </p:graphicFrame>
      <p:sp>
        <p:nvSpPr>
          <p:cNvPr id="168" name="Google Shape;168;p20"/>
          <p:cNvSpPr/>
          <p:nvPr/>
        </p:nvSpPr>
        <p:spPr>
          <a:xfrm>
            <a:off x="957825" y="3474607"/>
            <a:ext cx="7239000" cy="1140300"/>
          </a:xfrm>
          <a:prstGeom prst="rect">
            <a:avLst/>
          </a:prstGeom>
          <a:solidFill>
            <a:schemeClr val="lt2"/>
          </a:solidFill>
          <a:ln cap="flat" cmpd="sng" w="19050">
            <a:solidFill>
              <a:srgbClr val="1C4587"/>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i="1" lang="zh-CN">
                <a:latin typeface="Trebuchet MS"/>
                <a:ea typeface="Trebuchet MS"/>
                <a:cs typeface="Trebuchet MS"/>
                <a:sym typeface="Trebuchet MS"/>
              </a:rPr>
              <a:t>Once proactive data is deemed invalid, its cleanup depends on its transmission stage. Tokens still stored locally are </a:t>
            </a:r>
            <a:r>
              <a:rPr i="1" lang="zh-CN">
                <a:solidFill>
                  <a:srgbClr val="FF0000"/>
                </a:solidFill>
                <a:latin typeface="Trebuchet MS"/>
                <a:ea typeface="Trebuchet MS"/>
                <a:cs typeface="Trebuchet MS"/>
                <a:sym typeface="Trebuchet MS"/>
              </a:rPr>
              <a:t>discarded</a:t>
            </a:r>
            <a:r>
              <a:rPr i="1" lang="zh-CN">
                <a:latin typeface="Trebuchet MS"/>
                <a:ea typeface="Trebuchet MS"/>
                <a:cs typeface="Trebuchet MS"/>
                <a:sym typeface="Trebuchet MS"/>
              </a:rPr>
              <a:t> immediately, queued batches are </a:t>
            </a:r>
            <a:r>
              <a:rPr i="1" lang="zh-CN">
                <a:solidFill>
                  <a:srgbClr val="FF0000"/>
                </a:solidFill>
                <a:latin typeface="Trebuchet MS"/>
                <a:ea typeface="Trebuchet MS"/>
                <a:cs typeface="Trebuchet MS"/>
                <a:sym typeface="Trebuchet MS"/>
              </a:rPr>
              <a:t>cancelled</a:t>
            </a:r>
            <a:r>
              <a:rPr i="1" lang="zh-CN">
                <a:latin typeface="Trebuchet MS"/>
                <a:ea typeface="Trebuchet MS"/>
                <a:cs typeface="Trebuchet MS"/>
                <a:sym typeface="Trebuchet MS"/>
              </a:rPr>
              <a:t> on a best-effort basis, while in-flight or cloud-buffered batches can no longer be retracted and must be discarded through </a:t>
            </a:r>
            <a:r>
              <a:rPr i="1" lang="zh-CN">
                <a:solidFill>
                  <a:srgbClr val="FF0000"/>
                </a:solidFill>
                <a:latin typeface="Trebuchet MS"/>
                <a:ea typeface="Trebuchet MS"/>
                <a:cs typeface="Trebuchet MS"/>
                <a:sym typeface="Trebuchet MS"/>
              </a:rPr>
              <a:t>cloud-side</a:t>
            </a:r>
            <a:r>
              <a:rPr i="1" lang="zh-CN">
                <a:latin typeface="Trebuchet MS"/>
                <a:ea typeface="Trebuchet MS"/>
                <a:cs typeface="Trebuchet MS"/>
                <a:sym typeface="Trebuchet MS"/>
              </a:rPr>
              <a:t> parent-round </a:t>
            </a:r>
            <a:r>
              <a:rPr i="1" lang="zh-CN">
                <a:solidFill>
                  <a:srgbClr val="FF0000"/>
                </a:solidFill>
                <a:latin typeface="Trebuchet MS"/>
                <a:ea typeface="Trebuchet MS"/>
                <a:cs typeface="Trebuchet MS"/>
                <a:sym typeface="Trebuchet MS"/>
              </a:rPr>
              <a:t>validation</a:t>
            </a:r>
            <a:r>
              <a:rPr i="1" lang="zh-CN">
                <a:latin typeface="Trebuchet MS"/>
                <a:ea typeface="Trebuchet MS"/>
                <a:cs typeface="Trebuchet MS"/>
                <a:sym typeface="Trebuchet MS"/>
              </a:rPr>
              <a:t>.</a:t>
            </a:r>
            <a:r>
              <a:rPr lang="zh-CN">
                <a:latin typeface="Trebuchet MS"/>
                <a:ea typeface="Trebuchet MS"/>
                <a:cs typeface="Trebuchet MS"/>
                <a:sym typeface="Trebuchet MS"/>
              </a:rPr>
              <a:t> </a:t>
            </a:r>
            <a:endParaRPr>
              <a:latin typeface="Trebuchet MS"/>
              <a:ea typeface="Trebuchet MS"/>
              <a:cs typeface="Trebuchet MS"/>
              <a:sym typeface="Trebuchet MS"/>
            </a:endParaRPr>
          </a:p>
        </p:txBody>
      </p:sp>
      <p:sp>
        <p:nvSpPr>
          <p:cNvPr id="169" name="Google Shape;169;p20"/>
          <p:cNvSpPr/>
          <p:nvPr/>
        </p:nvSpPr>
        <p:spPr>
          <a:xfrm>
            <a:off x="0" y="4807975"/>
            <a:ext cx="9144000" cy="335400"/>
          </a:xfrm>
          <a:prstGeom prst="rect">
            <a:avLst/>
          </a:prstGeom>
          <a:solidFill>
            <a:srgbClr val="1C4587"/>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zh-CN" sz="1500">
                <a:solidFill>
                  <a:schemeClr val="lt2"/>
                </a:solidFill>
                <a:latin typeface="Trebuchet MS"/>
                <a:ea typeface="Trebuchet MS"/>
                <a:cs typeface="Trebuchet MS"/>
                <a:sym typeface="Trebuchet MS"/>
              </a:rPr>
              <a:t>  2026-7 · Jiale Wang · HUST</a:t>
            </a:r>
            <a:endParaRPr sz="1500">
              <a:solidFill>
                <a:schemeClr val="lt2"/>
              </a:solidFill>
              <a:latin typeface="Trebuchet MS"/>
              <a:ea typeface="Trebuchet MS"/>
              <a:cs typeface="Trebuchet MS"/>
              <a:sym typeface="Trebuchet M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1"/>
          <p:cNvSpPr/>
          <p:nvPr/>
        </p:nvSpPr>
        <p:spPr>
          <a:xfrm>
            <a:off x="0" y="864105"/>
            <a:ext cx="4329000" cy="42600"/>
          </a:xfrm>
          <a:prstGeom prst="rect">
            <a:avLst/>
          </a:prstGeom>
          <a:solidFill>
            <a:srgbClr val="1C458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75" name="Google Shape;175;p21"/>
          <p:cNvPicPr preferRelativeResize="0"/>
          <p:nvPr/>
        </p:nvPicPr>
        <p:blipFill>
          <a:blip r:embed="rId3">
            <a:alphaModFix/>
          </a:blip>
          <a:stretch>
            <a:fillRect/>
          </a:stretch>
        </p:blipFill>
        <p:spPr>
          <a:xfrm>
            <a:off x="6382038" y="152353"/>
            <a:ext cx="2649075" cy="732650"/>
          </a:xfrm>
          <a:prstGeom prst="rect">
            <a:avLst/>
          </a:prstGeom>
          <a:noFill/>
          <a:ln>
            <a:noFill/>
          </a:ln>
        </p:spPr>
      </p:pic>
      <p:sp>
        <p:nvSpPr>
          <p:cNvPr id="176" name="Google Shape;176;p21"/>
          <p:cNvSpPr txBox="1"/>
          <p:nvPr/>
        </p:nvSpPr>
        <p:spPr>
          <a:xfrm>
            <a:off x="142947" y="269750"/>
            <a:ext cx="4166100" cy="5898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zh-CN" sz="3000">
                <a:solidFill>
                  <a:schemeClr val="dk1"/>
                </a:solidFill>
                <a:latin typeface="Trebuchet MS"/>
                <a:ea typeface="Trebuchet MS"/>
                <a:cs typeface="Trebuchet MS"/>
                <a:sym typeface="Trebuchet MS"/>
              </a:rPr>
              <a:t>An Example</a:t>
            </a:r>
            <a:endParaRPr b="1" sz="3000">
              <a:solidFill>
                <a:schemeClr val="dk1"/>
              </a:solidFill>
              <a:latin typeface="Trebuchet MS"/>
              <a:ea typeface="Trebuchet MS"/>
              <a:cs typeface="Trebuchet MS"/>
              <a:sym typeface="Trebuchet MS"/>
            </a:endParaRPr>
          </a:p>
        </p:txBody>
      </p:sp>
      <p:pic>
        <p:nvPicPr>
          <p:cNvPr id="177" name="Google Shape;177;p21"/>
          <p:cNvPicPr preferRelativeResize="0"/>
          <p:nvPr/>
        </p:nvPicPr>
        <p:blipFill>
          <a:blip r:embed="rId4">
            <a:alphaModFix/>
          </a:blip>
          <a:stretch>
            <a:fillRect/>
          </a:stretch>
        </p:blipFill>
        <p:spPr>
          <a:xfrm>
            <a:off x="1265925" y="1276832"/>
            <a:ext cx="6612127" cy="3183400"/>
          </a:xfrm>
          <a:prstGeom prst="rect">
            <a:avLst/>
          </a:prstGeom>
          <a:noFill/>
          <a:ln cap="flat" cmpd="sng" w="19050">
            <a:solidFill>
              <a:srgbClr val="1C4587"/>
            </a:solidFill>
            <a:prstDash val="dash"/>
            <a:round/>
            <a:headEnd len="sm" w="sm" type="none"/>
            <a:tailEnd len="sm" w="sm" type="none"/>
          </a:ln>
        </p:spPr>
      </p:pic>
      <p:sp>
        <p:nvSpPr>
          <p:cNvPr id="178" name="Google Shape;178;p21"/>
          <p:cNvSpPr/>
          <p:nvPr/>
        </p:nvSpPr>
        <p:spPr>
          <a:xfrm>
            <a:off x="0" y="4807975"/>
            <a:ext cx="9144000" cy="335400"/>
          </a:xfrm>
          <a:prstGeom prst="rect">
            <a:avLst/>
          </a:prstGeom>
          <a:solidFill>
            <a:srgbClr val="1C4587"/>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zh-CN" sz="1500">
                <a:solidFill>
                  <a:schemeClr val="lt2"/>
                </a:solidFill>
                <a:latin typeface="Trebuchet MS"/>
                <a:ea typeface="Trebuchet MS"/>
                <a:cs typeface="Trebuchet MS"/>
                <a:sym typeface="Trebuchet MS"/>
              </a:rPr>
              <a:t>  2026-7 · Jiale Wang · HUST</a:t>
            </a:r>
            <a:endParaRPr sz="1500">
              <a:solidFill>
                <a:schemeClr val="lt2"/>
              </a:solidFill>
              <a:latin typeface="Trebuchet MS"/>
              <a:ea typeface="Trebuchet MS"/>
              <a:cs typeface="Trebuchet MS"/>
              <a:sym typeface="Trebuchet M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2"/>
          <p:cNvSpPr/>
          <p:nvPr/>
        </p:nvSpPr>
        <p:spPr>
          <a:xfrm>
            <a:off x="0" y="864105"/>
            <a:ext cx="4329000" cy="42600"/>
          </a:xfrm>
          <a:prstGeom prst="rect">
            <a:avLst/>
          </a:prstGeom>
          <a:solidFill>
            <a:srgbClr val="1C458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84" name="Google Shape;184;p22"/>
          <p:cNvPicPr preferRelativeResize="0"/>
          <p:nvPr/>
        </p:nvPicPr>
        <p:blipFill>
          <a:blip r:embed="rId3">
            <a:alphaModFix/>
          </a:blip>
          <a:stretch>
            <a:fillRect/>
          </a:stretch>
        </p:blipFill>
        <p:spPr>
          <a:xfrm>
            <a:off x="6382038" y="152353"/>
            <a:ext cx="2649075" cy="732650"/>
          </a:xfrm>
          <a:prstGeom prst="rect">
            <a:avLst/>
          </a:prstGeom>
          <a:noFill/>
          <a:ln>
            <a:noFill/>
          </a:ln>
        </p:spPr>
      </p:pic>
      <p:sp>
        <p:nvSpPr>
          <p:cNvPr id="185" name="Google Shape;185;p22"/>
          <p:cNvSpPr/>
          <p:nvPr/>
        </p:nvSpPr>
        <p:spPr>
          <a:xfrm>
            <a:off x="0" y="4807975"/>
            <a:ext cx="9144000" cy="335400"/>
          </a:xfrm>
          <a:prstGeom prst="rect">
            <a:avLst/>
          </a:prstGeom>
          <a:solidFill>
            <a:srgbClr val="1C4587"/>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zh-CN" sz="1500">
                <a:solidFill>
                  <a:schemeClr val="lt2"/>
                </a:solidFill>
                <a:latin typeface="Trebuchet MS"/>
                <a:ea typeface="Trebuchet MS"/>
                <a:cs typeface="Trebuchet MS"/>
                <a:sym typeface="Trebuchet MS"/>
              </a:rPr>
              <a:t>  2026-7 · Jiale Wang · HUST</a:t>
            </a:r>
            <a:endParaRPr sz="1500">
              <a:solidFill>
                <a:schemeClr val="lt2"/>
              </a:solidFill>
              <a:latin typeface="Trebuchet MS"/>
              <a:ea typeface="Trebuchet MS"/>
              <a:cs typeface="Trebuchet MS"/>
              <a:sym typeface="Trebuchet MS"/>
            </a:endParaRPr>
          </a:p>
        </p:txBody>
      </p:sp>
      <p:sp>
        <p:nvSpPr>
          <p:cNvPr id="186" name="Google Shape;186;p22"/>
          <p:cNvSpPr txBox="1"/>
          <p:nvPr/>
        </p:nvSpPr>
        <p:spPr>
          <a:xfrm>
            <a:off x="142947" y="269750"/>
            <a:ext cx="4166100" cy="589800"/>
          </a:xfrm>
          <a:prstGeom prst="rect">
            <a:avLst/>
          </a:prstGeom>
          <a:noFill/>
          <a:ln>
            <a:noFill/>
          </a:ln>
        </p:spPr>
        <p:txBody>
          <a:bodyPr anchorCtr="0" anchor="ctr" bIns="91425" lIns="91425" spcFirstLastPara="1" rIns="91425" wrap="square" tIns="91425">
            <a:noAutofit/>
          </a:bodyPr>
          <a:lstStyle/>
          <a:p>
            <a:pPr indent="0" lvl="0" marL="0" rtl="0" algn="l">
              <a:lnSpc>
                <a:spcPct val="122500"/>
              </a:lnSpc>
              <a:spcBef>
                <a:spcPts val="1800"/>
              </a:spcBef>
              <a:spcAft>
                <a:spcPts val="400"/>
              </a:spcAft>
              <a:buNone/>
            </a:pPr>
            <a:r>
              <a:rPr b="1" lang="zh-CN" sz="3000">
                <a:solidFill>
                  <a:schemeClr val="dk1"/>
                </a:solidFill>
                <a:latin typeface="Trebuchet MS"/>
                <a:ea typeface="Trebuchet MS"/>
                <a:cs typeface="Trebuchet MS"/>
                <a:sym typeface="Trebuchet MS"/>
              </a:rPr>
              <a:t>Reproduction Work</a:t>
            </a:r>
            <a:endParaRPr b="1" sz="3000">
              <a:solidFill>
                <a:schemeClr val="dk1"/>
              </a:solidFill>
              <a:latin typeface="Trebuchet MS"/>
              <a:ea typeface="Trebuchet MS"/>
              <a:cs typeface="Trebuchet MS"/>
              <a:sym typeface="Trebuchet MS"/>
            </a:endParaRPr>
          </a:p>
        </p:txBody>
      </p:sp>
      <p:graphicFrame>
        <p:nvGraphicFramePr>
          <p:cNvPr id="187" name="Google Shape;187;p22"/>
          <p:cNvGraphicFramePr/>
          <p:nvPr/>
        </p:nvGraphicFramePr>
        <p:xfrm>
          <a:off x="3835559" y="971930"/>
          <a:ext cx="3000000" cy="3000000"/>
        </p:xfrm>
        <a:graphic>
          <a:graphicData uri="http://schemas.openxmlformats.org/drawingml/2006/table">
            <a:tbl>
              <a:tblPr>
                <a:solidFill>
                  <a:srgbClr val="FFFFFF"/>
                </a:solidFill>
                <a:tableStyleId>{00EA39ED-CEC4-4C0F-A5C9-E7E0E0D63DE0}</a:tableStyleId>
              </a:tblPr>
              <a:tblGrid>
                <a:gridCol w="654400"/>
                <a:gridCol w="1958700"/>
                <a:gridCol w="2620425"/>
              </a:tblGrid>
              <a:tr h="238225">
                <a:tc>
                  <a:txBody>
                    <a:bodyPr/>
                    <a:lstStyle/>
                    <a:p>
                      <a:pPr indent="0" lvl="0" marL="0" rtl="0" algn="l">
                        <a:lnSpc>
                          <a:spcPct val="115000"/>
                        </a:lnSpc>
                        <a:spcBef>
                          <a:spcPts val="0"/>
                        </a:spcBef>
                        <a:spcAft>
                          <a:spcPts val="0"/>
                        </a:spcAft>
                        <a:buNone/>
                      </a:pPr>
                      <a:r>
                        <a:rPr b="1" lang="zh-CN" sz="1200">
                          <a:solidFill>
                            <a:srgbClr val="333333"/>
                          </a:solidFill>
                          <a:latin typeface="Trebuchet MS"/>
                          <a:ea typeface="Trebuchet MS"/>
                          <a:cs typeface="Trebuchet MS"/>
                          <a:sym typeface="Trebuchet MS"/>
                        </a:rPr>
                        <a:t>Role</a:t>
                      </a:r>
                      <a:endParaRPr b="1"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zh-CN" sz="1200">
                          <a:solidFill>
                            <a:srgbClr val="333333"/>
                          </a:solidFill>
                          <a:latin typeface="Trebuchet MS"/>
                          <a:ea typeface="Trebuchet MS"/>
                          <a:cs typeface="Trebuchet MS"/>
                          <a:sym typeface="Trebuchet MS"/>
                        </a:rPr>
                        <a:t>Reproduction Setup</a:t>
                      </a:r>
                      <a:endParaRPr b="1"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zh-CN" sz="1200">
                          <a:solidFill>
                            <a:srgbClr val="333333"/>
                          </a:solidFill>
                          <a:latin typeface="Trebuchet MS"/>
                          <a:ea typeface="Trebuchet MS"/>
                          <a:cs typeface="Trebuchet MS"/>
                          <a:sym typeface="Trebuchet MS"/>
                        </a:rPr>
                        <a:t>Model</a:t>
                      </a:r>
                      <a:endParaRPr b="1"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r>
              <a:tr h="453700">
                <a:tc>
                  <a:txBody>
                    <a:bodyPr/>
                    <a:lstStyle/>
                    <a:p>
                      <a:pPr indent="0" lvl="0" marL="0" rtl="0" algn="l">
                        <a:lnSpc>
                          <a:spcPct val="115000"/>
                        </a:lnSpc>
                        <a:spcBef>
                          <a:spcPts val="0"/>
                        </a:spcBef>
                        <a:spcAft>
                          <a:spcPts val="0"/>
                        </a:spcAft>
                        <a:buNone/>
                      </a:pPr>
                      <a:r>
                        <a:rPr lang="zh-CN" sz="1200">
                          <a:solidFill>
                            <a:srgbClr val="333333"/>
                          </a:solidFill>
                          <a:latin typeface="Trebuchet MS"/>
                          <a:ea typeface="Trebuchet MS"/>
                          <a:cs typeface="Trebuchet MS"/>
                          <a:sym typeface="Trebuchet MS"/>
                        </a:rPr>
                        <a:t>Cloud </a:t>
                      </a:r>
                      <a:endParaRPr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zh-CN" sz="1200">
                          <a:solidFill>
                            <a:srgbClr val="333333"/>
                          </a:solidFill>
                          <a:latin typeface="Trebuchet MS"/>
                          <a:ea typeface="Trebuchet MS"/>
                          <a:cs typeface="Trebuchet MS"/>
                          <a:sym typeface="Trebuchet MS"/>
                        </a:rPr>
                        <a:t>NVIDIA RTX PRO 6000</a:t>
                      </a:r>
                      <a:endParaRPr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zh-CN" sz="1200">
                          <a:solidFill>
                            <a:srgbClr val="333333"/>
                          </a:solidFill>
                          <a:latin typeface="Trebuchet MS"/>
                          <a:ea typeface="Trebuchet MS"/>
                          <a:cs typeface="Trebuchet MS"/>
                          <a:sym typeface="Trebuchet MS"/>
                        </a:rPr>
                        <a:t>HumanEval: DeepSeek-Coder-6.7B</a:t>
                      </a:r>
                      <a:endParaRPr sz="1200">
                        <a:solidFill>
                          <a:srgbClr val="333333"/>
                        </a:solidFill>
                        <a:latin typeface="Trebuchet MS"/>
                        <a:ea typeface="Trebuchet MS"/>
                        <a:cs typeface="Trebuchet MS"/>
                        <a:sym typeface="Trebuchet MS"/>
                      </a:endParaRPr>
                    </a:p>
                    <a:p>
                      <a:pPr indent="0" lvl="0" marL="0" rtl="0" algn="l">
                        <a:lnSpc>
                          <a:spcPct val="115000"/>
                        </a:lnSpc>
                        <a:spcBef>
                          <a:spcPts val="0"/>
                        </a:spcBef>
                        <a:spcAft>
                          <a:spcPts val="0"/>
                        </a:spcAft>
                        <a:buNone/>
                      </a:pPr>
                      <a:r>
                        <a:rPr lang="zh-CN" sz="1200">
                          <a:solidFill>
                            <a:srgbClr val="333333"/>
                          </a:solidFill>
                          <a:latin typeface="Trebuchet MS"/>
                          <a:ea typeface="Trebuchet MS"/>
                          <a:cs typeface="Trebuchet MS"/>
                          <a:sym typeface="Trebuchet MS"/>
                        </a:rPr>
                        <a:t>GSM8K: Llama-2-7B-Chat</a:t>
                      </a:r>
                      <a:endParaRPr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r>
              <a:tr h="409775">
                <a:tc>
                  <a:txBody>
                    <a:bodyPr/>
                    <a:lstStyle/>
                    <a:p>
                      <a:pPr indent="0" lvl="0" marL="0" rtl="0" algn="l">
                        <a:lnSpc>
                          <a:spcPct val="115000"/>
                        </a:lnSpc>
                        <a:spcBef>
                          <a:spcPts val="0"/>
                        </a:spcBef>
                        <a:spcAft>
                          <a:spcPts val="0"/>
                        </a:spcAft>
                        <a:buNone/>
                      </a:pPr>
                      <a:r>
                        <a:rPr lang="zh-CN" sz="1200">
                          <a:solidFill>
                            <a:srgbClr val="333333"/>
                          </a:solidFill>
                          <a:latin typeface="Trebuchet MS"/>
                          <a:ea typeface="Trebuchet MS"/>
                          <a:cs typeface="Trebuchet MS"/>
                          <a:sym typeface="Trebuchet MS"/>
                        </a:rPr>
                        <a:t>Edge </a:t>
                      </a:r>
                      <a:endParaRPr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zh-CN" sz="1200">
                          <a:solidFill>
                            <a:srgbClr val="333333"/>
                          </a:solidFill>
                          <a:latin typeface="Trebuchet MS"/>
                          <a:ea typeface="Trebuchet MS"/>
                          <a:cs typeface="Trebuchet MS"/>
                          <a:sym typeface="Trebuchet MS"/>
                        </a:rPr>
                        <a:t>CPU (</a:t>
                      </a:r>
                      <a:r>
                        <a:rPr lang="zh-CN" sz="1200">
                          <a:solidFill>
                            <a:srgbClr val="333333"/>
                          </a:solidFill>
                          <a:latin typeface="Roboto Mono"/>
                          <a:ea typeface="Roboto Mono"/>
                          <a:cs typeface="Roboto Mono"/>
                          <a:sym typeface="Roboto Mono"/>
                        </a:rPr>
                        <a:t>n_gpu_layers=0</a:t>
                      </a:r>
                      <a:r>
                        <a:rPr lang="zh-CN" sz="1200">
                          <a:solidFill>
                            <a:schemeClr val="dk1"/>
                          </a:solidFill>
                        </a:rPr>
                        <a:t>)</a:t>
                      </a:r>
                      <a:endParaRPr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zh-CN" sz="1200">
                          <a:solidFill>
                            <a:srgbClr val="333333"/>
                          </a:solidFill>
                          <a:latin typeface="Trebuchet MS"/>
                          <a:ea typeface="Trebuchet MS"/>
                          <a:cs typeface="Trebuchet MS"/>
                          <a:sym typeface="Trebuchet MS"/>
                        </a:rPr>
                        <a:t>HumanEval: DeepSeek-Coder-1.3B</a:t>
                      </a:r>
                      <a:endParaRPr sz="1200">
                        <a:solidFill>
                          <a:srgbClr val="333333"/>
                        </a:solidFill>
                        <a:latin typeface="Trebuchet MS"/>
                        <a:ea typeface="Trebuchet MS"/>
                        <a:cs typeface="Trebuchet MS"/>
                        <a:sym typeface="Trebuchet MS"/>
                      </a:endParaRPr>
                    </a:p>
                    <a:p>
                      <a:pPr indent="0" lvl="0" marL="0" rtl="0" algn="l">
                        <a:lnSpc>
                          <a:spcPct val="115000"/>
                        </a:lnSpc>
                        <a:spcBef>
                          <a:spcPts val="0"/>
                        </a:spcBef>
                        <a:spcAft>
                          <a:spcPts val="0"/>
                        </a:spcAft>
                        <a:buNone/>
                      </a:pPr>
                      <a:r>
                        <a:rPr lang="zh-CN" sz="1200">
                          <a:solidFill>
                            <a:srgbClr val="333333"/>
                          </a:solidFill>
                          <a:latin typeface="Trebuchet MS"/>
                          <a:ea typeface="Trebuchet MS"/>
                          <a:cs typeface="Trebuchet MS"/>
                          <a:sym typeface="Trebuchet MS"/>
                        </a:rPr>
                        <a:t>GSM8K: TinyLlama-1.1B-Chat-v1.0 </a:t>
                      </a:r>
                      <a:endParaRPr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r>
            </a:tbl>
          </a:graphicData>
        </a:graphic>
      </p:graphicFrame>
      <p:sp>
        <p:nvSpPr>
          <p:cNvPr id="188" name="Google Shape;188;p22"/>
          <p:cNvSpPr txBox="1"/>
          <p:nvPr/>
        </p:nvSpPr>
        <p:spPr>
          <a:xfrm>
            <a:off x="142950" y="2109175"/>
            <a:ext cx="7211100" cy="2641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1800"/>
              </a:spcBef>
              <a:spcAft>
                <a:spcPts val="0"/>
              </a:spcAft>
              <a:buNone/>
            </a:pPr>
            <a:r>
              <a:rPr b="1" lang="zh-CN" sz="1700">
                <a:solidFill>
                  <a:srgbClr val="333333"/>
                </a:solidFill>
                <a:latin typeface="Trebuchet MS"/>
                <a:ea typeface="Trebuchet MS"/>
                <a:cs typeface="Trebuchet MS"/>
                <a:sym typeface="Trebuchet MS"/>
              </a:rPr>
              <a:t>Table 1 Scenario 1</a:t>
            </a:r>
            <a:endParaRPr sz="1100">
              <a:solidFill>
                <a:srgbClr val="333333"/>
              </a:solidFill>
              <a:latin typeface="Trebuchet MS"/>
              <a:ea typeface="Trebuchet MS"/>
              <a:cs typeface="Trebuchet MS"/>
              <a:sym typeface="Trebuchet MS"/>
            </a:endParaRPr>
          </a:p>
          <a:p>
            <a:pPr indent="-304800" lvl="0" marL="457200" rtl="0" algn="l">
              <a:lnSpc>
                <a:spcPct val="115000"/>
              </a:lnSpc>
              <a:spcBef>
                <a:spcPts val="400"/>
              </a:spcBef>
              <a:spcAft>
                <a:spcPts val="0"/>
              </a:spcAft>
              <a:buClr>
                <a:schemeClr val="dk1"/>
              </a:buClr>
              <a:buSzPts val="1200"/>
              <a:buChar char="●"/>
            </a:pPr>
            <a:r>
              <a:rPr b="1" lang="zh-CN" sz="1200">
                <a:solidFill>
                  <a:srgbClr val="333333"/>
                </a:solidFill>
                <a:latin typeface="Trebuchet MS"/>
                <a:ea typeface="Trebuchet MS"/>
                <a:cs typeface="Trebuchet MS"/>
                <a:sym typeface="Trebuchet MS"/>
              </a:rPr>
              <a:t>Network:</a:t>
            </a:r>
            <a:r>
              <a:rPr lang="zh-CN" sz="1200">
                <a:solidFill>
                  <a:schemeClr val="dk1"/>
                </a:solidFill>
                <a:latin typeface="Trebuchet MS"/>
                <a:ea typeface="Trebuchet MS"/>
                <a:cs typeface="Trebuchet MS"/>
                <a:sym typeface="Trebuchet MS"/>
              </a:rPr>
              <a:t> </a:t>
            </a:r>
            <a:r>
              <a:rPr i="1" lang="zh-CN" sz="1200">
                <a:solidFill>
                  <a:srgbClr val="1C4587"/>
                </a:solidFill>
                <a:latin typeface="Trebuchet MS"/>
                <a:ea typeface="Trebuchet MS"/>
                <a:cs typeface="Trebuchet MS"/>
                <a:sym typeface="Trebuchet MS"/>
              </a:rPr>
              <a:t>SoftwareLink</a:t>
            </a:r>
            <a:r>
              <a:rPr i="1" lang="zh-CN" sz="1200">
                <a:solidFill>
                  <a:schemeClr val="dk1"/>
                </a:solidFill>
                <a:latin typeface="Trebuchet MS"/>
                <a:ea typeface="Trebuchet MS"/>
                <a:cs typeface="Trebuchet MS"/>
                <a:sym typeface="Trebuchet MS"/>
              </a:rPr>
              <a:t> </a:t>
            </a:r>
            <a:r>
              <a:rPr i="1" lang="zh-CN" sz="1200">
                <a:solidFill>
                  <a:srgbClr val="333333"/>
                </a:solidFill>
                <a:latin typeface="Trebuchet MS"/>
                <a:ea typeface="Trebuchet MS"/>
                <a:cs typeface="Trebuchet MS"/>
                <a:sym typeface="Trebuchet MS"/>
              </a:rPr>
              <a:t>emulates the paper’s 20/200 Mbps link as </a:t>
            </a:r>
            <a:r>
              <a:rPr i="1" lang="zh-CN" sz="1200">
                <a:solidFill>
                  <a:srgbClr val="FF0000"/>
                </a:solidFill>
                <a:latin typeface="Trebuchet MS"/>
                <a:ea typeface="Trebuchet MS"/>
                <a:cs typeface="Trebuchet MS"/>
                <a:sym typeface="Trebuchet MS"/>
              </a:rPr>
              <a:t>2.5 MB/s</a:t>
            </a:r>
            <a:r>
              <a:rPr i="1" lang="zh-CN" sz="1200">
                <a:solidFill>
                  <a:srgbClr val="333333"/>
                </a:solidFill>
                <a:latin typeface="Trebuchet MS"/>
                <a:ea typeface="Trebuchet MS"/>
                <a:cs typeface="Trebuchet MS"/>
                <a:sym typeface="Trebuchet MS"/>
              </a:rPr>
              <a:t> uplink and </a:t>
            </a:r>
            <a:r>
              <a:rPr i="1" lang="zh-CN" sz="1200">
                <a:solidFill>
                  <a:srgbClr val="FF0000"/>
                </a:solidFill>
                <a:latin typeface="Trebuchet MS"/>
                <a:ea typeface="Trebuchet MS"/>
                <a:cs typeface="Trebuchet MS"/>
                <a:sym typeface="Trebuchet MS"/>
              </a:rPr>
              <a:t>25 MB/s</a:t>
            </a:r>
            <a:r>
              <a:rPr i="1" lang="zh-CN" sz="1200">
                <a:solidFill>
                  <a:srgbClr val="333333"/>
                </a:solidFill>
                <a:latin typeface="Trebuchet MS"/>
                <a:ea typeface="Trebuchet MS"/>
                <a:cs typeface="Trebuchet MS"/>
                <a:sym typeface="Trebuchet MS"/>
              </a:rPr>
              <a:t> downlink, while retaining real loopback HTTP and target-compute latency.</a:t>
            </a:r>
            <a:endParaRPr i="1" sz="1200">
              <a:solidFill>
                <a:srgbClr val="333333"/>
              </a:solidFill>
              <a:latin typeface="Trebuchet MS"/>
              <a:ea typeface="Trebuchet MS"/>
              <a:cs typeface="Trebuchet MS"/>
              <a:sym typeface="Trebuchet MS"/>
            </a:endParaRPr>
          </a:p>
          <a:p>
            <a:pPr indent="-304800" lvl="0" marL="457200" rtl="0" algn="l">
              <a:lnSpc>
                <a:spcPct val="115000"/>
              </a:lnSpc>
              <a:spcBef>
                <a:spcPts val="0"/>
              </a:spcBef>
              <a:spcAft>
                <a:spcPts val="0"/>
              </a:spcAft>
              <a:buClr>
                <a:srgbClr val="333333"/>
              </a:buClr>
              <a:buSzPts val="1200"/>
              <a:buChar char="●"/>
            </a:pPr>
            <a:r>
              <a:rPr b="1" lang="zh-CN" sz="1200">
                <a:solidFill>
                  <a:srgbClr val="333333"/>
                </a:solidFill>
                <a:latin typeface="Trebuchet MS"/>
                <a:ea typeface="Trebuchet MS"/>
                <a:cs typeface="Trebuchet MS"/>
                <a:sym typeface="Trebuchet MS"/>
              </a:rPr>
              <a:t>Link Contention:</a:t>
            </a:r>
            <a:r>
              <a:rPr i="1" lang="zh-CN" sz="1200">
                <a:solidFill>
                  <a:srgbClr val="333333"/>
                </a:solidFill>
                <a:latin typeface="Trebuchet MS"/>
                <a:ea typeface="Trebuchet MS"/>
                <a:cs typeface="Trebuchet MS"/>
                <a:sym typeface="Trebuchet MS"/>
              </a:rPr>
              <a:t> Uplink and downlink use </a:t>
            </a:r>
            <a:r>
              <a:rPr i="1" lang="zh-CN" sz="1200">
                <a:solidFill>
                  <a:srgbClr val="FF0000"/>
                </a:solidFill>
                <a:latin typeface="Trebuchet MS"/>
                <a:ea typeface="Trebuchet MS"/>
                <a:cs typeface="Trebuchet MS"/>
                <a:sym typeface="Trebuchet MS"/>
              </a:rPr>
              <a:t>independent FIFOs</a:t>
            </a:r>
            <a:r>
              <a:rPr i="1" lang="zh-CN" sz="1200">
                <a:solidFill>
                  <a:srgbClr val="333333"/>
                </a:solidFill>
                <a:latin typeface="Trebuchet MS"/>
                <a:ea typeface="Trebuchet MS"/>
                <a:cs typeface="Trebuchet MS"/>
                <a:sym typeface="Trebuchet MS"/>
              </a:rPr>
              <a:t>; primary and proactive uploads share one uplink queue and therefore compete for the same 20 Mbps resource.</a:t>
            </a:r>
            <a:endParaRPr i="1" sz="1200">
              <a:solidFill>
                <a:srgbClr val="333333"/>
              </a:solidFill>
              <a:latin typeface="Trebuchet MS"/>
              <a:ea typeface="Trebuchet MS"/>
              <a:cs typeface="Trebuchet MS"/>
              <a:sym typeface="Trebuchet MS"/>
            </a:endParaRPr>
          </a:p>
          <a:p>
            <a:pPr indent="-304800" lvl="0" marL="457200" rtl="0" algn="l">
              <a:lnSpc>
                <a:spcPct val="115000"/>
              </a:lnSpc>
              <a:spcBef>
                <a:spcPts val="0"/>
              </a:spcBef>
              <a:spcAft>
                <a:spcPts val="0"/>
              </a:spcAft>
              <a:buClr>
                <a:schemeClr val="dk1"/>
              </a:buClr>
              <a:buSzPts val="1200"/>
              <a:buChar char="●"/>
            </a:pPr>
            <a:r>
              <a:rPr b="1" lang="zh-CN" sz="1200">
                <a:solidFill>
                  <a:srgbClr val="333333"/>
                </a:solidFill>
                <a:latin typeface="Trebuchet MS"/>
                <a:ea typeface="Trebuchet MS"/>
                <a:cs typeface="Trebuchet MS"/>
                <a:sym typeface="Trebuchet MS"/>
              </a:rPr>
              <a:t>DP Scheduling:</a:t>
            </a:r>
            <a:r>
              <a:rPr i="1" lang="zh-CN" sz="1200">
                <a:solidFill>
                  <a:srgbClr val="333333"/>
                </a:solidFill>
                <a:latin typeface="Trebuchet MS"/>
                <a:ea typeface="Trebuchet MS"/>
                <a:cs typeface="Trebuchet MS"/>
                <a:sym typeface="Trebuchet MS"/>
              </a:rPr>
              <a:t> Initial values are</a:t>
            </a:r>
            <a:r>
              <a:rPr i="1" lang="zh-CN" sz="1200">
                <a:solidFill>
                  <a:schemeClr val="dk1"/>
                </a:solidFill>
                <a:latin typeface="Trebuchet MS"/>
                <a:ea typeface="Trebuchet MS"/>
                <a:cs typeface="Trebuchet MS"/>
                <a:sym typeface="Trebuchet MS"/>
              </a:rPr>
              <a:t> </a:t>
            </a:r>
            <a:r>
              <a:rPr i="1" lang="zh-CN" sz="1200">
                <a:solidFill>
                  <a:srgbClr val="1C4587"/>
                </a:solidFill>
                <a:latin typeface="Trebuchet MS"/>
                <a:ea typeface="Trebuchet MS"/>
                <a:cs typeface="Trebuchet MS"/>
                <a:sym typeface="Trebuchet MS"/>
              </a:rPr>
              <a:t>α=25 ms</a:t>
            </a:r>
            <a:r>
              <a:rPr i="1" lang="zh-CN" sz="1200">
                <a:solidFill>
                  <a:schemeClr val="dk1"/>
                </a:solidFill>
                <a:latin typeface="Trebuchet MS"/>
                <a:ea typeface="Trebuchet MS"/>
                <a:cs typeface="Trebuchet MS"/>
                <a:sym typeface="Trebuchet MS"/>
              </a:rPr>
              <a:t>, </a:t>
            </a:r>
            <a:r>
              <a:rPr i="1" lang="zh-CN" sz="1200">
                <a:solidFill>
                  <a:srgbClr val="1C4587"/>
                </a:solidFill>
                <a:latin typeface="Trebuchet MS"/>
                <a:ea typeface="Trebuchet MS"/>
                <a:cs typeface="Trebuchet MS"/>
                <a:sym typeface="Trebuchet MS"/>
              </a:rPr>
              <a:t>β=0.29/2.5=0.116 s/token</a:t>
            </a:r>
            <a:r>
              <a:rPr i="1" lang="zh-CN" sz="1200">
                <a:solidFill>
                  <a:schemeClr val="dk1"/>
                </a:solidFill>
                <a:latin typeface="Trebuchet MS"/>
                <a:ea typeface="Trebuchet MS"/>
                <a:cs typeface="Trebuchet MS"/>
                <a:sym typeface="Trebuchet MS"/>
              </a:rPr>
              <a:t>, </a:t>
            </a:r>
            <a:r>
              <a:rPr i="1" lang="zh-CN" sz="1200">
                <a:solidFill>
                  <a:srgbClr val="1C4587"/>
                </a:solidFill>
                <a:latin typeface="Trebuchet MS"/>
                <a:ea typeface="Trebuchet MS"/>
                <a:cs typeface="Trebuchet MS"/>
                <a:sym typeface="Trebuchet MS"/>
              </a:rPr>
              <a:t>γ=0.036 s/token</a:t>
            </a:r>
            <a:r>
              <a:rPr i="1" lang="zh-CN" sz="1200">
                <a:solidFill>
                  <a:srgbClr val="333333"/>
                </a:solidFill>
                <a:latin typeface="Trebuchet MS"/>
                <a:ea typeface="Trebuchet MS"/>
                <a:cs typeface="Trebuchet MS"/>
                <a:sym typeface="Trebuchet MS"/>
              </a:rPr>
              <a:t>, and</a:t>
            </a:r>
            <a:r>
              <a:rPr i="1" lang="zh-CN" sz="1200">
                <a:solidFill>
                  <a:schemeClr val="dk1"/>
                </a:solidFill>
                <a:latin typeface="Trebuchet MS"/>
                <a:ea typeface="Trebuchet MS"/>
                <a:cs typeface="Trebuchet MS"/>
                <a:sym typeface="Trebuchet MS"/>
              </a:rPr>
              <a:t> </a:t>
            </a:r>
            <a:r>
              <a:rPr i="1" lang="zh-CN" sz="1200">
                <a:solidFill>
                  <a:srgbClr val="1C4587"/>
                </a:solidFill>
                <a:latin typeface="Trebuchet MS"/>
                <a:ea typeface="Trebuchet MS"/>
                <a:cs typeface="Trebuchet MS"/>
                <a:sym typeface="Trebuchet MS"/>
              </a:rPr>
              <a:t>N̂=20</a:t>
            </a:r>
            <a:r>
              <a:rPr i="1" lang="zh-CN" sz="1200">
                <a:solidFill>
                  <a:srgbClr val="333333"/>
                </a:solidFill>
                <a:latin typeface="Trebuchet MS"/>
                <a:ea typeface="Trebuchet MS"/>
                <a:cs typeface="Trebuchet MS"/>
                <a:sym typeface="Trebuchet MS"/>
              </a:rPr>
              <a:t>. Runtime estimates trigger batch replanning when they </a:t>
            </a:r>
            <a:r>
              <a:rPr i="1" lang="zh-CN" sz="1200">
                <a:solidFill>
                  <a:srgbClr val="FF0000"/>
                </a:solidFill>
                <a:latin typeface="Trebuchet MS"/>
                <a:ea typeface="Trebuchet MS"/>
                <a:cs typeface="Trebuchet MS"/>
                <a:sym typeface="Trebuchet MS"/>
              </a:rPr>
              <a:t>change</a:t>
            </a:r>
            <a:r>
              <a:rPr i="1" lang="zh-CN" sz="1200">
                <a:solidFill>
                  <a:srgbClr val="333333"/>
                </a:solidFill>
                <a:latin typeface="Trebuchet MS"/>
                <a:ea typeface="Trebuchet MS"/>
                <a:cs typeface="Trebuchet MS"/>
                <a:sym typeface="Trebuchet MS"/>
              </a:rPr>
              <a:t> by more than </a:t>
            </a:r>
            <a:r>
              <a:rPr i="1" lang="zh-CN" sz="1200">
                <a:solidFill>
                  <a:srgbClr val="FF0000"/>
                </a:solidFill>
                <a:latin typeface="Trebuchet MS"/>
                <a:ea typeface="Trebuchet MS"/>
                <a:cs typeface="Trebuchet MS"/>
                <a:sym typeface="Trebuchet MS"/>
              </a:rPr>
              <a:t>20%</a:t>
            </a:r>
            <a:r>
              <a:rPr i="1" lang="zh-CN" sz="1200">
                <a:solidFill>
                  <a:srgbClr val="333333"/>
                </a:solidFill>
                <a:latin typeface="Trebuchet MS"/>
                <a:ea typeface="Trebuchet MS"/>
                <a:cs typeface="Trebuchet MS"/>
                <a:sym typeface="Trebuchet MS"/>
              </a:rPr>
              <a:t>.</a:t>
            </a:r>
            <a:endParaRPr i="1" sz="1200">
              <a:solidFill>
                <a:srgbClr val="333333"/>
              </a:solidFill>
              <a:latin typeface="Trebuchet MS"/>
              <a:ea typeface="Trebuchet MS"/>
              <a:cs typeface="Trebuchet MS"/>
              <a:sym typeface="Trebuchet MS"/>
            </a:endParaRPr>
          </a:p>
          <a:p>
            <a:pPr indent="-304800" lvl="0" marL="457200" rtl="0" algn="l">
              <a:lnSpc>
                <a:spcPct val="115000"/>
              </a:lnSpc>
              <a:spcBef>
                <a:spcPts val="0"/>
              </a:spcBef>
              <a:spcAft>
                <a:spcPts val="0"/>
              </a:spcAft>
              <a:buClr>
                <a:srgbClr val="333333"/>
              </a:buClr>
              <a:buSzPts val="1200"/>
              <a:buChar char="●"/>
            </a:pPr>
            <a:r>
              <a:rPr b="1" i="1" lang="zh-CN" sz="1200">
                <a:solidFill>
                  <a:srgbClr val="333333"/>
                </a:solidFill>
                <a:latin typeface="Trebuchet MS"/>
                <a:ea typeface="Trebuchet MS"/>
                <a:cs typeface="Trebuchet MS"/>
                <a:sym typeface="Trebuchet MS"/>
              </a:rPr>
              <a:t>BO:</a:t>
            </a:r>
            <a:r>
              <a:rPr i="1" lang="zh-CN" sz="1200">
                <a:solidFill>
                  <a:srgbClr val="333333"/>
                </a:solidFill>
                <a:latin typeface="Trebuchet MS"/>
                <a:ea typeface="Trebuchet MS"/>
                <a:cs typeface="Trebuchet MS"/>
                <a:sym typeface="Trebuchet MS"/>
              </a:rPr>
              <a:t> R1/R2 are searched once before formal evaluation and </a:t>
            </a:r>
            <a:r>
              <a:rPr i="1" lang="zh-CN" sz="1200">
                <a:solidFill>
                  <a:srgbClr val="FF0000"/>
                </a:solidFill>
                <a:latin typeface="Trebuchet MS"/>
                <a:ea typeface="Trebuchet MS"/>
                <a:cs typeface="Trebuchet MS"/>
                <a:sym typeface="Trebuchet MS"/>
              </a:rPr>
              <a:t>remain fixed</a:t>
            </a:r>
            <a:r>
              <a:rPr i="1" lang="zh-CN" sz="1200">
                <a:solidFill>
                  <a:srgbClr val="333333"/>
                </a:solidFill>
                <a:latin typeface="Trebuchet MS"/>
                <a:ea typeface="Trebuchet MS"/>
                <a:cs typeface="Trebuchet MS"/>
                <a:sym typeface="Trebuchet MS"/>
              </a:rPr>
              <a:t> during inference; online BO threshold updates are not yet implemented.</a:t>
            </a:r>
            <a:endParaRPr i="1" sz="1200">
              <a:solidFill>
                <a:srgbClr val="333333"/>
              </a:solidFill>
              <a:latin typeface="Trebuchet MS"/>
              <a:ea typeface="Trebuchet MS"/>
              <a:cs typeface="Trebuchet MS"/>
              <a:sym typeface="Trebuchet MS"/>
            </a:endParaRPr>
          </a:p>
          <a:p>
            <a:pPr indent="-304800" lvl="0" marL="457200" rtl="0" algn="l">
              <a:lnSpc>
                <a:spcPct val="115000"/>
              </a:lnSpc>
              <a:spcBef>
                <a:spcPts val="0"/>
              </a:spcBef>
              <a:spcAft>
                <a:spcPts val="0"/>
              </a:spcAft>
              <a:buClr>
                <a:srgbClr val="333333"/>
              </a:buClr>
              <a:buSzPts val="1200"/>
              <a:buChar char="●"/>
            </a:pPr>
            <a:r>
              <a:rPr b="1" lang="zh-CN" sz="1200">
                <a:solidFill>
                  <a:srgbClr val="333333"/>
                </a:solidFill>
                <a:latin typeface="Trebuchet MS"/>
                <a:ea typeface="Trebuchet MS"/>
                <a:cs typeface="Trebuchet MS"/>
                <a:sym typeface="Trebuchet MS"/>
              </a:rPr>
              <a:t>Evaluation:</a:t>
            </a:r>
            <a:r>
              <a:rPr i="1" lang="zh-CN" sz="1200">
                <a:solidFill>
                  <a:srgbClr val="333333"/>
                </a:solidFill>
                <a:latin typeface="Trebuchet MS"/>
                <a:ea typeface="Trebuchet MS"/>
                <a:cs typeface="Trebuchet MS"/>
                <a:sym typeface="Trebuchet MS"/>
              </a:rPr>
              <a:t> Seed 3407, at most 128 generated tokens per sample, and exactly </a:t>
            </a:r>
            <a:r>
              <a:rPr i="1" lang="zh-CN" sz="1200">
                <a:solidFill>
                  <a:srgbClr val="FF0000"/>
                </a:solidFill>
                <a:latin typeface="Trebuchet MS"/>
                <a:ea typeface="Trebuchet MS"/>
                <a:cs typeface="Trebuchet MS"/>
                <a:sym typeface="Trebuchet MS"/>
              </a:rPr>
              <a:t>1,000 </a:t>
            </a:r>
            <a:r>
              <a:rPr i="1" lang="zh-CN" sz="1200">
                <a:solidFill>
                  <a:srgbClr val="333333"/>
                </a:solidFill>
                <a:latin typeface="Trebuchet MS"/>
                <a:ea typeface="Trebuchet MS"/>
                <a:cs typeface="Trebuchet MS"/>
                <a:sym typeface="Trebuchet MS"/>
              </a:rPr>
              <a:t>cloud-accepted tokens per method. </a:t>
            </a:r>
            <a:r>
              <a:rPr i="1" lang="zh-CN" sz="1200">
                <a:solidFill>
                  <a:srgbClr val="333333"/>
                </a:solidFill>
                <a:latin typeface="Trebuchet MS"/>
                <a:ea typeface="Trebuchet MS"/>
                <a:cs typeface="Trebuchet MS"/>
                <a:sym typeface="Trebuchet MS"/>
              </a:rPr>
              <a:t>TPT is total end-to-end time divided by accepted tokens; </a:t>
            </a:r>
            <a:r>
              <a:rPr i="1" lang="zh-CN" sz="1200">
                <a:solidFill>
                  <a:srgbClr val="333333"/>
                </a:solidFill>
                <a:latin typeface="Trebuchet MS"/>
                <a:ea typeface="Trebuchet MS"/>
                <a:cs typeface="Trebuchet MS"/>
                <a:sym typeface="Trebuchet MS"/>
              </a:rPr>
              <a:t>NVML samples GPU power every 5 ms for prompt prefill and target NAV only</a:t>
            </a:r>
            <a:r>
              <a:rPr i="1" lang="zh-CN" sz="1200">
                <a:solidFill>
                  <a:srgbClr val="333333"/>
                </a:solidFill>
                <a:latin typeface="Trebuchet MS"/>
                <a:ea typeface="Trebuchet MS"/>
                <a:cs typeface="Trebuchet MS"/>
                <a:sym typeface="Trebuchet MS"/>
              </a:rPr>
              <a:t>.</a:t>
            </a:r>
            <a:endParaRPr i="1" sz="1900">
              <a:solidFill>
                <a:schemeClr val="dk2"/>
              </a:solidFill>
              <a:latin typeface="Trebuchet MS"/>
              <a:ea typeface="Trebuchet MS"/>
              <a:cs typeface="Trebuchet MS"/>
              <a:sym typeface="Trebuchet M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3"/>
          <p:cNvSpPr/>
          <p:nvPr/>
        </p:nvSpPr>
        <p:spPr>
          <a:xfrm>
            <a:off x="0" y="864105"/>
            <a:ext cx="4329000" cy="42600"/>
          </a:xfrm>
          <a:prstGeom prst="rect">
            <a:avLst/>
          </a:prstGeom>
          <a:solidFill>
            <a:srgbClr val="1C458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94" name="Google Shape;194;p23"/>
          <p:cNvPicPr preferRelativeResize="0"/>
          <p:nvPr/>
        </p:nvPicPr>
        <p:blipFill>
          <a:blip r:embed="rId3">
            <a:alphaModFix/>
          </a:blip>
          <a:stretch>
            <a:fillRect/>
          </a:stretch>
        </p:blipFill>
        <p:spPr>
          <a:xfrm>
            <a:off x="6382038" y="152353"/>
            <a:ext cx="2649075" cy="732650"/>
          </a:xfrm>
          <a:prstGeom prst="rect">
            <a:avLst/>
          </a:prstGeom>
          <a:noFill/>
          <a:ln>
            <a:noFill/>
          </a:ln>
        </p:spPr>
      </p:pic>
      <p:sp>
        <p:nvSpPr>
          <p:cNvPr id="195" name="Google Shape;195;p23"/>
          <p:cNvSpPr/>
          <p:nvPr/>
        </p:nvSpPr>
        <p:spPr>
          <a:xfrm>
            <a:off x="0" y="4807975"/>
            <a:ext cx="9144000" cy="335400"/>
          </a:xfrm>
          <a:prstGeom prst="rect">
            <a:avLst/>
          </a:prstGeom>
          <a:solidFill>
            <a:srgbClr val="1C4587"/>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zh-CN" sz="1500">
                <a:solidFill>
                  <a:schemeClr val="lt2"/>
                </a:solidFill>
                <a:latin typeface="Trebuchet MS"/>
                <a:ea typeface="Trebuchet MS"/>
                <a:cs typeface="Trebuchet MS"/>
                <a:sym typeface="Trebuchet MS"/>
              </a:rPr>
              <a:t>  2026-7 · Jiale Wang · HUST</a:t>
            </a:r>
            <a:endParaRPr sz="1500">
              <a:solidFill>
                <a:schemeClr val="lt2"/>
              </a:solidFill>
              <a:latin typeface="Trebuchet MS"/>
              <a:ea typeface="Trebuchet MS"/>
              <a:cs typeface="Trebuchet MS"/>
              <a:sym typeface="Trebuchet MS"/>
            </a:endParaRPr>
          </a:p>
        </p:txBody>
      </p:sp>
      <p:pic>
        <p:nvPicPr>
          <p:cNvPr id="196" name="Google Shape;196;p23"/>
          <p:cNvPicPr preferRelativeResize="0"/>
          <p:nvPr/>
        </p:nvPicPr>
        <p:blipFill>
          <a:blip r:embed="rId4">
            <a:alphaModFix/>
          </a:blip>
          <a:stretch>
            <a:fillRect/>
          </a:stretch>
        </p:blipFill>
        <p:spPr>
          <a:xfrm>
            <a:off x="1031150" y="1599332"/>
            <a:ext cx="7081702" cy="2935725"/>
          </a:xfrm>
          <a:prstGeom prst="rect">
            <a:avLst/>
          </a:prstGeom>
          <a:noFill/>
          <a:ln>
            <a:noFill/>
          </a:ln>
        </p:spPr>
      </p:pic>
      <p:sp>
        <p:nvSpPr>
          <p:cNvPr id="197" name="Google Shape;197;p23"/>
          <p:cNvSpPr txBox="1"/>
          <p:nvPr/>
        </p:nvSpPr>
        <p:spPr>
          <a:xfrm>
            <a:off x="142947" y="269750"/>
            <a:ext cx="4166100" cy="589800"/>
          </a:xfrm>
          <a:prstGeom prst="rect">
            <a:avLst/>
          </a:prstGeom>
          <a:noFill/>
          <a:ln>
            <a:noFill/>
          </a:ln>
        </p:spPr>
        <p:txBody>
          <a:bodyPr anchorCtr="0" anchor="ctr" bIns="91425" lIns="91425" spcFirstLastPara="1" rIns="91425" wrap="square" tIns="91425">
            <a:noAutofit/>
          </a:bodyPr>
          <a:lstStyle/>
          <a:p>
            <a:pPr indent="0" lvl="0" marL="0" rtl="0" algn="l">
              <a:lnSpc>
                <a:spcPct val="122500"/>
              </a:lnSpc>
              <a:spcBef>
                <a:spcPts val="1800"/>
              </a:spcBef>
              <a:spcAft>
                <a:spcPts val="400"/>
              </a:spcAft>
              <a:buNone/>
            </a:pPr>
            <a:r>
              <a:rPr b="1" lang="zh-CN" sz="3000">
                <a:solidFill>
                  <a:schemeClr val="dk1"/>
                </a:solidFill>
                <a:latin typeface="Trebuchet MS"/>
                <a:ea typeface="Trebuchet MS"/>
                <a:cs typeface="Trebuchet MS"/>
                <a:sym typeface="Trebuchet MS"/>
              </a:rPr>
              <a:t>Baselines</a:t>
            </a:r>
            <a:endParaRPr b="1" sz="3000">
              <a:solidFill>
                <a:schemeClr val="dk1"/>
              </a:solidFill>
              <a:latin typeface="Trebuchet MS"/>
              <a:ea typeface="Trebuchet MS"/>
              <a:cs typeface="Trebuchet MS"/>
              <a:sym typeface="Trebuchet MS"/>
            </a:endParaRPr>
          </a:p>
        </p:txBody>
      </p:sp>
      <p:sp>
        <p:nvSpPr>
          <p:cNvPr id="198" name="Google Shape;198;p23"/>
          <p:cNvSpPr txBox="1"/>
          <p:nvPr/>
        </p:nvSpPr>
        <p:spPr>
          <a:xfrm>
            <a:off x="2964575" y="3437306"/>
            <a:ext cx="1052100" cy="497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zh-CN" sz="1800">
                <a:solidFill>
                  <a:schemeClr val="dk1"/>
                </a:solidFill>
                <a:latin typeface="Trebuchet MS"/>
                <a:ea typeface="Trebuchet MS"/>
                <a:cs typeface="Trebuchet MS"/>
                <a:sym typeface="Trebuchet MS"/>
              </a:rPr>
              <a:t>Vanilla</a:t>
            </a:r>
            <a:r>
              <a:rPr b="1" lang="zh-CN" sz="1800">
                <a:solidFill>
                  <a:schemeClr val="lt1"/>
                </a:solidFill>
                <a:latin typeface="Trebuchet MS"/>
                <a:ea typeface="Trebuchet MS"/>
                <a:cs typeface="Trebuchet MS"/>
                <a:sym typeface="Trebuchet MS"/>
              </a:rPr>
              <a:t> </a:t>
            </a:r>
            <a:endParaRPr b="1" sz="1800">
              <a:solidFill>
                <a:schemeClr val="lt1"/>
              </a:solidFill>
              <a:latin typeface="Trebuchet MS"/>
              <a:ea typeface="Trebuchet MS"/>
              <a:cs typeface="Trebuchet MS"/>
              <a:sym typeface="Trebuchet MS"/>
            </a:endParaRPr>
          </a:p>
        </p:txBody>
      </p:sp>
      <p:sp>
        <p:nvSpPr>
          <p:cNvPr id="199" name="Google Shape;199;p23"/>
          <p:cNvSpPr txBox="1"/>
          <p:nvPr/>
        </p:nvSpPr>
        <p:spPr>
          <a:xfrm>
            <a:off x="3609547" y="2706285"/>
            <a:ext cx="1052100" cy="497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zh-CN" sz="1800">
                <a:solidFill>
                  <a:schemeClr val="dk1"/>
                </a:solidFill>
                <a:latin typeface="Trebuchet MS"/>
                <a:ea typeface="Trebuchet MS"/>
                <a:cs typeface="Trebuchet MS"/>
                <a:sym typeface="Trebuchet MS"/>
              </a:rPr>
              <a:t>HSL</a:t>
            </a:r>
            <a:r>
              <a:rPr b="1" lang="zh-CN" sz="1800">
                <a:solidFill>
                  <a:schemeClr val="dk1"/>
                </a:solidFill>
                <a:latin typeface="Trebuchet MS"/>
                <a:ea typeface="Trebuchet MS"/>
                <a:cs typeface="Trebuchet MS"/>
                <a:sym typeface="Trebuchet MS"/>
              </a:rPr>
              <a:t> </a:t>
            </a:r>
            <a:endParaRPr b="1" sz="1800">
              <a:solidFill>
                <a:schemeClr val="dk1"/>
              </a:solidFill>
              <a:latin typeface="Trebuchet MS"/>
              <a:ea typeface="Trebuchet MS"/>
              <a:cs typeface="Trebuchet MS"/>
              <a:sym typeface="Trebuchet MS"/>
            </a:endParaRPr>
          </a:p>
        </p:txBody>
      </p:sp>
      <p:sp>
        <p:nvSpPr>
          <p:cNvPr id="200" name="Google Shape;200;p23"/>
          <p:cNvSpPr txBox="1"/>
          <p:nvPr/>
        </p:nvSpPr>
        <p:spPr>
          <a:xfrm>
            <a:off x="4471132" y="2706294"/>
            <a:ext cx="1232700" cy="497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zh-CN" sz="1800">
                <a:solidFill>
                  <a:schemeClr val="dk1"/>
                </a:solidFill>
                <a:latin typeface="Trebuchet MS"/>
                <a:ea typeface="Trebuchet MS"/>
                <a:cs typeface="Trebuchet MS"/>
                <a:sym typeface="Trebuchet MS"/>
              </a:rPr>
              <a:t>EdgeLLM</a:t>
            </a:r>
            <a:endParaRPr b="1" sz="1800">
              <a:solidFill>
                <a:schemeClr val="dk1"/>
              </a:solidFill>
              <a:latin typeface="Trebuchet MS"/>
              <a:ea typeface="Trebuchet MS"/>
              <a:cs typeface="Trebuchet MS"/>
              <a:sym typeface="Trebuchet MS"/>
            </a:endParaRPr>
          </a:p>
        </p:txBody>
      </p:sp>
      <p:sp>
        <p:nvSpPr>
          <p:cNvPr id="201" name="Google Shape;201;p23"/>
          <p:cNvSpPr txBox="1"/>
          <p:nvPr/>
        </p:nvSpPr>
        <p:spPr>
          <a:xfrm>
            <a:off x="5125075" y="3437306"/>
            <a:ext cx="1052100" cy="497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zh-CN" sz="1800">
                <a:solidFill>
                  <a:schemeClr val="dk1"/>
                </a:solidFill>
                <a:latin typeface="Trebuchet MS"/>
                <a:ea typeface="Trebuchet MS"/>
                <a:cs typeface="Trebuchet MS"/>
                <a:sym typeface="Trebuchet MS"/>
              </a:rPr>
              <a:t>PipeSD</a:t>
            </a:r>
            <a:r>
              <a:rPr b="1" lang="zh-CN" sz="1800">
                <a:solidFill>
                  <a:schemeClr val="lt1"/>
                </a:solidFill>
                <a:latin typeface="Trebuchet MS"/>
                <a:ea typeface="Trebuchet MS"/>
                <a:cs typeface="Trebuchet MS"/>
                <a:sym typeface="Trebuchet MS"/>
              </a:rPr>
              <a:t> </a:t>
            </a:r>
            <a:endParaRPr b="1" sz="1800">
              <a:solidFill>
                <a:schemeClr val="lt1"/>
              </a:solidFill>
              <a:latin typeface="Trebuchet MS"/>
              <a:ea typeface="Trebuchet MS"/>
              <a:cs typeface="Trebuchet MS"/>
              <a:sym typeface="Trebuchet MS"/>
            </a:endParaRPr>
          </a:p>
        </p:txBody>
      </p:sp>
      <p:sp>
        <p:nvSpPr>
          <p:cNvPr id="202" name="Google Shape;202;p23"/>
          <p:cNvSpPr txBox="1"/>
          <p:nvPr/>
        </p:nvSpPr>
        <p:spPr>
          <a:xfrm>
            <a:off x="986129" y="3268753"/>
            <a:ext cx="2084400" cy="862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i="1" lang="zh-CN" sz="1100">
                <a:solidFill>
                  <a:srgbClr val="333333"/>
                </a:solidFill>
                <a:latin typeface="Trebuchet MS"/>
                <a:ea typeface="Trebuchet MS"/>
                <a:cs typeface="Trebuchet MS"/>
                <a:sym typeface="Trebuchet MS"/>
              </a:rPr>
              <a:t>Generates a fixed number of draft tokens, uploads the whole block, and waits for NAV withoutoverlap. </a:t>
            </a:r>
            <a:endParaRPr i="1" sz="1100">
              <a:solidFill>
                <a:srgbClr val="333333"/>
              </a:solidFill>
              <a:latin typeface="Trebuchet MS"/>
              <a:ea typeface="Trebuchet MS"/>
              <a:cs typeface="Trebuchet MS"/>
              <a:sym typeface="Trebuchet MS"/>
            </a:endParaRPr>
          </a:p>
        </p:txBody>
      </p:sp>
      <p:sp>
        <p:nvSpPr>
          <p:cNvPr id="203" name="Google Shape;203;p23"/>
          <p:cNvSpPr txBox="1"/>
          <p:nvPr/>
        </p:nvSpPr>
        <p:spPr>
          <a:xfrm>
            <a:off x="1031150" y="1759650"/>
            <a:ext cx="2175600" cy="862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i="1" lang="zh-CN" sz="1100">
                <a:solidFill>
                  <a:srgbClr val="333333"/>
                </a:solidFill>
                <a:latin typeface="Trebuchet MS"/>
                <a:ea typeface="Trebuchet MS"/>
                <a:cs typeface="Trebuchet MS"/>
                <a:sym typeface="Trebuchet MS"/>
              </a:rPr>
              <a:t>Triggers NAV when a token’s confidence falls below a threshold, uploads the full block and pauses generation while waiting. </a:t>
            </a:r>
            <a:r>
              <a:rPr i="1" lang="zh-CN" sz="1100">
                <a:solidFill>
                  <a:srgbClr val="333333"/>
                </a:solidFill>
                <a:latin typeface="Trebuchet MS"/>
                <a:ea typeface="Trebuchet MS"/>
                <a:cs typeface="Trebuchet MS"/>
                <a:sym typeface="Trebuchet MS"/>
              </a:rPr>
              <a:t> </a:t>
            </a:r>
            <a:endParaRPr i="1" sz="1100">
              <a:solidFill>
                <a:srgbClr val="333333"/>
              </a:solidFill>
              <a:latin typeface="Trebuchet MS"/>
              <a:ea typeface="Trebuchet MS"/>
              <a:cs typeface="Trebuchet MS"/>
              <a:sym typeface="Trebuchet MS"/>
            </a:endParaRPr>
          </a:p>
        </p:txBody>
      </p:sp>
      <p:sp>
        <p:nvSpPr>
          <p:cNvPr id="204" name="Google Shape;204;p23"/>
          <p:cNvSpPr txBox="1"/>
          <p:nvPr/>
        </p:nvSpPr>
        <p:spPr>
          <a:xfrm>
            <a:off x="5890275" y="1611250"/>
            <a:ext cx="2291700" cy="1061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i="1" lang="zh-CN" sz="1100">
                <a:solidFill>
                  <a:schemeClr val="dk1"/>
                </a:solidFill>
                <a:latin typeface="Trebuchet MS"/>
                <a:ea typeface="Trebuchet MS"/>
                <a:cs typeface="Trebuchet MS"/>
                <a:sym typeface="Trebuchet MS"/>
              </a:rPr>
              <a:t>Triggers NAV u</a:t>
            </a:r>
            <a:r>
              <a:rPr i="1" lang="zh-CN" sz="1100">
                <a:solidFill>
                  <a:schemeClr val="dk1"/>
                </a:solidFill>
                <a:latin typeface="Trebuchet MS"/>
                <a:ea typeface="Trebuchet MS"/>
                <a:cs typeface="Trebuchet MS"/>
                <a:sym typeface="Trebuchet MS"/>
              </a:rPr>
              <a:t>sing cumulative sequence confidence, continues drafting during verification, and multiplies the threshold by </a:t>
            </a:r>
            <a:r>
              <a:rPr b="1" i="1" lang="zh-CN" sz="1100">
                <a:solidFill>
                  <a:schemeClr val="dk1"/>
                </a:solidFill>
                <a:latin typeface="Trebuchet MS"/>
                <a:ea typeface="Trebuchet MS"/>
                <a:cs typeface="Trebuchet MS"/>
                <a:sym typeface="Trebuchet MS"/>
              </a:rPr>
              <a:t>0.5 </a:t>
            </a:r>
            <a:r>
              <a:rPr i="1" lang="zh-CN" sz="1100">
                <a:solidFill>
                  <a:schemeClr val="dk1"/>
                </a:solidFill>
                <a:latin typeface="Trebuchet MS"/>
                <a:ea typeface="Trebuchet MS"/>
                <a:cs typeface="Trebuchet MS"/>
                <a:sym typeface="Trebuchet MS"/>
              </a:rPr>
              <a:t>when accepted tokens reach the scheduling window .</a:t>
            </a:r>
            <a:endParaRPr i="1" sz="1200">
              <a:solidFill>
                <a:srgbClr val="333333"/>
              </a:solidFill>
              <a:latin typeface="Trebuchet MS"/>
              <a:ea typeface="Trebuchet MS"/>
              <a:cs typeface="Trebuchet MS"/>
              <a:sym typeface="Trebuchet MS"/>
            </a:endParaRPr>
          </a:p>
        </p:txBody>
      </p:sp>
      <p:sp>
        <p:nvSpPr>
          <p:cNvPr id="205" name="Google Shape;205;p23"/>
          <p:cNvSpPr txBox="1"/>
          <p:nvPr/>
        </p:nvSpPr>
        <p:spPr>
          <a:xfrm>
            <a:off x="6233200" y="3181575"/>
            <a:ext cx="2386800" cy="862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i="1" lang="zh-CN" sz="1100">
                <a:solidFill>
                  <a:srgbClr val="333333"/>
                </a:solidFill>
                <a:latin typeface="Trebuchet MS"/>
                <a:ea typeface="Trebuchet MS"/>
                <a:cs typeface="Trebuchet MS"/>
                <a:sym typeface="Trebuchet MS"/>
              </a:rPr>
              <a:t>Combines token and sequence-level thresholds with DP-based batch pipelining, continuing generation during NAV with safe reuse or rollback. </a:t>
            </a:r>
            <a:endParaRPr i="1" sz="1100">
              <a:solidFill>
                <a:srgbClr val="333333"/>
              </a:solidFill>
              <a:latin typeface="Trebuchet MS"/>
              <a:ea typeface="Trebuchet MS"/>
              <a:cs typeface="Trebuchet MS"/>
              <a:sym typeface="Trebuchet MS"/>
            </a:endParaRPr>
          </a:p>
        </p:txBody>
      </p:sp>
      <p:sp>
        <p:nvSpPr>
          <p:cNvPr id="206" name="Google Shape;206;p23"/>
          <p:cNvSpPr txBox="1"/>
          <p:nvPr/>
        </p:nvSpPr>
        <p:spPr>
          <a:xfrm>
            <a:off x="974786" y="3022225"/>
            <a:ext cx="1804200" cy="302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zh-CN" sz="1200">
                <a:solidFill>
                  <a:srgbClr val="FF0000"/>
                </a:solidFill>
                <a:highlight>
                  <a:srgbClr val="B6D7A8"/>
                </a:highlight>
                <a:latin typeface="Trebuchet MS"/>
                <a:ea typeface="Trebuchet MS"/>
                <a:cs typeface="Trebuchet MS"/>
                <a:sym typeface="Trebuchet MS"/>
              </a:rPr>
              <a:t>HumanEval:6  GSM8K:4</a:t>
            </a:r>
            <a:endParaRPr sz="1200">
              <a:solidFill>
                <a:srgbClr val="FF0000"/>
              </a:solidFill>
              <a:highlight>
                <a:srgbClr val="B6D7A8"/>
              </a:highlight>
              <a:latin typeface="Trebuchet MS"/>
              <a:ea typeface="Trebuchet MS"/>
              <a:cs typeface="Trebuchet MS"/>
              <a:sym typeface="Trebuchet MS"/>
            </a:endParaRPr>
          </a:p>
        </p:txBody>
      </p:sp>
      <p:sp>
        <p:nvSpPr>
          <p:cNvPr id="207" name="Google Shape;207;p23"/>
          <p:cNvSpPr txBox="1"/>
          <p:nvPr/>
        </p:nvSpPr>
        <p:spPr>
          <a:xfrm>
            <a:off x="991236" y="1395264"/>
            <a:ext cx="2175600" cy="302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zh-CN" sz="1200">
                <a:solidFill>
                  <a:srgbClr val="FF0000"/>
                </a:solidFill>
                <a:highlight>
                  <a:srgbClr val="B6D7A8"/>
                </a:highlight>
                <a:latin typeface="Trebuchet MS"/>
                <a:ea typeface="Trebuchet MS"/>
                <a:cs typeface="Trebuchet MS"/>
                <a:sym typeface="Trebuchet MS"/>
              </a:rPr>
              <a:t>HumanEval:0.99  GSM8K:0.7</a:t>
            </a:r>
            <a:endParaRPr sz="1200">
              <a:solidFill>
                <a:srgbClr val="FF0000"/>
              </a:solidFill>
              <a:highlight>
                <a:srgbClr val="B6D7A8"/>
              </a:highlight>
              <a:latin typeface="Trebuchet MS"/>
              <a:ea typeface="Trebuchet MS"/>
              <a:cs typeface="Trebuchet MS"/>
              <a:sym typeface="Trebuchet MS"/>
            </a:endParaRPr>
          </a:p>
        </p:txBody>
      </p:sp>
      <p:sp>
        <p:nvSpPr>
          <p:cNvPr id="208" name="Google Shape;208;p23"/>
          <p:cNvSpPr txBox="1"/>
          <p:nvPr/>
        </p:nvSpPr>
        <p:spPr>
          <a:xfrm>
            <a:off x="5872125" y="1279150"/>
            <a:ext cx="2175600" cy="302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zh-CN" sz="1200">
                <a:solidFill>
                  <a:srgbClr val="FF0000"/>
                </a:solidFill>
                <a:highlight>
                  <a:srgbClr val="B6D7A8"/>
                </a:highlight>
                <a:latin typeface="Trebuchet MS"/>
                <a:ea typeface="Trebuchet MS"/>
                <a:cs typeface="Trebuchet MS"/>
                <a:sym typeface="Trebuchet MS"/>
              </a:rPr>
              <a:t>HumanEval:0.92  GSM8K:0.5</a:t>
            </a:r>
            <a:endParaRPr sz="1200">
              <a:solidFill>
                <a:srgbClr val="FF0000"/>
              </a:solidFill>
              <a:highlight>
                <a:srgbClr val="B6D7A8"/>
              </a:highlight>
              <a:latin typeface="Trebuchet MS"/>
              <a:ea typeface="Trebuchet MS"/>
              <a:cs typeface="Trebuchet MS"/>
              <a:sym typeface="Trebuchet MS"/>
            </a:endParaRPr>
          </a:p>
        </p:txBody>
      </p:sp>
      <p:sp>
        <p:nvSpPr>
          <p:cNvPr id="209" name="Google Shape;209;p23"/>
          <p:cNvSpPr txBox="1"/>
          <p:nvPr/>
        </p:nvSpPr>
        <p:spPr>
          <a:xfrm>
            <a:off x="5856257" y="2843948"/>
            <a:ext cx="3183000" cy="302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zh-CN" sz="1200">
                <a:solidFill>
                  <a:srgbClr val="FF0000"/>
                </a:solidFill>
                <a:highlight>
                  <a:srgbClr val="B6D7A8"/>
                </a:highlight>
                <a:latin typeface="Trebuchet MS"/>
                <a:ea typeface="Trebuchet MS"/>
                <a:cs typeface="Trebuchet MS"/>
                <a:sym typeface="Trebuchet MS"/>
              </a:rPr>
              <a:t>HumanEval:(0.9,0.35)  GSM8K:(0.64,0.4)</a:t>
            </a:r>
            <a:endParaRPr sz="1200">
              <a:solidFill>
                <a:srgbClr val="FF0000"/>
              </a:solidFill>
              <a:highlight>
                <a:srgbClr val="B6D7A8"/>
              </a:highlight>
              <a:latin typeface="Trebuchet MS"/>
              <a:ea typeface="Trebuchet MS"/>
              <a:cs typeface="Trebuchet MS"/>
              <a:sym typeface="Trebuchet M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4"/>
          <p:cNvSpPr/>
          <p:nvPr/>
        </p:nvSpPr>
        <p:spPr>
          <a:xfrm>
            <a:off x="0" y="864105"/>
            <a:ext cx="4329000" cy="42600"/>
          </a:xfrm>
          <a:prstGeom prst="rect">
            <a:avLst/>
          </a:prstGeom>
          <a:solidFill>
            <a:srgbClr val="1C458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15" name="Google Shape;215;p24"/>
          <p:cNvPicPr preferRelativeResize="0"/>
          <p:nvPr/>
        </p:nvPicPr>
        <p:blipFill>
          <a:blip r:embed="rId3">
            <a:alphaModFix/>
          </a:blip>
          <a:stretch>
            <a:fillRect/>
          </a:stretch>
        </p:blipFill>
        <p:spPr>
          <a:xfrm>
            <a:off x="6382038" y="152353"/>
            <a:ext cx="2649075" cy="732650"/>
          </a:xfrm>
          <a:prstGeom prst="rect">
            <a:avLst/>
          </a:prstGeom>
          <a:noFill/>
          <a:ln>
            <a:noFill/>
          </a:ln>
        </p:spPr>
      </p:pic>
      <p:sp>
        <p:nvSpPr>
          <p:cNvPr id="216" name="Google Shape;216;p24"/>
          <p:cNvSpPr/>
          <p:nvPr/>
        </p:nvSpPr>
        <p:spPr>
          <a:xfrm>
            <a:off x="0" y="4807975"/>
            <a:ext cx="9144000" cy="335400"/>
          </a:xfrm>
          <a:prstGeom prst="rect">
            <a:avLst/>
          </a:prstGeom>
          <a:solidFill>
            <a:srgbClr val="1C4587"/>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zh-CN" sz="1500">
                <a:solidFill>
                  <a:schemeClr val="lt2"/>
                </a:solidFill>
                <a:latin typeface="Trebuchet MS"/>
                <a:ea typeface="Trebuchet MS"/>
                <a:cs typeface="Trebuchet MS"/>
                <a:sym typeface="Trebuchet MS"/>
              </a:rPr>
              <a:t>  2026-7 · Jiale Wang · HUST</a:t>
            </a:r>
            <a:endParaRPr sz="1500">
              <a:solidFill>
                <a:schemeClr val="lt2"/>
              </a:solidFill>
              <a:latin typeface="Trebuchet MS"/>
              <a:ea typeface="Trebuchet MS"/>
              <a:cs typeface="Trebuchet MS"/>
              <a:sym typeface="Trebuchet MS"/>
            </a:endParaRPr>
          </a:p>
        </p:txBody>
      </p:sp>
      <p:sp>
        <p:nvSpPr>
          <p:cNvPr id="217" name="Google Shape;217;p24"/>
          <p:cNvSpPr txBox="1"/>
          <p:nvPr/>
        </p:nvSpPr>
        <p:spPr>
          <a:xfrm>
            <a:off x="4378296" y="1376438"/>
            <a:ext cx="924000" cy="440700"/>
          </a:xfrm>
          <a:prstGeom prst="rect">
            <a:avLst/>
          </a:prstGeom>
          <a:noFill/>
          <a:ln cap="flat" cmpd="sng" w="19050">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solidFill>
                <a:schemeClr val="dk2"/>
              </a:solidFill>
              <a:latin typeface="Trebuchet MS"/>
              <a:ea typeface="Trebuchet MS"/>
              <a:cs typeface="Trebuchet MS"/>
              <a:sym typeface="Trebuchet MS"/>
            </a:endParaRPr>
          </a:p>
        </p:txBody>
      </p:sp>
      <p:sp>
        <p:nvSpPr>
          <p:cNvPr id="218" name="Google Shape;218;p24"/>
          <p:cNvSpPr txBox="1"/>
          <p:nvPr/>
        </p:nvSpPr>
        <p:spPr>
          <a:xfrm>
            <a:off x="142947" y="269750"/>
            <a:ext cx="4166100" cy="589800"/>
          </a:xfrm>
          <a:prstGeom prst="rect">
            <a:avLst/>
          </a:prstGeom>
          <a:noFill/>
          <a:ln>
            <a:noFill/>
          </a:ln>
        </p:spPr>
        <p:txBody>
          <a:bodyPr anchorCtr="0" anchor="ctr" bIns="91425" lIns="91425" spcFirstLastPara="1" rIns="91425" wrap="square" tIns="91425">
            <a:noAutofit/>
          </a:bodyPr>
          <a:lstStyle/>
          <a:p>
            <a:pPr indent="0" lvl="0" marL="0" rtl="0" algn="l">
              <a:lnSpc>
                <a:spcPct val="122500"/>
              </a:lnSpc>
              <a:spcBef>
                <a:spcPts val="1800"/>
              </a:spcBef>
              <a:spcAft>
                <a:spcPts val="400"/>
              </a:spcAft>
              <a:buNone/>
            </a:pPr>
            <a:r>
              <a:rPr b="1" lang="zh-CN" sz="3000">
                <a:solidFill>
                  <a:schemeClr val="dk1"/>
                </a:solidFill>
                <a:latin typeface="Trebuchet MS"/>
                <a:ea typeface="Trebuchet MS"/>
                <a:cs typeface="Trebuchet MS"/>
                <a:sym typeface="Trebuchet MS"/>
              </a:rPr>
              <a:t>Evaluation Reaults</a:t>
            </a:r>
            <a:endParaRPr b="1" sz="3000">
              <a:solidFill>
                <a:schemeClr val="dk1"/>
              </a:solidFill>
              <a:latin typeface="Trebuchet MS"/>
              <a:ea typeface="Trebuchet MS"/>
              <a:cs typeface="Trebuchet MS"/>
              <a:sym typeface="Trebuchet MS"/>
            </a:endParaRPr>
          </a:p>
        </p:txBody>
      </p:sp>
      <p:graphicFrame>
        <p:nvGraphicFramePr>
          <p:cNvPr id="219" name="Google Shape;219;p24"/>
          <p:cNvGraphicFramePr/>
          <p:nvPr/>
        </p:nvGraphicFramePr>
        <p:xfrm>
          <a:off x="3739333" y="1376425"/>
          <a:ext cx="3000000" cy="3000000"/>
        </p:xfrm>
        <a:graphic>
          <a:graphicData uri="http://schemas.openxmlformats.org/drawingml/2006/table">
            <a:tbl>
              <a:tblPr>
                <a:solidFill>
                  <a:srgbClr val="FFFFFF"/>
                </a:solidFill>
                <a:tableStyleId>{00EA39ED-CEC4-4C0F-A5C9-E7E0E0D63DE0}</a:tableStyleId>
              </a:tblPr>
              <a:tblGrid>
                <a:gridCol w="1649450"/>
                <a:gridCol w="1402375"/>
                <a:gridCol w="1992025"/>
              </a:tblGrid>
              <a:tr h="323850">
                <a:tc>
                  <a:txBody>
                    <a:bodyPr/>
                    <a:lstStyle/>
                    <a:p>
                      <a:pPr indent="0" lvl="0" marL="0" rtl="0" algn="ctr">
                        <a:lnSpc>
                          <a:spcPct val="115000"/>
                        </a:lnSpc>
                        <a:spcBef>
                          <a:spcPts val="0"/>
                        </a:spcBef>
                        <a:spcAft>
                          <a:spcPts val="0"/>
                        </a:spcAft>
                        <a:buNone/>
                      </a:pPr>
                      <a:r>
                        <a:rPr b="1" lang="zh-CN" sz="1200">
                          <a:solidFill>
                            <a:srgbClr val="333333"/>
                          </a:solidFill>
                          <a:latin typeface="Trebuchet MS"/>
                          <a:ea typeface="Trebuchet MS"/>
                          <a:cs typeface="Trebuchet MS"/>
                          <a:sym typeface="Trebuchet MS"/>
                        </a:rPr>
                        <a:t>Task / Method</a:t>
                      </a:r>
                      <a:endParaRPr b="1"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zh-CN" sz="1200">
                          <a:solidFill>
                            <a:srgbClr val="333333"/>
                          </a:solidFill>
                          <a:latin typeface="Trebuchet MS"/>
                          <a:ea typeface="Trebuchet MS"/>
                          <a:cs typeface="Trebuchet MS"/>
                          <a:sym typeface="Trebuchet MS"/>
                        </a:rPr>
                        <a:t>TPT (ms/ token)</a:t>
                      </a:r>
                      <a:endParaRPr b="1"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zh-CN" sz="1200">
                          <a:solidFill>
                            <a:srgbClr val="333333"/>
                          </a:solidFill>
                          <a:latin typeface="Trebuchet MS"/>
                          <a:ea typeface="Trebuchet MS"/>
                          <a:cs typeface="Trebuchet MS"/>
                          <a:sym typeface="Trebuchet MS"/>
                        </a:rPr>
                        <a:t>Energy (J/100 tokens)</a:t>
                      </a:r>
                      <a:endParaRPr b="1"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r>
              <a:tr h="323850">
                <a:tc>
                  <a:txBody>
                    <a:bodyPr/>
                    <a:lstStyle/>
                    <a:p>
                      <a:pPr indent="0" lvl="0" marL="0" rtl="0" algn="ctr">
                        <a:lnSpc>
                          <a:spcPct val="115000"/>
                        </a:lnSpc>
                        <a:spcBef>
                          <a:spcPts val="0"/>
                        </a:spcBef>
                        <a:spcAft>
                          <a:spcPts val="0"/>
                        </a:spcAft>
                        <a:buNone/>
                      </a:pPr>
                      <a:r>
                        <a:rPr lang="zh-CN" sz="1200">
                          <a:solidFill>
                            <a:srgbClr val="333333"/>
                          </a:solidFill>
                          <a:latin typeface="Trebuchet MS"/>
                          <a:ea typeface="Trebuchet MS"/>
                          <a:cs typeface="Trebuchet MS"/>
                          <a:sym typeface="Trebuchet MS"/>
                        </a:rPr>
                        <a:t>HumanEval Vanilla</a:t>
                      </a:r>
                      <a:endParaRPr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200">
                          <a:solidFill>
                            <a:srgbClr val="333333"/>
                          </a:solidFill>
                          <a:latin typeface="Trebuchet MS"/>
                          <a:ea typeface="Trebuchet MS"/>
                          <a:cs typeface="Trebuchet MS"/>
                          <a:sym typeface="Trebuchet MS"/>
                        </a:rPr>
                        <a:t>628.705</a:t>
                      </a:r>
                      <a:endParaRPr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200">
                          <a:solidFill>
                            <a:srgbClr val="333333"/>
                          </a:solidFill>
                          <a:latin typeface="Trebuchet MS"/>
                          <a:ea typeface="Trebuchet MS"/>
                          <a:cs typeface="Trebuchet MS"/>
                          <a:sym typeface="Trebuchet MS"/>
                        </a:rPr>
                        <a:t>30.060</a:t>
                      </a:r>
                      <a:endParaRPr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r>
              <a:tr h="323850">
                <a:tc>
                  <a:txBody>
                    <a:bodyPr/>
                    <a:lstStyle/>
                    <a:p>
                      <a:pPr indent="0" lvl="0" marL="0" rtl="0" algn="ctr">
                        <a:lnSpc>
                          <a:spcPct val="115000"/>
                        </a:lnSpc>
                        <a:spcBef>
                          <a:spcPts val="0"/>
                        </a:spcBef>
                        <a:spcAft>
                          <a:spcPts val="0"/>
                        </a:spcAft>
                        <a:buNone/>
                      </a:pPr>
                      <a:r>
                        <a:rPr lang="zh-CN" sz="1200">
                          <a:solidFill>
                            <a:srgbClr val="333333"/>
                          </a:solidFill>
                          <a:latin typeface="Trebuchet MS"/>
                          <a:ea typeface="Trebuchet MS"/>
                          <a:cs typeface="Trebuchet MS"/>
                          <a:sym typeface="Trebuchet MS"/>
                        </a:rPr>
                        <a:t>HumanEval HSL</a:t>
                      </a:r>
                      <a:endParaRPr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200">
                          <a:solidFill>
                            <a:srgbClr val="333333"/>
                          </a:solidFill>
                          <a:latin typeface="Trebuchet MS"/>
                          <a:ea typeface="Trebuchet MS"/>
                          <a:cs typeface="Trebuchet MS"/>
                          <a:sym typeface="Trebuchet MS"/>
                        </a:rPr>
                        <a:t>773.934</a:t>
                      </a:r>
                      <a:endParaRPr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200">
                          <a:solidFill>
                            <a:srgbClr val="333333"/>
                          </a:solidFill>
                          <a:latin typeface="Trebuchet MS"/>
                          <a:ea typeface="Trebuchet MS"/>
                          <a:cs typeface="Trebuchet MS"/>
                          <a:sym typeface="Trebuchet MS"/>
                        </a:rPr>
                        <a:t>29.048</a:t>
                      </a:r>
                      <a:endParaRPr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r>
              <a:tr h="323850">
                <a:tc>
                  <a:txBody>
                    <a:bodyPr/>
                    <a:lstStyle/>
                    <a:p>
                      <a:pPr indent="0" lvl="0" marL="0" rtl="0" algn="ctr">
                        <a:lnSpc>
                          <a:spcPct val="115000"/>
                        </a:lnSpc>
                        <a:spcBef>
                          <a:spcPts val="0"/>
                        </a:spcBef>
                        <a:spcAft>
                          <a:spcPts val="0"/>
                        </a:spcAft>
                        <a:buNone/>
                      </a:pPr>
                      <a:r>
                        <a:rPr lang="zh-CN" sz="1200">
                          <a:solidFill>
                            <a:srgbClr val="333333"/>
                          </a:solidFill>
                          <a:latin typeface="Trebuchet MS"/>
                          <a:ea typeface="Trebuchet MS"/>
                          <a:cs typeface="Trebuchet MS"/>
                          <a:sym typeface="Trebuchet MS"/>
                        </a:rPr>
                        <a:t>HumanEval EdgeLLM</a:t>
                      </a:r>
                      <a:endParaRPr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200">
                          <a:solidFill>
                            <a:srgbClr val="333333"/>
                          </a:solidFill>
                          <a:latin typeface="Trebuchet MS"/>
                          <a:ea typeface="Trebuchet MS"/>
                          <a:cs typeface="Trebuchet MS"/>
                          <a:sym typeface="Trebuchet MS"/>
                        </a:rPr>
                        <a:t>1258.404</a:t>
                      </a:r>
                      <a:endParaRPr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200">
                          <a:solidFill>
                            <a:srgbClr val="333333"/>
                          </a:solidFill>
                          <a:latin typeface="Trebuchet MS"/>
                          <a:ea typeface="Trebuchet MS"/>
                          <a:cs typeface="Trebuchet MS"/>
                          <a:sym typeface="Trebuchet MS"/>
                        </a:rPr>
                        <a:t>39.091</a:t>
                      </a:r>
                      <a:endParaRPr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r>
              <a:tr h="323850">
                <a:tc>
                  <a:txBody>
                    <a:bodyPr/>
                    <a:lstStyle/>
                    <a:p>
                      <a:pPr indent="0" lvl="0" marL="0" rtl="0" algn="ctr">
                        <a:lnSpc>
                          <a:spcPct val="115000"/>
                        </a:lnSpc>
                        <a:spcBef>
                          <a:spcPts val="0"/>
                        </a:spcBef>
                        <a:spcAft>
                          <a:spcPts val="0"/>
                        </a:spcAft>
                        <a:buNone/>
                      </a:pPr>
                      <a:r>
                        <a:rPr lang="zh-CN" sz="1200" u="sng">
                          <a:solidFill>
                            <a:srgbClr val="FF0000"/>
                          </a:solidFill>
                          <a:latin typeface="Trebuchet MS"/>
                          <a:ea typeface="Trebuchet MS"/>
                          <a:cs typeface="Trebuchet MS"/>
                          <a:sym typeface="Trebuchet MS"/>
                        </a:rPr>
                        <a:t>HumanEval PipeSD</a:t>
                      </a:r>
                      <a:endParaRPr sz="1200" u="sng">
                        <a:solidFill>
                          <a:srgbClr val="FF0000"/>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200" u="sng">
                          <a:solidFill>
                            <a:srgbClr val="FF0000"/>
                          </a:solidFill>
                          <a:latin typeface="Trebuchet MS"/>
                          <a:ea typeface="Trebuchet MS"/>
                          <a:cs typeface="Trebuchet MS"/>
                          <a:sym typeface="Trebuchet MS"/>
                        </a:rPr>
                        <a:t>503.444</a:t>
                      </a:r>
                      <a:endParaRPr sz="1200" u="sng">
                        <a:solidFill>
                          <a:srgbClr val="FF0000"/>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200" u="sng">
                          <a:solidFill>
                            <a:srgbClr val="FF0000"/>
                          </a:solidFill>
                          <a:latin typeface="Trebuchet MS"/>
                          <a:ea typeface="Trebuchet MS"/>
                          <a:cs typeface="Trebuchet MS"/>
                          <a:sym typeface="Trebuchet MS"/>
                        </a:rPr>
                        <a:t>19.121</a:t>
                      </a:r>
                      <a:endParaRPr sz="1200" u="sng">
                        <a:solidFill>
                          <a:srgbClr val="FF0000"/>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r>
              <a:tr h="323850">
                <a:tc>
                  <a:txBody>
                    <a:bodyPr/>
                    <a:lstStyle/>
                    <a:p>
                      <a:pPr indent="0" lvl="0" marL="0" rtl="0" algn="ctr">
                        <a:lnSpc>
                          <a:spcPct val="115000"/>
                        </a:lnSpc>
                        <a:spcBef>
                          <a:spcPts val="0"/>
                        </a:spcBef>
                        <a:spcAft>
                          <a:spcPts val="0"/>
                        </a:spcAft>
                        <a:buNone/>
                      </a:pPr>
                      <a:r>
                        <a:rPr lang="zh-CN" sz="1200">
                          <a:solidFill>
                            <a:srgbClr val="333333"/>
                          </a:solidFill>
                          <a:latin typeface="Trebuchet MS"/>
                          <a:ea typeface="Trebuchet MS"/>
                          <a:cs typeface="Trebuchet MS"/>
                          <a:sym typeface="Trebuchet MS"/>
                        </a:rPr>
                        <a:t>GSM8K Vanilla</a:t>
                      </a:r>
                      <a:endParaRPr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200">
                          <a:solidFill>
                            <a:srgbClr val="333333"/>
                          </a:solidFill>
                          <a:latin typeface="Trebuchet MS"/>
                          <a:ea typeface="Trebuchet MS"/>
                          <a:cs typeface="Trebuchet MS"/>
                          <a:sym typeface="Trebuchet MS"/>
                        </a:rPr>
                        <a:t>1062.706</a:t>
                      </a:r>
                      <a:endParaRPr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200">
                          <a:solidFill>
                            <a:srgbClr val="333333"/>
                          </a:solidFill>
                          <a:latin typeface="Trebuchet MS"/>
                          <a:ea typeface="Trebuchet MS"/>
                          <a:cs typeface="Trebuchet MS"/>
                          <a:sym typeface="Trebuchet MS"/>
                        </a:rPr>
                        <a:t>45.453</a:t>
                      </a:r>
                      <a:endParaRPr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r>
              <a:tr h="323850">
                <a:tc>
                  <a:txBody>
                    <a:bodyPr/>
                    <a:lstStyle/>
                    <a:p>
                      <a:pPr indent="0" lvl="0" marL="0" rtl="0" algn="ctr">
                        <a:lnSpc>
                          <a:spcPct val="115000"/>
                        </a:lnSpc>
                        <a:spcBef>
                          <a:spcPts val="0"/>
                        </a:spcBef>
                        <a:spcAft>
                          <a:spcPts val="0"/>
                        </a:spcAft>
                        <a:buNone/>
                      </a:pPr>
                      <a:r>
                        <a:rPr lang="zh-CN" sz="1200">
                          <a:solidFill>
                            <a:srgbClr val="333333"/>
                          </a:solidFill>
                          <a:latin typeface="Trebuchet MS"/>
                          <a:ea typeface="Trebuchet MS"/>
                          <a:cs typeface="Trebuchet MS"/>
                          <a:sym typeface="Trebuchet MS"/>
                        </a:rPr>
                        <a:t>GSM8K HSL</a:t>
                      </a:r>
                      <a:endParaRPr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200">
                          <a:solidFill>
                            <a:srgbClr val="333333"/>
                          </a:solidFill>
                          <a:latin typeface="Trebuchet MS"/>
                          <a:ea typeface="Trebuchet MS"/>
                          <a:cs typeface="Trebuchet MS"/>
                          <a:sym typeface="Trebuchet MS"/>
                        </a:rPr>
                        <a:t>949.016</a:t>
                      </a:r>
                      <a:endParaRPr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200">
                          <a:solidFill>
                            <a:srgbClr val="333333"/>
                          </a:solidFill>
                          <a:latin typeface="Trebuchet MS"/>
                          <a:ea typeface="Trebuchet MS"/>
                          <a:cs typeface="Trebuchet MS"/>
                          <a:sym typeface="Trebuchet MS"/>
                        </a:rPr>
                        <a:t>36.254</a:t>
                      </a:r>
                      <a:endParaRPr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r>
              <a:tr h="323850">
                <a:tc>
                  <a:txBody>
                    <a:bodyPr/>
                    <a:lstStyle/>
                    <a:p>
                      <a:pPr indent="0" lvl="0" marL="0" rtl="0" algn="ctr">
                        <a:lnSpc>
                          <a:spcPct val="115000"/>
                        </a:lnSpc>
                        <a:spcBef>
                          <a:spcPts val="0"/>
                        </a:spcBef>
                        <a:spcAft>
                          <a:spcPts val="0"/>
                        </a:spcAft>
                        <a:buNone/>
                      </a:pPr>
                      <a:r>
                        <a:rPr lang="zh-CN" sz="1200">
                          <a:solidFill>
                            <a:srgbClr val="333333"/>
                          </a:solidFill>
                          <a:latin typeface="Trebuchet MS"/>
                          <a:ea typeface="Trebuchet MS"/>
                          <a:cs typeface="Trebuchet MS"/>
                          <a:sym typeface="Trebuchet MS"/>
                        </a:rPr>
                        <a:t>GSM8K EdgeLLM</a:t>
                      </a:r>
                      <a:endParaRPr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200">
                          <a:solidFill>
                            <a:srgbClr val="333333"/>
                          </a:solidFill>
                          <a:latin typeface="Trebuchet MS"/>
                          <a:ea typeface="Trebuchet MS"/>
                          <a:cs typeface="Trebuchet MS"/>
                          <a:sym typeface="Trebuchet MS"/>
                        </a:rPr>
                        <a:t>1498.874</a:t>
                      </a:r>
                      <a:endParaRPr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200">
                          <a:solidFill>
                            <a:srgbClr val="333333"/>
                          </a:solidFill>
                          <a:latin typeface="Trebuchet MS"/>
                          <a:ea typeface="Trebuchet MS"/>
                          <a:cs typeface="Trebuchet MS"/>
                          <a:sym typeface="Trebuchet MS"/>
                        </a:rPr>
                        <a:t>54.021</a:t>
                      </a:r>
                      <a:endParaRPr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r>
              <a:tr h="323850">
                <a:tc>
                  <a:txBody>
                    <a:bodyPr/>
                    <a:lstStyle/>
                    <a:p>
                      <a:pPr indent="0" lvl="0" marL="0" rtl="0" algn="ctr">
                        <a:lnSpc>
                          <a:spcPct val="115000"/>
                        </a:lnSpc>
                        <a:spcBef>
                          <a:spcPts val="0"/>
                        </a:spcBef>
                        <a:spcAft>
                          <a:spcPts val="0"/>
                        </a:spcAft>
                        <a:buNone/>
                      </a:pPr>
                      <a:r>
                        <a:rPr lang="zh-CN" sz="1200" u="sng">
                          <a:solidFill>
                            <a:srgbClr val="FF0000"/>
                          </a:solidFill>
                          <a:latin typeface="Trebuchet MS"/>
                          <a:ea typeface="Trebuchet MS"/>
                          <a:cs typeface="Trebuchet MS"/>
                          <a:sym typeface="Trebuchet MS"/>
                        </a:rPr>
                        <a:t>GSM8K PipeSD</a:t>
                      </a:r>
                      <a:endParaRPr sz="1200" u="sng">
                        <a:solidFill>
                          <a:srgbClr val="FF0000"/>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200" u="sng">
                          <a:solidFill>
                            <a:srgbClr val="FF0000"/>
                          </a:solidFill>
                          <a:latin typeface="Trebuchet MS"/>
                          <a:ea typeface="Trebuchet MS"/>
                          <a:cs typeface="Trebuchet MS"/>
                          <a:sym typeface="Trebuchet MS"/>
                        </a:rPr>
                        <a:t>872.472</a:t>
                      </a:r>
                      <a:endParaRPr sz="1200" u="sng">
                        <a:solidFill>
                          <a:srgbClr val="FF0000"/>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200" u="sng">
                          <a:solidFill>
                            <a:srgbClr val="FF0000"/>
                          </a:solidFill>
                          <a:latin typeface="Trebuchet MS"/>
                          <a:ea typeface="Trebuchet MS"/>
                          <a:cs typeface="Trebuchet MS"/>
                          <a:sym typeface="Trebuchet MS"/>
                        </a:rPr>
                        <a:t>34.743</a:t>
                      </a:r>
                      <a:endParaRPr sz="1200" u="sng">
                        <a:solidFill>
                          <a:srgbClr val="FF0000"/>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r>
            </a:tbl>
          </a:graphicData>
        </a:graphic>
      </p:graphicFrame>
      <p:pic>
        <p:nvPicPr>
          <p:cNvPr id="220" name="Google Shape;220;p24" title="four_algorithms_performance_energy_vertical.png"/>
          <p:cNvPicPr preferRelativeResize="0"/>
          <p:nvPr/>
        </p:nvPicPr>
        <p:blipFill>
          <a:blip r:embed="rId4">
            <a:alphaModFix/>
          </a:blip>
          <a:stretch>
            <a:fillRect/>
          </a:stretch>
        </p:blipFill>
        <p:spPr>
          <a:xfrm>
            <a:off x="360821" y="1048253"/>
            <a:ext cx="2983931" cy="3618171"/>
          </a:xfrm>
          <a:prstGeom prst="rect">
            <a:avLst/>
          </a:prstGeom>
          <a:noFill/>
          <a:ln cap="flat" cmpd="sng" w="19050">
            <a:solidFill>
              <a:srgbClr val="1C4587"/>
            </a:solidFill>
            <a:prstDash val="dash"/>
            <a:round/>
            <a:headEnd len="sm" w="sm" type="none"/>
            <a:tailEnd len="sm" w="sm" type="none"/>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5"/>
          <p:cNvSpPr/>
          <p:nvPr/>
        </p:nvSpPr>
        <p:spPr>
          <a:xfrm>
            <a:off x="0" y="864105"/>
            <a:ext cx="4329000" cy="42600"/>
          </a:xfrm>
          <a:prstGeom prst="rect">
            <a:avLst/>
          </a:prstGeom>
          <a:solidFill>
            <a:srgbClr val="1C458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26" name="Google Shape;226;p25"/>
          <p:cNvPicPr preferRelativeResize="0"/>
          <p:nvPr/>
        </p:nvPicPr>
        <p:blipFill>
          <a:blip r:embed="rId3">
            <a:alphaModFix/>
          </a:blip>
          <a:stretch>
            <a:fillRect/>
          </a:stretch>
        </p:blipFill>
        <p:spPr>
          <a:xfrm>
            <a:off x="6382038" y="152353"/>
            <a:ext cx="2649075" cy="732650"/>
          </a:xfrm>
          <a:prstGeom prst="rect">
            <a:avLst/>
          </a:prstGeom>
          <a:noFill/>
          <a:ln>
            <a:noFill/>
          </a:ln>
        </p:spPr>
      </p:pic>
      <p:sp>
        <p:nvSpPr>
          <p:cNvPr id="227" name="Google Shape;227;p25"/>
          <p:cNvSpPr/>
          <p:nvPr/>
        </p:nvSpPr>
        <p:spPr>
          <a:xfrm>
            <a:off x="0" y="4807975"/>
            <a:ext cx="9144000" cy="335400"/>
          </a:xfrm>
          <a:prstGeom prst="rect">
            <a:avLst/>
          </a:prstGeom>
          <a:solidFill>
            <a:srgbClr val="1C4587"/>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zh-CN" sz="1500">
                <a:solidFill>
                  <a:schemeClr val="lt2"/>
                </a:solidFill>
                <a:latin typeface="Trebuchet MS"/>
                <a:ea typeface="Trebuchet MS"/>
                <a:cs typeface="Trebuchet MS"/>
                <a:sym typeface="Trebuchet MS"/>
              </a:rPr>
              <a:t>  2026-7 · Jiale Wang · HUST</a:t>
            </a:r>
            <a:endParaRPr sz="1500">
              <a:solidFill>
                <a:schemeClr val="lt2"/>
              </a:solidFill>
              <a:latin typeface="Trebuchet MS"/>
              <a:ea typeface="Trebuchet MS"/>
              <a:cs typeface="Trebuchet MS"/>
              <a:sym typeface="Trebuchet MS"/>
            </a:endParaRPr>
          </a:p>
        </p:txBody>
      </p:sp>
      <p:sp>
        <p:nvSpPr>
          <p:cNvPr id="228" name="Google Shape;228;p25"/>
          <p:cNvSpPr txBox="1"/>
          <p:nvPr/>
        </p:nvSpPr>
        <p:spPr>
          <a:xfrm>
            <a:off x="781900" y="1056029"/>
            <a:ext cx="924000" cy="44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latin typeface="Trebuchet MS"/>
              <a:ea typeface="Trebuchet MS"/>
              <a:cs typeface="Trebuchet MS"/>
              <a:sym typeface="Trebuchet MS"/>
            </a:endParaRPr>
          </a:p>
        </p:txBody>
      </p:sp>
      <p:sp>
        <p:nvSpPr>
          <p:cNvPr id="229" name="Google Shape;229;p25"/>
          <p:cNvSpPr txBox="1"/>
          <p:nvPr/>
        </p:nvSpPr>
        <p:spPr>
          <a:xfrm>
            <a:off x="142947" y="269750"/>
            <a:ext cx="4166100" cy="589800"/>
          </a:xfrm>
          <a:prstGeom prst="rect">
            <a:avLst/>
          </a:prstGeom>
          <a:noFill/>
          <a:ln>
            <a:noFill/>
          </a:ln>
        </p:spPr>
        <p:txBody>
          <a:bodyPr anchorCtr="0" anchor="ctr" bIns="91425" lIns="91425" spcFirstLastPara="1" rIns="91425" wrap="square" tIns="91425">
            <a:noAutofit/>
          </a:bodyPr>
          <a:lstStyle/>
          <a:p>
            <a:pPr indent="0" lvl="0" marL="0" rtl="0" algn="l">
              <a:lnSpc>
                <a:spcPct val="122500"/>
              </a:lnSpc>
              <a:spcBef>
                <a:spcPts val="1800"/>
              </a:spcBef>
              <a:spcAft>
                <a:spcPts val="400"/>
              </a:spcAft>
              <a:buNone/>
            </a:pPr>
            <a:r>
              <a:rPr b="1" lang="zh-CN" sz="3000">
                <a:solidFill>
                  <a:schemeClr val="dk1"/>
                </a:solidFill>
                <a:latin typeface="Trebuchet MS"/>
                <a:ea typeface="Trebuchet MS"/>
                <a:cs typeface="Trebuchet MS"/>
                <a:sym typeface="Trebuchet MS"/>
              </a:rPr>
              <a:t>Evaluation Reaults</a:t>
            </a:r>
            <a:endParaRPr b="1" sz="3000">
              <a:solidFill>
                <a:schemeClr val="dk1"/>
              </a:solidFill>
              <a:latin typeface="Trebuchet MS"/>
              <a:ea typeface="Trebuchet MS"/>
              <a:cs typeface="Trebuchet MS"/>
              <a:sym typeface="Trebuchet MS"/>
            </a:endParaRPr>
          </a:p>
        </p:txBody>
      </p:sp>
      <p:graphicFrame>
        <p:nvGraphicFramePr>
          <p:cNvPr id="230" name="Google Shape;230;p25"/>
          <p:cNvGraphicFramePr/>
          <p:nvPr/>
        </p:nvGraphicFramePr>
        <p:xfrm>
          <a:off x="193244" y="1019566"/>
          <a:ext cx="3000000" cy="3000000"/>
        </p:xfrm>
        <a:graphic>
          <a:graphicData uri="http://schemas.openxmlformats.org/drawingml/2006/table">
            <a:tbl>
              <a:tblPr>
                <a:solidFill>
                  <a:srgbClr val="FFFFFF"/>
                </a:solidFill>
                <a:tableStyleId>{00EA39ED-CEC4-4C0F-A5C9-E7E0E0D63DE0}</a:tableStyleId>
              </a:tblPr>
              <a:tblGrid>
                <a:gridCol w="1702200"/>
                <a:gridCol w="1198400"/>
                <a:gridCol w="1239050"/>
                <a:gridCol w="1157275"/>
                <a:gridCol w="1003825"/>
                <a:gridCol w="1282450"/>
                <a:gridCol w="1174300"/>
              </a:tblGrid>
              <a:tr h="100000">
                <a:tc>
                  <a:txBody>
                    <a:bodyPr/>
                    <a:lstStyle/>
                    <a:p>
                      <a:pPr indent="0" lvl="0" marL="0" rtl="0" algn="ctr">
                        <a:lnSpc>
                          <a:spcPct val="100000"/>
                        </a:lnSpc>
                        <a:spcBef>
                          <a:spcPts val="0"/>
                        </a:spcBef>
                        <a:spcAft>
                          <a:spcPts val="0"/>
                        </a:spcAft>
                        <a:buNone/>
                      </a:pPr>
                      <a:r>
                        <a:rPr b="1" lang="zh-CN" sz="1200">
                          <a:solidFill>
                            <a:srgbClr val="333333"/>
                          </a:solidFill>
                          <a:latin typeface="Trebuchet MS"/>
                          <a:ea typeface="Trebuchet MS"/>
                          <a:cs typeface="Trebuchet MS"/>
                          <a:sym typeface="Trebuchet MS"/>
                        </a:rPr>
                        <a:t>Task / Method</a:t>
                      </a:r>
                      <a:endParaRPr b="1"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b="1" lang="zh-CN" sz="1200">
                          <a:solidFill>
                            <a:srgbClr val="333333"/>
                          </a:solidFill>
                          <a:latin typeface="Trebuchet MS"/>
                          <a:ea typeface="Trebuchet MS"/>
                          <a:cs typeface="Trebuchet MS"/>
                          <a:sym typeface="Trebuchet MS"/>
                        </a:rPr>
                        <a:t>Draft Length</a:t>
                      </a:r>
                      <a:endParaRPr b="1"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b="1" lang="zh-CN" sz="1200">
                          <a:solidFill>
                            <a:srgbClr val="333333"/>
                          </a:solidFill>
                          <a:latin typeface="Trebuchet MS"/>
                          <a:ea typeface="Trebuchet MS"/>
                          <a:cs typeface="Trebuchet MS"/>
                          <a:sym typeface="Trebuchet MS"/>
                        </a:rPr>
                        <a:t>Draft Tokens</a:t>
                      </a:r>
                      <a:endParaRPr b="1"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b="1" lang="zh-CN" sz="1200">
                          <a:solidFill>
                            <a:srgbClr val="333333"/>
                          </a:solidFill>
                          <a:latin typeface="Trebuchet MS"/>
                          <a:ea typeface="Trebuchet MS"/>
                          <a:cs typeface="Trebuchet MS"/>
                          <a:sym typeface="Trebuchet MS"/>
                        </a:rPr>
                        <a:t>Accept Rate</a:t>
                      </a:r>
                      <a:endParaRPr b="1"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b="1" lang="zh-CN" sz="1200">
                          <a:solidFill>
                            <a:srgbClr val="333333"/>
                          </a:solidFill>
                          <a:latin typeface="Trebuchet MS"/>
                          <a:ea typeface="Trebuchet MS"/>
                          <a:cs typeface="Trebuchet MS"/>
                          <a:sym typeface="Trebuchet MS"/>
                        </a:rPr>
                        <a:t>Total NAVs</a:t>
                      </a:r>
                      <a:endParaRPr b="1"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b="1" lang="zh-CN" sz="1200">
                          <a:solidFill>
                            <a:srgbClr val="333333"/>
                          </a:solidFill>
                          <a:latin typeface="Trebuchet MS"/>
                          <a:ea typeface="Trebuchet MS"/>
                          <a:cs typeface="Trebuchet MS"/>
                          <a:sym typeface="Trebuchet MS"/>
                        </a:rPr>
                        <a:t>Rollback Rate</a:t>
                      </a:r>
                      <a:endParaRPr b="1"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b="1" lang="zh-CN" sz="1200">
                          <a:solidFill>
                            <a:srgbClr val="333333"/>
                          </a:solidFill>
                          <a:latin typeface="Trebuchet MS"/>
                          <a:ea typeface="Trebuchet MS"/>
                          <a:cs typeface="Trebuchet MS"/>
                          <a:sym typeface="Trebuchet MS"/>
                        </a:rPr>
                        <a:t>Discard Rate</a:t>
                      </a:r>
                      <a:endParaRPr b="1"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r>
              <a:tr h="100000">
                <a:tc>
                  <a:txBody>
                    <a:bodyPr/>
                    <a:lstStyle/>
                    <a:p>
                      <a:pPr indent="0" lvl="0" marL="0" rtl="0" algn="ctr">
                        <a:lnSpc>
                          <a:spcPct val="100000"/>
                        </a:lnSpc>
                        <a:spcBef>
                          <a:spcPts val="0"/>
                        </a:spcBef>
                        <a:spcAft>
                          <a:spcPts val="0"/>
                        </a:spcAft>
                        <a:buNone/>
                      </a:pPr>
                      <a:r>
                        <a:rPr lang="zh-CN" sz="1200">
                          <a:solidFill>
                            <a:srgbClr val="333333"/>
                          </a:solidFill>
                          <a:latin typeface="Trebuchet MS"/>
                          <a:ea typeface="Trebuchet MS"/>
                          <a:cs typeface="Trebuchet MS"/>
                          <a:sym typeface="Trebuchet MS"/>
                        </a:rPr>
                        <a:t>HumanEval Vanilla</a:t>
                      </a:r>
                      <a:endParaRPr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zh-CN" sz="1200">
                          <a:solidFill>
                            <a:srgbClr val="333333"/>
                          </a:solidFill>
                          <a:latin typeface="Trebuchet MS"/>
                          <a:ea typeface="Trebuchet MS"/>
                          <a:cs typeface="Trebuchet MS"/>
                          <a:sym typeface="Trebuchet MS"/>
                        </a:rPr>
                        <a:t>5.881</a:t>
                      </a:r>
                      <a:endParaRPr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zh-CN" sz="1200">
                          <a:solidFill>
                            <a:srgbClr val="333333"/>
                          </a:solidFill>
                          <a:latin typeface="Trebuchet MS"/>
                          <a:ea typeface="Trebuchet MS"/>
                          <a:cs typeface="Trebuchet MS"/>
                          <a:sym typeface="Trebuchet MS"/>
                        </a:rPr>
                        <a:t>1388</a:t>
                      </a:r>
                      <a:endParaRPr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zh-CN" sz="1200">
                          <a:solidFill>
                            <a:srgbClr val="333333"/>
                          </a:solidFill>
                          <a:latin typeface="Trebuchet MS"/>
                          <a:ea typeface="Trebuchet MS"/>
                          <a:cs typeface="Trebuchet MS"/>
                          <a:sym typeface="Trebuchet MS"/>
                        </a:rPr>
                        <a:t>72.0%</a:t>
                      </a:r>
                      <a:endParaRPr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zh-CN" sz="1200">
                          <a:solidFill>
                            <a:srgbClr val="333333"/>
                          </a:solidFill>
                          <a:latin typeface="Trebuchet MS"/>
                          <a:ea typeface="Trebuchet MS"/>
                          <a:cs typeface="Trebuchet MS"/>
                          <a:sym typeface="Trebuchet MS"/>
                        </a:rPr>
                        <a:t>236</a:t>
                      </a:r>
                      <a:endParaRPr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zh-CN" sz="1200">
                          <a:solidFill>
                            <a:srgbClr val="333333"/>
                          </a:solidFill>
                          <a:latin typeface="Trebuchet MS"/>
                          <a:ea typeface="Trebuchet MS"/>
                          <a:cs typeface="Trebuchet MS"/>
                          <a:sym typeface="Trebuchet MS"/>
                        </a:rPr>
                        <a:t>42.8%</a:t>
                      </a:r>
                      <a:endParaRPr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zh-CN" sz="1200">
                          <a:solidFill>
                            <a:srgbClr val="333333"/>
                          </a:solidFill>
                          <a:latin typeface="Trebuchet MS"/>
                          <a:ea typeface="Trebuchet MS"/>
                          <a:cs typeface="Trebuchet MS"/>
                          <a:sym typeface="Trebuchet MS"/>
                        </a:rPr>
                        <a:t>—</a:t>
                      </a:r>
                      <a:endParaRPr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r>
              <a:tr h="100000">
                <a:tc>
                  <a:txBody>
                    <a:bodyPr/>
                    <a:lstStyle/>
                    <a:p>
                      <a:pPr indent="0" lvl="0" marL="0" rtl="0" algn="ctr">
                        <a:lnSpc>
                          <a:spcPct val="100000"/>
                        </a:lnSpc>
                        <a:spcBef>
                          <a:spcPts val="0"/>
                        </a:spcBef>
                        <a:spcAft>
                          <a:spcPts val="0"/>
                        </a:spcAft>
                        <a:buNone/>
                      </a:pPr>
                      <a:r>
                        <a:rPr lang="zh-CN" sz="1200">
                          <a:solidFill>
                            <a:srgbClr val="333333"/>
                          </a:solidFill>
                          <a:latin typeface="Trebuchet MS"/>
                          <a:ea typeface="Trebuchet MS"/>
                          <a:cs typeface="Trebuchet MS"/>
                          <a:sym typeface="Trebuchet MS"/>
                        </a:rPr>
                        <a:t>HumanEval HSL</a:t>
                      </a:r>
                      <a:endParaRPr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zh-CN" sz="1200">
                          <a:solidFill>
                            <a:srgbClr val="333333"/>
                          </a:solidFill>
                          <a:latin typeface="Trebuchet MS"/>
                          <a:ea typeface="Trebuchet MS"/>
                          <a:cs typeface="Trebuchet MS"/>
                          <a:sym typeface="Trebuchet MS"/>
                        </a:rPr>
                        <a:t>2.955</a:t>
                      </a:r>
                      <a:endParaRPr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zh-CN" sz="1200">
                          <a:solidFill>
                            <a:srgbClr val="333333"/>
                          </a:solidFill>
                          <a:latin typeface="Trebuchet MS"/>
                          <a:ea typeface="Trebuchet MS"/>
                          <a:cs typeface="Trebuchet MS"/>
                          <a:sym typeface="Trebuchet MS"/>
                        </a:rPr>
                        <a:t>1052</a:t>
                      </a:r>
                      <a:endParaRPr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zh-CN" sz="1200">
                          <a:solidFill>
                            <a:srgbClr val="333333"/>
                          </a:solidFill>
                          <a:latin typeface="Trebuchet MS"/>
                          <a:ea typeface="Trebuchet MS"/>
                          <a:cs typeface="Trebuchet MS"/>
                          <a:sym typeface="Trebuchet MS"/>
                        </a:rPr>
                        <a:t>95.1%</a:t>
                      </a:r>
                      <a:endParaRPr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zh-CN" sz="1200">
                          <a:solidFill>
                            <a:srgbClr val="333333"/>
                          </a:solidFill>
                          <a:latin typeface="Trebuchet MS"/>
                          <a:ea typeface="Trebuchet MS"/>
                          <a:cs typeface="Trebuchet MS"/>
                          <a:sym typeface="Trebuchet MS"/>
                        </a:rPr>
                        <a:t>356</a:t>
                      </a:r>
                      <a:endParaRPr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zh-CN" sz="1200">
                          <a:solidFill>
                            <a:srgbClr val="333333"/>
                          </a:solidFill>
                          <a:latin typeface="Trebuchet MS"/>
                          <a:ea typeface="Trebuchet MS"/>
                          <a:cs typeface="Trebuchet MS"/>
                          <a:sym typeface="Trebuchet MS"/>
                        </a:rPr>
                        <a:t>14.3%</a:t>
                      </a:r>
                      <a:endParaRPr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zh-CN" sz="1200">
                          <a:solidFill>
                            <a:srgbClr val="333333"/>
                          </a:solidFill>
                          <a:latin typeface="Trebuchet MS"/>
                          <a:ea typeface="Trebuchet MS"/>
                          <a:cs typeface="Trebuchet MS"/>
                          <a:sym typeface="Trebuchet MS"/>
                        </a:rPr>
                        <a:t>—</a:t>
                      </a:r>
                      <a:endParaRPr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r>
              <a:tr h="100000">
                <a:tc>
                  <a:txBody>
                    <a:bodyPr/>
                    <a:lstStyle/>
                    <a:p>
                      <a:pPr indent="0" lvl="0" marL="0" rtl="0" algn="ctr">
                        <a:lnSpc>
                          <a:spcPct val="100000"/>
                        </a:lnSpc>
                        <a:spcBef>
                          <a:spcPts val="0"/>
                        </a:spcBef>
                        <a:spcAft>
                          <a:spcPts val="0"/>
                        </a:spcAft>
                        <a:buNone/>
                      </a:pPr>
                      <a:r>
                        <a:rPr lang="zh-CN" sz="1200">
                          <a:solidFill>
                            <a:srgbClr val="333333"/>
                          </a:solidFill>
                          <a:latin typeface="Trebuchet MS"/>
                          <a:ea typeface="Trebuchet MS"/>
                          <a:cs typeface="Trebuchet MS"/>
                          <a:sym typeface="Trebuchet MS"/>
                        </a:rPr>
                        <a:t>HumanEval EdgeLLM</a:t>
                      </a:r>
                      <a:endParaRPr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zh-CN" sz="1200">
                          <a:solidFill>
                            <a:srgbClr val="333333"/>
                          </a:solidFill>
                          <a:latin typeface="Trebuchet MS"/>
                          <a:ea typeface="Trebuchet MS"/>
                          <a:cs typeface="Trebuchet MS"/>
                          <a:sym typeface="Trebuchet MS"/>
                        </a:rPr>
                        <a:t>2.597</a:t>
                      </a:r>
                      <a:endParaRPr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zh-CN" sz="1200">
                          <a:solidFill>
                            <a:srgbClr val="333333"/>
                          </a:solidFill>
                          <a:latin typeface="Trebuchet MS"/>
                          <a:ea typeface="Trebuchet MS"/>
                          <a:cs typeface="Trebuchet MS"/>
                          <a:sym typeface="Trebuchet MS"/>
                        </a:rPr>
                        <a:t>1496</a:t>
                      </a:r>
                      <a:endParaRPr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zh-CN" sz="1200">
                          <a:solidFill>
                            <a:srgbClr val="333333"/>
                          </a:solidFill>
                          <a:latin typeface="Trebuchet MS"/>
                          <a:ea typeface="Trebuchet MS"/>
                          <a:cs typeface="Trebuchet MS"/>
                          <a:sym typeface="Trebuchet MS"/>
                        </a:rPr>
                        <a:t>66.8%</a:t>
                      </a:r>
                      <a:endParaRPr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zh-CN" sz="1200">
                          <a:solidFill>
                            <a:srgbClr val="333333"/>
                          </a:solidFill>
                          <a:latin typeface="Trebuchet MS"/>
                          <a:ea typeface="Trebuchet MS"/>
                          <a:cs typeface="Trebuchet MS"/>
                          <a:sym typeface="Trebuchet MS"/>
                        </a:rPr>
                        <a:t>576</a:t>
                      </a:r>
                      <a:endParaRPr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zh-CN" sz="1200">
                          <a:solidFill>
                            <a:srgbClr val="333333"/>
                          </a:solidFill>
                          <a:latin typeface="Trebuchet MS"/>
                          <a:ea typeface="Trebuchet MS"/>
                          <a:cs typeface="Trebuchet MS"/>
                          <a:sym typeface="Trebuchet MS"/>
                        </a:rPr>
                        <a:t>11.5%</a:t>
                      </a:r>
                      <a:endParaRPr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zh-CN" sz="1200">
                          <a:solidFill>
                            <a:srgbClr val="333333"/>
                          </a:solidFill>
                          <a:latin typeface="Trebuchet MS"/>
                          <a:ea typeface="Trebuchet MS"/>
                          <a:cs typeface="Trebuchet MS"/>
                          <a:sym typeface="Trebuchet MS"/>
                        </a:rPr>
                        <a:t>46.9%</a:t>
                      </a:r>
                      <a:endParaRPr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r>
              <a:tr h="100000">
                <a:tc>
                  <a:txBody>
                    <a:bodyPr/>
                    <a:lstStyle/>
                    <a:p>
                      <a:pPr indent="0" lvl="0" marL="0" rtl="0" algn="ctr">
                        <a:lnSpc>
                          <a:spcPct val="100000"/>
                        </a:lnSpc>
                        <a:spcBef>
                          <a:spcPts val="0"/>
                        </a:spcBef>
                        <a:spcAft>
                          <a:spcPts val="0"/>
                        </a:spcAft>
                        <a:buNone/>
                      </a:pPr>
                      <a:r>
                        <a:rPr lang="zh-CN" sz="1200" u="sng">
                          <a:solidFill>
                            <a:srgbClr val="FF0000"/>
                          </a:solidFill>
                          <a:latin typeface="Trebuchet MS"/>
                          <a:ea typeface="Trebuchet MS"/>
                          <a:cs typeface="Trebuchet MS"/>
                          <a:sym typeface="Trebuchet MS"/>
                        </a:rPr>
                        <a:t>HumanEval PipeSD</a:t>
                      </a:r>
                      <a:endParaRPr sz="1200" u="sng">
                        <a:solidFill>
                          <a:srgbClr val="FF0000"/>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zh-CN" sz="1200" u="sng">
                          <a:solidFill>
                            <a:srgbClr val="FF0000"/>
                          </a:solidFill>
                          <a:latin typeface="Trebuchet MS"/>
                          <a:ea typeface="Trebuchet MS"/>
                          <a:cs typeface="Trebuchet MS"/>
                          <a:sym typeface="Trebuchet MS"/>
                        </a:rPr>
                        <a:t>5.279</a:t>
                      </a:r>
                      <a:endParaRPr sz="1200" u="sng">
                        <a:solidFill>
                          <a:srgbClr val="FF0000"/>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zh-CN" sz="1200" u="sng">
                          <a:solidFill>
                            <a:srgbClr val="FF0000"/>
                          </a:solidFill>
                          <a:latin typeface="Trebuchet MS"/>
                          <a:ea typeface="Trebuchet MS"/>
                          <a:cs typeface="Trebuchet MS"/>
                          <a:sym typeface="Trebuchet MS"/>
                        </a:rPr>
                        <a:t>1077</a:t>
                      </a:r>
                      <a:endParaRPr sz="1200" u="sng">
                        <a:solidFill>
                          <a:srgbClr val="FF0000"/>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zh-CN" sz="1200" u="sng">
                          <a:solidFill>
                            <a:srgbClr val="FF0000"/>
                          </a:solidFill>
                          <a:latin typeface="Trebuchet MS"/>
                          <a:ea typeface="Trebuchet MS"/>
                          <a:cs typeface="Trebuchet MS"/>
                          <a:sym typeface="Trebuchet MS"/>
                        </a:rPr>
                        <a:t>92.9%</a:t>
                      </a:r>
                      <a:endParaRPr sz="1200" u="sng">
                        <a:solidFill>
                          <a:srgbClr val="FF0000"/>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zh-CN" sz="1200" u="sng">
                          <a:solidFill>
                            <a:srgbClr val="FF0000"/>
                          </a:solidFill>
                          <a:latin typeface="Trebuchet MS"/>
                          <a:ea typeface="Trebuchet MS"/>
                          <a:cs typeface="Trebuchet MS"/>
                          <a:sym typeface="Trebuchet MS"/>
                        </a:rPr>
                        <a:t>204</a:t>
                      </a:r>
                      <a:endParaRPr sz="1200" u="sng">
                        <a:solidFill>
                          <a:srgbClr val="FF0000"/>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zh-CN" sz="1200" u="sng">
                          <a:solidFill>
                            <a:srgbClr val="FF0000"/>
                          </a:solidFill>
                          <a:latin typeface="Trebuchet MS"/>
                          <a:ea typeface="Trebuchet MS"/>
                          <a:cs typeface="Trebuchet MS"/>
                          <a:sym typeface="Trebuchet MS"/>
                        </a:rPr>
                        <a:t>24.0%</a:t>
                      </a:r>
                      <a:endParaRPr sz="1200" u="sng">
                        <a:solidFill>
                          <a:srgbClr val="FF0000"/>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zh-CN" sz="1200" u="sng">
                          <a:solidFill>
                            <a:srgbClr val="FF0000"/>
                          </a:solidFill>
                          <a:latin typeface="Trebuchet MS"/>
                          <a:ea typeface="Trebuchet MS"/>
                          <a:cs typeface="Trebuchet MS"/>
                          <a:sym typeface="Trebuchet MS"/>
                        </a:rPr>
                        <a:t>25.9%</a:t>
                      </a:r>
                      <a:endParaRPr sz="1200" u="sng">
                        <a:solidFill>
                          <a:srgbClr val="FF0000"/>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r>
              <a:tr h="100000">
                <a:tc>
                  <a:txBody>
                    <a:bodyPr/>
                    <a:lstStyle/>
                    <a:p>
                      <a:pPr indent="0" lvl="0" marL="0" rtl="0" algn="ctr">
                        <a:lnSpc>
                          <a:spcPct val="100000"/>
                        </a:lnSpc>
                        <a:spcBef>
                          <a:spcPts val="0"/>
                        </a:spcBef>
                        <a:spcAft>
                          <a:spcPts val="0"/>
                        </a:spcAft>
                        <a:buNone/>
                      </a:pPr>
                      <a:r>
                        <a:rPr lang="zh-CN" sz="1200">
                          <a:solidFill>
                            <a:srgbClr val="333333"/>
                          </a:solidFill>
                          <a:latin typeface="Trebuchet MS"/>
                          <a:ea typeface="Trebuchet MS"/>
                          <a:cs typeface="Trebuchet MS"/>
                          <a:sym typeface="Trebuchet MS"/>
                        </a:rPr>
                        <a:t>GSM8K Vanilla</a:t>
                      </a:r>
                      <a:endParaRPr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zh-CN" sz="1200">
                          <a:solidFill>
                            <a:srgbClr val="333333"/>
                          </a:solidFill>
                          <a:latin typeface="Trebuchet MS"/>
                          <a:ea typeface="Trebuchet MS"/>
                          <a:cs typeface="Trebuchet MS"/>
                          <a:sym typeface="Trebuchet MS"/>
                        </a:rPr>
                        <a:t>3.797</a:t>
                      </a:r>
                      <a:endParaRPr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zh-CN" sz="1200">
                          <a:solidFill>
                            <a:srgbClr val="333333"/>
                          </a:solidFill>
                          <a:latin typeface="Trebuchet MS"/>
                          <a:ea typeface="Trebuchet MS"/>
                          <a:cs typeface="Trebuchet MS"/>
                          <a:sym typeface="Trebuchet MS"/>
                        </a:rPr>
                        <a:t>1815</a:t>
                      </a:r>
                      <a:endParaRPr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zh-CN" sz="1200">
                          <a:solidFill>
                            <a:srgbClr val="333333"/>
                          </a:solidFill>
                          <a:latin typeface="Trebuchet MS"/>
                          <a:ea typeface="Trebuchet MS"/>
                          <a:cs typeface="Trebuchet MS"/>
                          <a:sym typeface="Trebuchet MS"/>
                        </a:rPr>
                        <a:t>55.1%</a:t>
                      </a:r>
                      <a:endParaRPr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zh-CN" sz="1200">
                          <a:solidFill>
                            <a:srgbClr val="333333"/>
                          </a:solidFill>
                          <a:latin typeface="Trebuchet MS"/>
                          <a:ea typeface="Trebuchet MS"/>
                          <a:cs typeface="Trebuchet MS"/>
                          <a:sym typeface="Trebuchet MS"/>
                        </a:rPr>
                        <a:t>478</a:t>
                      </a:r>
                      <a:endParaRPr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zh-CN" sz="1200">
                          <a:solidFill>
                            <a:srgbClr val="333333"/>
                          </a:solidFill>
                          <a:latin typeface="Trebuchet MS"/>
                          <a:ea typeface="Trebuchet MS"/>
                          <a:cs typeface="Trebuchet MS"/>
                          <a:sym typeface="Trebuchet MS"/>
                        </a:rPr>
                        <a:t>60.9%</a:t>
                      </a:r>
                      <a:endParaRPr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zh-CN" sz="1200">
                          <a:solidFill>
                            <a:srgbClr val="333333"/>
                          </a:solidFill>
                          <a:latin typeface="Trebuchet MS"/>
                          <a:ea typeface="Trebuchet MS"/>
                          <a:cs typeface="Trebuchet MS"/>
                          <a:sym typeface="Trebuchet MS"/>
                        </a:rPr>
                        <a:t>—</a:t>
                      </a:r>
                      <a:endParaRPr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r>
              <a:tr h="100000">
                <a:tc>
                  <a:txBody>
                    <a:bodyPr/>
                    <a:lstStyle/>
                    <a:p>
                      <a:pPr indent="0" lvl="0" marL="0" rtl="0" algn="ctr">
                        <a:lnSpc>
                          <a:spcPct val="100000"/>
                        </a:lnSpc>
                        <a:spcBef>
                          <a:spcPts val="0"/>
                        </a:spcBef>
                        <a:spcAft>
                          <a:spcPts val="0"/>
                        </a:spcAft>
                        <a:buNone/>
                      </a:pPr>
                      <a:r>
                        <a:rPr lang="zh-CN" sz="1200">
                          <a:solidFill>
                            <a:srgbClr val="333333"/>
                          </a:solidFill>
                          <a:latin typeface="Trebuchet MS"/>
                          <a:ea typeface="Trebuchet MS"/>
                          <a:cs typeface="Trebuchet MS"/>
                          <a:sym typeface="Trebuchet MS"/>
                        </a:rPr>
                        <a:t>GSM8K HSL</a:t>
                      </a:r>
                      <a:endParaRPr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zh-CN" sz="1200">
                          <a:solidFill>
                            <a:srgbClr val="333333"/>
                          </a:solidFill>
                          <a:latin typeface="Trebuchet MS"/>
                          <a:ea typeface="Trebuchet MS"/>
                          <a:cs typeface="Trebuchet MS"/>
                          <a:sym typeface="Trebuchet MS"/>
                        </a:rPr>
                        <a:t>2.998</a:t>
                      </a:r>
                      <a:endParaRPr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zh-CN" sz="1200">
                          <a:solidFill>
                            <a:srgbClr val="333333"/>
                          </a:solidFill>
                          <a:latin typeface="Trebuchet MS"/>
                          <a:ea typeface="Trebuchet MS"/>
                          <a:cs typeface="Trebuchet MS"/>
                          <a:sym typeface="Trebuchet MS"/>
                        </a:rPr>
                        <a:t>1361</a:t>
                      </a:r>
                      <a:endParaRPr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zh-CN" sz="1200">
                          <a:solidFill>
                            <a:srgbClr val="333333"/>
                          </a:solidFill>
                          <a:latin typeface="Trebuchet MS"/>
                          <a:ea typeface="Trebuchet MS"/>
                          <a:cs typeface="Trebuchet MS"/>
                          <a:sym typeface="Trebuchet MS"/>
                        </a:rPr>
                        <a:t>73.5%</a:t>
                      </a:r>
                      <a:endParaRPr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zh-CN" sz="1200">
                          <a:solidFill>
                            <a:srgbClr val="333333"/>
                          </a:solidFill>
                          <a:latin typeface="Trebuchet MS"/>
                          <a:ea typeface="Trebuchet MS"/>
                          <a:cs typeface="Trebuchet MS"/>
                          <a:sym typeface="Trebuchet MS"/>
                        </a:rPr>
                        <a:t>454</a:t>
                      </a:r>
                      <a:endParaRPr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zh-CN" sz="1200">
                          <a:solidFill>
                            <a:srgbClr val="333333"/>
                          </a:solidFill>
                          <a:latin typeface="Trebuchet MS"/>
                          <a:ea typeface="Trebuchet MS"/>
                          <a:cs typeface="Trebuchet MS"/>
                          <a:sym typeface="Trebuchet MS"/>
                        </a:rPr>
                        <a:t>46.5%</a:t>
                      </a:r>
                      <a:endParaRPr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zh-CN" sz="1200">
                          <a:solidFill>
                            <a:srgbClr val="333333"/>
                          </a:solidFill>
                          <a:latin typeface="Trebuchet MS"/>
                          <a:ea typeface="Trebuchet MS"/>
                          <a:cs typeface="Trebuchet MS"/>
                          <a:sym typeface="Trebuchet MS"/>
                        </a:rPr>
                        <a:t>—</a:t>
                      </a:r>
                      <a:endParaRPr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r>
              <a:tr h="100000">
                <a:tc>
                  <a:txBody>
                    <a:bodyPr/>
                    <a:lstStyle/>
                    <a:p>
                      <a:pPr indent="0" lvl="0" marL="0" rtl="0" algn="ctr">
                        <a:lnSpc>
                          <a:spcPct val="100000"/>
                        </a:lnSpc>
                        <a:spcBef>
                          <a:spcPts val="0"/>
                        </a:spcBef>
                        <a:spcAft>
                          <a:spcPts val="0"/>
                        </a:spcAft>
                        <a:buNone/>
                      </a:pPr>
                      <a:r>
                        <a:rPr lang="zh-CN" sz="1200">
                          <a:solidFill>
                            <a:srgbClr val="333333"/>
                          </a:solidFill>
                          <a:latin typeface="Trebuchet MS"/>
                          <a:ea typeface="Trebuchet MS"/>
                          <a:cs typeface="Trebuchet MS"/>
                          <a:sym typeface="Trebuchet MS"/>
                        </a:rPr>
                        <a:t>GSM8K EdgeLLM</a:t>
                      </a:r>
                      <a:endParaRPr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zh-CN" sz="1200">
                          <a:solidFill>
                            <a:srgbClr val="333333"/>
                          </a:solidFill>
                          <a:latin typeface="Trebuchet MS"/>
                          <a:ea typeface="Trebuchet MS"/>
                          <a:cs typeface="Trebuchet MS"/>
                          <a:sym typeface="Trebuchet MS"/>
                        </a:rPr>
                        <a:t>1.830</a:t>
                      </a:r>
                      <a:endParaRPr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zh-CN" sz="1200">
                          <a:solidFill>
                            <a:srgbClr val="333333"/>
                          </a:solidFill>
                          <a:latin typeface="Trebuchet MS"/>
                          <a:ea typeface="Trebuchet MS"/>
                          <a:cs typeface="Trebuchet MS"/>
                          <a:sym typeface="Trebuchet MS"/>
                        </a:rPr>
                        <a:t>1464</a:t>
                      </a:r>
                      <a:endParaRPr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zh-CN" sz="1200">
                          <a:solidFill>
                            <a:srgbClr val="333333"/>
                          </a:solidFill>
                          <a:latin typeface="Trebuchet MS"/>
                          <a:ea typeface="Trebuchet MS"/>
                          <a:cs typeface="Trebuchet MS"/>
                          <a:sym typeface="Trebuchet MS"/>
                        </a:rPr>
                        <a:t>68.3%</a:t>
                      </a:r>
                      <a:endParaRPr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zh-CN" sz="1200">
                          <a:solidFill>
                            <a:srgbClr val="333333"/>
                          </a:solidFill>
                          <a:latin typeface="Trebuchet MS"/>
                          <a:ea typeface="Trebuchet MS"/>
                          <a:cs typeface="Trebuchet MS"/>
                          <a:sym typeface="Trebuchet MS"/>
                        </a:rPr>
                        <a:t>800</a:t>
                      </a:r>
                      <a:endParaRPr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zh-CN" sz="1200">
                          <a:solidFill>
                            <a:srgbClr val="333333"/>
                          </a:solidFill>
                          <a:latin typeface="Trebuchet MS"/>
                          <a:ea typeface="Trebuchet MS"/>
                          <a:cs typeface="Trebuchet MS"/>
                          <a:sym typeface="Trebuchet MS"/>
                        </a:rPr>
                        <a:t>28.1%</a:t>
                      </a:r>
                      <a:endParaRPr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zh-CN" sz="1200">
                          <a:solidFill>
                            <a:srgbClr val="333333"/>
                          </a:solidFill>
                          <a:latin typeface="Trebuchet MS"/>
                          <a:ea typeface="Trebuchet MS"/>
                          <a:cs typeface="Trebuchet MS"/>
                          <a:sym typeface="Trebuchet MS"/>
                        </a:rPr>
                        <a:t>64.3%</a:t>
                      </a:r>
                      <a:endParaRPr sz="1200">
                        <a:solidFill>
                          <a:srgbClr val="333333"/>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r>
              <a:tr h="100000">
                <a:tc>
                  <a:txBody>
                    <a:bodyPr/>
                    <a:lstStyle/>
                    <a:p>
                      <a:pPr indent="0" lvl="0" marL="0" rtl="0" algn="ctr">
                        <a:lnSpc>
                          <a:spcPct val="100000"/>
                        </a:lnSpc>
                        <a:spcBef>
                          <a:spcPts val="0"/>
                        </a:spcBef>
                        <a:spcAft>
                          <a:spcPts val="0"/>
                        </a:spcAft>
                        <a:buNone/>
                      </a:pPr>
                      <a:r>
                        <a:rPr lang="zh-CN" sz="1200" u="sng">
                          <a:solidFill>
                            <a:srgbClr val="FF0000"/>
                          </a:solidFill>
                          <a:latin typeface="Trebuchet MS"/>
                          <a:ea typeface="Trebuchet MS"/>
                          <a:cs typeface="Trebuchet MS"/>
                          <a:sym typeface="Trebuchet MS"/>
                        </a:rPr>
                        <a:t>GSM8K PipeSD</a:t>
                      </a:r>
                      <a:endParaRPr sz="1200" u="sng">
                        <a:solidFill>
                          <a:srgbClr val="FF0000"/>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zh-CN" sz="1200" u="sng">
                          <a:solidFill>
                            <a:srgbClr val="FF0000"/>
                          </a:solidFill>
                          <a:latin typeface="Trebuchet MS"/>
                          <a:ea typeface="Trebuchet MS"/>
                          <a:cs typeface="Trebuchet MS"/>
                          <a:sym typeface="Trebuchet MS"/>
                        </a:rPr>
                        <a:t>2.995</a:t>
                      </a:r>
                      <a:endParaRPr sz="1200" u="sng">
                        <a:solidFill>
                          <a:srgbClr val="FF0000"/>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zh-CN" sz="1200" u="sng">
                          <a:solidFill>
                            <a:srgbClr val="FF0000"/>
                          </a:solidFill>
                          <a:latin typeface="Trebuchet MS"/>
                          <a:ea typeface="Trebuchet MS"/>
                          <a:cs typeface="Trebuchet MS"/>
                          <a:sym typeface="Trebuchet MS"/>
                        </a:rPr>
                        <a:t>1261</a:t>
                      </a:r>
                      <a:endParaRPr sz="1200" u="sng">
                        <a:solidFill>
                          <a:srgbClr val="FF0000"/>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zh-CN" sz="1200" u="sng">
                          <a:solidFill>
                            <a:srgbClr val="FF0000"/>
                          </a:solidFill>
                          <a:latin typeface="Trebuchet MS"/>
                          <a:ea typeface="Trebuchet MS"/>
                          <a:cs typeface="Trebuchet MS"/>
                          <a:sym typeface="Trebuchet MS"/>
                        </a:rPr>
                        <a:t>79.3%</a:t>
                      </a:r>
                      <a:endParaRPr sz="1200" u="sng">
                        <a:solidFill>
                          <a:srgbClr val="FF0000"/>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zh-CN" sz="1200" u="sng">
                          <a:solidFill>
                            <a:srgbClr val="FF0000"/>
                          </a:solidFill>
                          <a:latin typeface="Trebuchet MS"/>
                          <a:ea typeface="Trebuchet MS"/>
                          <a:cs typeface="Trebuchet MS"/>
                          <a:sym typeface="Trebuchet MS"/>
                        </a:rPr>
                        <a:t>421</a:t>
                      </a:r>
                      <a:endParaRPr sz="1200" u="sng">
                        <a:solidFill>
                          <a:srgbClr val="FF0000"/>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zh-CN" sz="1200" u="sng">
                          <a:solidFill>
                            <a:srgbClr val="FF0000"/>
                          </a:solidFill>
                          <a:latin typeface="Trebuchet MS"/>
                          <a:ea typeface="Trebuchet MS"/>
                          <a:cs typeface="Trebuchet MS"/>
                          <a:sym typeface="Trebuchet MS"/>
                        </a:rPr>
                        <a:t>46.3%</a:t>
                      </a:r>
                      <a:endParaRPr sz="1200" u="sng">
                        <a:solidFill>
                          <a:srgbClr val="FF0000"/>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zh-CN" sz="1200" u="sng">
                          <a:solidFill>
                            <a:srgbClr val="FF0000"/>
                          </a:solidFill>
                          <a:latin typeface="Trebuchet MS"/>
                          <a:ea typeface="Trebuchet MS"/>
                          <a:cs typeface="Trebuchet MS"/>
                          <a:sym typeface="Trebuchet MS"/>
                        </a:rPr>
                        <a:t>53.1%</a:t>
                      </a:r>
                      <a:endParaRPr sz="1200" u="sng">
                        <a:solidFill>
                          <a:srgbClr val="FF0000"/>
                        </a:solidFill>
                        <a:latin typeface="Trebuchet MS"/>
                        <a:ea typeface="Trebuchet MS"/>
                        <a:cs typeface="Trebuchet MS"/>
                        <a:sym typeface="Trebuchet MS"/>
                      </a:endParaRPr>
                    </a:p>
                  </a:txBody>
                  <a:tcPr marT="57150" marB="57150" marR="123825" marL="123825" anchor="ctr">
                    <a:lnL cap="flat" cmpd="sng" w="19050">
                      <a:solidFill>
                        <a:srgbClr val="1C4587"/>
                      </a:solidFill>
                      <a:prstDash val="solid"/>
                      <a:round/>
                      <a:headEnd len="sm" w="sm" type="none"/>
                      <a:tailEnd len="sm" w="sm" type="none"/>
                    </a:lnL>
                    <a:lnR cap="flat" cmpd="sng" w="19050">
                      <a:solidFill>
                        <a:srgbClr val="1C4587"/>
                      </a:solidFill>
                      <a:prstDash val="solid"/>
                      <a:round/>
                      <a:headEnd len="sm" w="sm" type="none"/>
                      <a:tailEnd len="sm" w="sm" type="none"/>
                    </a:lnR>
                    <a:lnT cap="flat" cmpd="sng" w="19050">
                      <a:solidFill>
                        <a:srgbClr val="1C4587"/>
                      </a:solidFill>
                      <a:prstDash val="solid"/>
                      <a:round/>
                      <a:headEnd len="sm" w="sm" type="none"/>
                      <a:tailEnd len="sm" w="sm" type="none"/>
                    </a:lnT>
                    <a:lnB cap="flat" cmpd="sng" w="19050">
                      <a:solidFill>
                        <a:srgbClr val="1C4587"/>
                      </a:solidFill>
                      <a:prstDash val="solid"/>
                      <a:round/>
                      <a:headEnd len="sm" w="sm" type="none"/>
                      <a:tailEnd len="sm" w="sm" type="none"/>
                    </a:lnB>
                  </a:tcPr>
                </a:tc>
              </a:tr>
            </a:tbl>
          </a:graphicData>
        </a:graphic>
      </p:graphicFrame>
      <p:sp>
        <p:nvSpPr>
          <p:cNvPr id="231" name="Google Shape;231;p25"/>
          <p:cNvSpPr/>
          <p:nvPr/>
        </p:nvSpPr>
        <p:spPr>
          <a:xfrm>
            <a:off x="190575" y="3817818"/>
            <a:ext cx="8757600" cy="846600"/>
          </a:xfrm>
          <a:prstGeom prst="roundRect">
            <a:avLst>
              <a:gd fmla="val 16667" name="adj"/>
            </a:avLst>
          </a:prstGeom>
          <a:solidFill>
            <a:schemeClr val="lt2"/>
          </a:solidFill>
          <a:ln cap="flat" cmpd="sng" w="19050">
            <a:solidFill>
              <a:srgbClr val="1C4587"/>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zh-CN" sz="1200">
                <a:solidFill>
                  <a:srgbClr val="333333"/>
                </a:solidFill>
                <a:latin typeface="Trebuchet MS"/>
                <a:ea typeface="Trebuchet MS"/>
                <a:cs typeface="Trebuchet MS"/>
                <a:sym typeface="Trebuchet MS"/>
              </a:rPr>
              <a:t>Rollback Rate</a:t>
            </a:r>
            <a:r>
              <a:rPr lang="zh-CN" sz="1200">
                <a:solidFill>
                  <a:srgbClr val="333333"/>
                </a:solidFill>
                <a:latin typeface="Trebuchet MS"/>
                <a:ea typeface="Trebuchet MS"/>
                <a:cs typeface="Trebuchet MS"/>
                <a:sym typeface="Trebuchet MS"/>
              </a:rPr>
              <a:t> is the number of NAV calls that reject at least one draft token divided by the total NAV count. It measures the fraction of NAV rounds with a rollback, not the fraction of rejected tokens. </a:t>
            </a:r>
            <a:endParaRPr sz="1200">
              <a:solidFill>
                <a:srgbClr val="333333"/>
              </a:solidFill>
              <a:latin typeface="Trebuchet MS"/>
              <a:ea typeface="Trebuchet MS"/>
              <a:cs typeface="Trebuchet MS"/>
              <a:sym typeface="Trebuchet MS"/>
            </a:endParaRPr>
          </a:p>
          <a:p>
            <a:pPr indent="0" lvl="0" marL="0" rtl="0" algn="l">
              <a:spcBef>
                <a:spcPts val="0"/>
              </a:spcBef>
              <a:spcAft>
                <a:spcPts val="0"/>
              </a:spcAft>
              <a:buNone/>
            </a:pPr>
            <a:r>
              <a:rPr b="1" lang="zh-CN" sz="1200">
                <a:solidFill>
                  <a:srgbClr val="333333"/>
                </a:solidFill>
                <a:latin typeface="Trebuchet MS"/>
                <a:ea typeface="Trebuchet MS"/>
                <a:cs typeface="Trebuchet MS"/>
                <a:sym typeface="Trebuchet MS"/>
              </a:rPr>
              <a:t>Discard Rate = Discard / (Promoted + Discard)</a:t>
            </a:r>
            <a:r>
              <a:rPr lang="zh-CN" sz="1200">
                <a:solidFill>
                  <a:srgbClr val="333333"/>
                </a:solidFill>
                <a:latin typeface="Trebuchet MS"/>
                <a:ea typeface="Trebuchet MS"/>
                <a:cs typeface="Trebuchet MS"/>
                <a:sym typeface="Trebuchet MS"/>
              </a:rPr>
              <a:t>, where Promoted denotes proactive tokens </a:t>
            </a:r>
            <a:r>
              <a:rPr lang="zh-CN" sz="1200">
                <a:solidFill>
                  <a:srgbClr val="1C4587"/>
                </a:solidFill>
                <a:latin typeface="Trebuchet MS"/>
                <a:ea typeface="Trebuchet MS"/>
                <a:cs typeface="Trebuchet MS"/>
                <a:sym typeface="Trebuchet MS"/>
              </a:rPr>
              <a:t>promoted</a:t>
            </a:r>
            <a:r>
              <a:rPr lang="zh-CN" sz="1200">
                <a:solidFill>
                  <a:srgbClr val="333333"/>
                </a:solidFill>
                <a:latin typeface="Trebuchet MS"/>
                <a:ea typeface="Trebuchet MS"/>
                <a:cs typeface="Trebuchet MS"/>
                <a:sym typeface="Trebuchet MS"/>
              </a:rPr>
              <a:t> to the next-round candidate, while Discard denotes proactive tokens </a:t>
            </a:r>
            <a:r>
              <a:rPr lang="zh-CN" sz="1200">
                <a:solidFill>
                  <a:srgbClr val="1C4587"/>
                </a:solidFill>
                <a:latin typeface="Trebuchet MS"/>
                <a:ea typeface="Trebuchet MS"/>
                <a:cs typeface="Trebuchet MS"/>
                <a:sym typeface="Trebuchet MS"/>
              </a:rPr>
              <a:t>invalidated</a:t>
            </a:r>
            <a:r>
              <a:rPr lang="zh-CN" sz="1200">
                <a:solidFill>
                  <a:srgbClr val="333333"/>
                </a:solidFill>
                <a:latin typeface="Trebuchet MS"/>
                <a:ea typeface="Trebuchet MS"/>
                <a:cs typeface="Trebuchet MS"/>
                <a:sym typeface="Trebuchet MS"/>
              </a:rPr>
              <a:t> by parent verification failure or an extra-token mismatch.</a:t>
            </a:r>
            <a:r>
              <a:rPr lang="zh-CN" sz="1200">
                <a:solidFill>
                  <a:schemeClr val="dk1"/>
                </a:solidFill>
                <a:latin typeface="Trebuchet MS"/>
                <a:ea typeface="Trebuchet MS"/>
                <a:cs typeface="Trebuchet MS"/>
                <a:sym typeface="Trebuchet MS"/>
              </a:rPr>
              <a:t> </a:t>
            </a:r>
            <a:endParaRPr sz="1300">
              <a:solidFill>
                <a:srgbClr val="333333"/>
              </a:solidFill>
              <a:latin typeface="Trebuchet MS"/>
              <a:ea typeface="Trebuchet MS"/>
              <a:cs typeface="Trebuchet MS"/>
              <a:sym typeface="Trebuchet M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6"/>
          <p:cNvSpPr/>
          <p:nvPr/>
        </p:nvSpPr>
        <p:spPr>
          <a:xfrm>
            <a:off x="0" y="864105"/>
            <a:ext cx="4329000" cy="42600"/>
          </a:xfrm>
          <a:prstGeom prst="rect">
            <a:avLst/>
          </a:prstGeom>
          <a:solidFill>
            <a:srgbClr val="1C458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37" name="Google Shape;237;p26"/>
          <p:cNvPicPr preferRelativeResize="0"/>
          <p:nvPr/>
        </p:nvPicPr>
        <p:blipFill>
          <a:blip r:embed="rId3">
            <a:alphaModFix/>
          </a:blip>
          <a:stretch>
            <a:fillRect/>
          </a:stretch>
        </p:blipFill>
        <p:spPr>
          <a:xfrm>
            <a:off x="6382038" y="152353"/>
            <a:ext cx="2649075" cy="732650"/>
          </a:xfrm>
          <a:prstGeom prst="rect">
            <a:avLst/>
          </a:prstGeom>
          <a:noFill/>
          <a:ln>
            <a:noFill/>
          </a:ln>
        </p:spPr>
      </p:pic>
      <p:sp>
        <p:nvSpPr>
          <p:cNvPr id="238" name="Google Shape;238;p26"/>
          <p:cNvSpPr/>
          <p:nvPr/>
        </p:nvSpPr>
        <p:spPr>
          <a:xfrm>
            <a:off x="0" y="4807975"/>
            <a:ext cx="9144000" cy="335400"/>
          </a:xfrm>
          <a:prstGeom prst="rect">
            <a:avLst/>
          </a:prstGeom>
          <a:solidFill>
            <a:srgbClr val="1C4587"/>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zh-CN" sz="1500">
                <a:solidFill>
                  <a:schemeClr val="lt2"/>
                </a:solidFill>
                <a:latin typeface="Trebuchet MS"/>
                <a:ea typeface="Trebuchet MS"/>
                <a:cs typeface="Trebuchet MS"/>
                <a:sym typeface="Trebuchet MS"/>
              </a:rPr>
              <a:t>  2026-7 · Jiale Wang · HUST</a:t>
            </a:r>
            <a:endParaRPr sz="1500">
              <a:solidFill>
                <a:schemeClr val="lt2"/>
              </a:solidFill>
              <a:latin typeface="Trebuchet MS"/>
              <a:ea typeface="Trebuchet MS"/>
              <a:cs typeface="Trebuchet MS"/>
              <a:sym typeface="Trebuchet MS"/>
            </a:endParaRPr>
          </a:p>
        </p:txBody>
      </p:sp>
      <p:sp>
        <p:nvSpPr>
          <p:cNvPr id="239" name="Google Shape;239;p26"/>
          <p:cNvSpPr txBox="1"/>
          <p:nvPr/>
        </p:nvSpPr>
        <p:spPr>
          <a:xfrm>
            <a:off x="142947" y="269750"/>
            <a:ext cx="4166100" cy="589800"/>
          </a:xfrm>
          <a:prstGeom prst="rect">
            <a:avLst/>
          </a:prstGeom>
          <a:noFill/>
          <a:ln>
            <a:noFill/>
          </a:ln>
        </p:spPr>
        <p:txBody>
          <a:bodyPr anchorCtr="0" anchor="ctr" bIns="91425" lIns="91425" spcFirstLastPara="1" rIns="91425" wrap="square" tIns="91425">
            <a:noAutofit/>
          </a:bodyPr>
          <a:lstStyle/>
          <a:p>
            <a:pPr indent="0" lvl="0" marL="0" rtl="0" algn="l">
              <a:lnSpc>
                <a:spcPct val="122500"/>
              </a:lnSpc>
              <a:spcBef>
                <a:spcPts val="1800"/>
              </a:spcBef>
              <a:spcAft>
                <a:spcPts val="400"/>
              </a:spcAft>
              <a:buNone/>
            </a:pPr>
            <a:r>
              <a:rPr b="1" lang="zh-CN" sz="3000">
                <a:solidFill>
                  <a:schemeClr val="dk1"/>
                </a:solidFill>
                <a:latin typeface="Trebuchet MS"/>
                <a:ea typeface="Trebuchet MS"/>
                <a:cs typeface="Trebuchet MS"/>
                <a:sym typeface="Trebuchet MS"/>
              </a:rPr>
              <a:t>Four Modes</a:t>
            </a:r>
            <a:endParaRPr b="1" sz="3000">
              <a:solidFill>
                <a:schemeClr val="dk1"/>
              </a:solidFill>
              <a:latin typeface="Trebuchet MS"/>
              <a:ea typeface="Trebuchet MS"/>
              <a:cs typeface="Trebuchet MS"/>
              <a:sym typeface="Trebuchet MS"/>
            </a:endParaRPr>
          </a:p>
        </p:txBody>
      </p:sp>
      <p:sp>
        <p:nvSpPr>
          <p:cNvPr id="240" name="Google Shape;240;p26"/>
          <p:cNvSpPr txBox="1"/>
          <p:nvPr/>
        </p:nvSpPr>
        <p:spPr>
          <a:xfrm>
            <a:off x="285738" y="911667"/>
            <a:ext cx="8572500" cy="174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zh-CN" sz="1300">
                <a:solidFill>
                  <a:srgbClr val="1C4587"/>
                </a:solidFill>
                <a:latin typeface="Trebuchet MS"/>
                <a:ea typeface="Trebuchet MS"/>
                <a:cs typeface="Trebuchet MS"/>
                <a:sym typeface="Trebuchet MS"/>
              </a:rPr>
              <a:t>Pure Cloud:</a:t>
            </a:r>
            <a:r>
              <a:rPr lang="zh-CN" sz="1300">
                <a:solidFill>
                  <a:srgbClr val="333333"/>
                </a:solidFill>
                <a:latin typeface="Trebuchet MS"/>
                <a:ea typeface="Trebuchet MS"/>
                <a:cs typeface="Trebuchet MS"/>
                <a:sym typeface="Trebuchet MS"/>
              </a:rPr>
              <a:t> </a:t>
            </a:r>
            <a:r>
              <a:rPr i="1" lang="zh-CN" sz="1300">
                <a:solidFill>
                  <a:srgbClr val="333333"/>
                </a:solidFill>
                <a:latin typeface="Trebuchet MS"/>
                <a:ea typeface="Trebuchet MS"/>
                <a:cs typeface="Trebuchet MS"/>
                <a:sym typeface="Trebuchet MS"/>
              </a:rPr>
              <a:t>The target model performs prompt prefill and full autoregressive decoding on one GPU without network transfer or NAV, and energy covers only this GPU computation.</a:t>
            </a:r>
            <a:r>
              <a:rPr lang="zh-CN" sz="1300">
                <a:solidFill>
                  <a:srgbClr val="333333"/>
                </a:solidFill>
                <a:latin typeface="Trebuchet MS"/>
                <a:ea typeface="Trebuchet MS"/>
                <a:cs typeface="Trebuchet MS"/>
                <a:sym typeface="Trebuchet MS"/>
              </a:rPr>
              <a:t> </a:t>
            </a:r>
            <a:br>
              <a:rPr lang="zh-CN" sz="1300">
                <a:solidFill>
                  <a:srgbClr val="333333"/>
                </a:solidFill>
                <a:latin typeface="Trebuchet MS"/>
                <a:ea typeface="Trebuchet MS"/>
                <a:cs typeface="Trebuchet MS"/>
                <a:sym typeface="Trebuchet MS"/>
              </a:rPr>
            </a:br>
            <a:r>
              <a:rPr b="1" lang="zh-CN" sz="1300">
                <a:solidFill>
                  <a:srgbClr val="1C4587"/>
                </a:solidFill>
                <a:latin typeface="Trebuchet MS"/>
                <a:ea typeface="Trebuchet MS"/>
                <a:cs typeface="Trebuchet MS"/>
                <a:sym typeface="Trebuchet MS"/>
              </a:rPr>
              <a:t>Pure Edge:</a:t>
            </a:r>
            <a:r>
              <a:rPr lang="zh-CN" sz="1300">
                <a:solidFill>
                  <a:srgbClr val="333333"/>
                </a:solidFill>
                <a:latin typeface="Trebuchet MS"/>
                <a:ea typeface="Trebuchet MS"/>
                <a:cs typeface="Trebuchet MS"/>
                <a:sym typeface="Trebuchet MS"/>
              </a:rPr>
              <a:t> </a:t>
            </a:r>
            <a:r>
              <a:rPr i="1" lang="zh-CN" sz="1300">
                <a:solidFill>
                  <a:srgbClr val="333333"/>
                </a:solidFill>
                <a:latin typeface="Trebuchet MS"/>
                <a:ea typeface="Trebuchet MS"/>
                <a:cs typeface="Trebuchet MS"/>
                <a:sym typeface="Trebuchet MS"/>
              </a:rPr>
              <a:t>The draft model performs standalone autoregressive decoding on the CPU without network, cloud, or NAV, while energy is unavailable due to missing RAPL access.</a:t>
            </a:r>
            <a:r>
              <a:rPr lang="zh-CN" sz="1300">
                <a:solidFill>
                  <a:srgbClr val="333333"/>
                </a:solidFill>
                <a:latin typeface="Trebuchet MS"/>
                <a:ea typeface="Trebuchet MS"/>
                <a:cs typeface="Trebuchet MS"/>
                <a:sym typeface="Trebuchet MS"/>
              </a:rPr>
              <a:t> </a:t>
            </a:r>
            <a:br>
              <a:rPr lang="zh-CN" sz="1300">
                <a:solidFill>
                  <a:srgbClr val="333333"/>
                </a:solidFill>
                <a:latin typeface="Trebuchet MS"/>
                <a:ea typeface="Trebuchet MS"/>
                <a:cs typeface="Trebuchet MS"/>
                <a:sym typeface="Trebuchet MS"/>
              </a:rPr>
            </a:br>
            <a:r>
              <a:rPr b="1" lang="zh-CN" sz="1300">
                <a:solidFill>
                  <a:srgbClr val="1C4587"/>
                </a:solidFill>
                <a:latin typeface="Trebuchet MS"/>
                <a:ea typeface="Trebuchet MS"/>
                <a:cs typeface="Trebuchet MS"/>
                <a:sym typeface="Trebuchet MS"/>
              </a:rPr>
              <a:t>Serial Edge-Cloud SD:</a:t>
            </a:r>
            <a:r>
              <a:rPr lang="zh-CN" sz="1300">
                <a:solidFill>
                  <a:srgbClr val="333333"/>
                </a:solidFill>
                <a:latin typeface="Trebuchet MS"/>
                <a:ea typeface="Trebuchet MS"/>
                <a:cs typeface="Trebuchet MS"/>
                <a:sym typeface="Trebuchet MS"/>
              </a:rPr>
              <a:t> </a:t>
            </a:r>
            <a:r>
              <a:rPr i="1" lang="zh-CN" sz="1300">
                <a:solidFill>
                  <a:srgbClr val="333333"/>
                </a:solidFill>
                <a:latin typeface="Trebuchet MS"/>
                <a:ea typeface="Trebuchet MS"/>
                <a:cs typeface="Trebuchet MS"/>
                <a:sym typeface="Trebuchet MS"/>
              </a:rPr>
              <a:t>The CPU draft generates and uploads each fixed window before the GPU target performs NAV sequentially, with energy covering cloud prefill and active NAV computation.</a:t>
            </a:r>
            <a:r>
              <a:rPr lang="zh-CN" sz="1300">
                <a:solidFill>
                  <a:srgbClr val="333333"/>
                </a:solidFill>
                <a:latin typeface="Trebuchet MS"/>
                <a:ea typeface="Trebuchet MS"/>
                <a:cs typeface="Trebuchet MS"/>
                <a:sym typeface="Trebuchet MS"/>
              </a:rPr>
              <a:t> </a:t>
            </a:r>
            <a:br>
              <a:rPr lang="zh-CN" sz="1300">
                <a:solidFill>
                  <a:srgbClr val="333333"/>
                </a:solidFill>
                <a:latin typeface="Trebuchet MS"/>
                <a:ea typeface="Trebuchet MS"/>
                <a:cs typeface="Trebuchet MS"/>
                <a:sym typeface="Trebuchet MS"/>
              </a:rPr>
            </a:br>
            <a:r>
              <a:rPr b="1" lang="zh-CN" sz="1300">
                <a:solidFill>
                  <a:srgbClr val="1C4587"/>
                </a:solidFill>
                <a:latin typeface="Trebuchet MS"/>
                <a:ea typeface="Trebuchet MS"/>
                <a:cs typeface="Trebuchet MS"/>
                <a:sym typeface="Trebuchet MS"/>
              </a:rPr>
              <a:t>PipeSD:</a:t>
            </a:r>
            <a:r>
              <a:rPr lang="zh-CN" sz="1300">
                <a:solidFill>
                  <a:srgbClr val="333333"/>
                </a:solidFill>
                <a:latin typeface="Trebuchet MS"/>
                <a:ea typeface="Trebuchet MS"/>
                <a:cs typeface="Trebuchet MS"/>
                <a:sym typeface="Trebuchet MS"/>
              </a:rPr>
              <a:t> </a:t>
            </a:r>
            <a:r>
              <a:rPr i="1" lang="zh-CN" sz="1300">
                <a:solidFill>
                  <a:srgbClr val="333333"/>
                </a:solidFill>
                <a:latin typeface="Trebuchet MS"/>
                <a:ea typeface="Trebuchet MS"/>
                <a:cs typeface="Trebuchet MS"/>
                <a:sym typeface="Trebuchet MS"/>
              </a:rPr>
              <a:t>PipeSD uses the same draft/target models and link, overlaps generation with DP-batched transfer, and continues drafting during NAV waits, with energy likewise covering cloud prefill and active NAV computation.</a:t>
            </a:r>
            <a:r>
              <a:rPr lang="zh-CN" sz="1300">
                <a:solidFill>
                  <a:srgbClr val="333333"/>
                </a:solidFill>
                <a:latin typeface="Trebuchet MS"/>
                <a:ea typeface="Trebuchet MS"/>
                <a:cs typeface="Trebuchet MS"/>
                <a:sym typeface="Trebuchet MS"/>
              </a:rPr>
              <a:t> </a:t>
            </a:r>
            <a:endParaRPr sz="1300">
              <a:solidFill>
                <a:srgbClr val="333333"/>
              </a:solidFill>
              <a:latin typeface="Trebuchet MS"/>
              <a:ea typeface="Trebuchet MS"/>
              <a:cs typeface="Trebuchet MS"/>
              <a:sym typeface="Trebuchet MS"/>
            </a:endParaRPr>
          </a:p>
        </p:txBody>
      </p:sp>
      <p:pic>
        <p:nvPicPr>
          <p:cNvPr id="241" name="Google Shape;241;p26" title="four_modes_performance_energy_horizontal.png"/>
          <p:cNvPicPr preferRelativeResize="0"/>
          <p:nvPr/>
        </p:nvPicPr>
        <p:blipFill>
          <a:blip r:embed="rId4">
            <a:alphaModFix/>
          </a:blip>
          <a:stretch>
            <a:fillRect/>
          </a:stretch>
        </p:blipFill>
        <p:spPr>
          <a:xfrm>
            <a:off x="1627716" y="2679127"/>
            <a:ext cx="5888573" cy="2058700"/>
          </a:xfrm>
          <a:prstGeom prst="rect">
            <a:avLst/>
          </a:prstGeom>
          <a:noFill/>
          <a:ln cap="flat" cmpd="sng" w="19050">
            <a:solidFill>
              <a:srgbClr val="1C4587"/>
            </a:solidFill>
            <a:prstDash val="dash"/>
            <a:round/>
            <a:headEnd len="sm" w="sm" type="none"/>
            <a:tailEnd len="sm" w="sm" type="none"/>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27"/>
          <p:cNvSpPr/>
          <p:nvPr/>
        </p:nvSpPr>
        <p:spPr>
          <a:xfrm>
            <a:off x="0" y="864105"/>
            <a:ext cx="4329000" cy="42600"/>
          </a:xfrm>
          <a:prstGeom prst="rect">
            <a:avLst/>
          </a:prstGeom>
          <a:solidFill>
            <a:srgbClr val="1C458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47" name="Google Shape;247;p27"/>
          <p:cNvPicPr preferRelativeResize="0"/>
          <p:nvPr/>
        </p:nvPicPr>
        <p:blipFill>
          <a:blip r:embed="rId3">
            <a:alphaModFix/>
          </a:blip>
          <a:stretch>
            <a:fillRect/>
          </a:stretch>
        </p:blipFill>
        <p:spPr>
          <a:xfrm>
            <a:off x="6382038" y="152353"/>
            <a:ext cx="2649075" cy="732650"/>
          </a:xfrm>
          <a:prstGeom prst="rect">
            <a:avLst/>
          </a:prstGeom>
          <a:noFill/>
          <a:ln>
            <a:noFill/>
          </a:ln>
        </p:spPr>
      </p:pic>
      <p:sp>
        <p:nvSpPr>
          <p:cNvPr id="248" name="Google Shape;248;p27"/>
          <p:cNvSpPr/>
          <p:nvPr/>
        </p:nvSpPr>
        <p:spPr>
          <a:xfrm>
            <a:off x="0" y="4807975"/>
            <a:ext cx="9144000" cy="335400"/>
          </a:xfrm>
          <a:prstGeom prst="rect">
            <a:avLst/>
          </a:prstGeom>
          <a:solidFill>
            <a:srgbClr val="1C4587"/>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zh-CN" sz="1500">
                <a:solidFill>
                  <a:schemeClr val="lt2"/>
                </a:solidFill>
                <a:latin typeface="Trebuchet MS"/>
                <a:ea typeface="Trebuchet MS"/>
                <a:cs typeface="Trebuchet MS"/>
                <a:sym typeface="Trebuchet MS"/>
              </a:rPr>
              <a:t>  2026-7 · Jiale Wang · HUST</a:t>
            </a:r>
            <a:endParaRPr sz="1500">
              <a:solidFill>
                <a:schemeClr val="lt2"/>
              </a:solidFill>
              <a:latin typeface="Trebuchet MS"/>
              <a:ea typeface="Trebuchet MS"/>
              <a:cs typeface="Trebuchet MS"/>
              <a:sym typeface="Trebuchet MS"/>
            </a:endParaRPr>
          </a:p>
        </p:txBody>
      </p:sp>
      <p:sp>
        <p:nvSpPr>
          <p:cNvPr id="249" name="Google Shape;249;p27"/>
          <p:cNvSpPr txBox="1"/>
          <p:nvPr/>
        </p:nvSpPr>
        <p:spPr>
          <a:xfrm>
            <a:off x="142947" y="269750"/>
            <a:ext cx="4166100" cy="589800"/>
          </a:xfrm>
          <a:prstGeom prst="rect">
            <a:avLst/>
          </a:prstGeom>
          <a:noFill/>
          <a:ln>
            <a:noFill/>
          </a:ln>
        </p:spPr>
        <p:txBody>
          <a:bodyPr anchorCtr="0" anchor="ctr" bIns="91425" lIns="91425" spcFirstLastPara="1" rIns="91425" wrap="square" tIns="91425">
            <a:noAutofit/>
          </a:bodyPr>
          <a:lstStyle/>
          <a:p>
            <a:pPr indent="0" lvl="0" marL="0" rtl="0" algn="l">
              <a:lnSpc>
                <a:spcPct val="122500"/>
              </a:lnSpc>
              <a:spcBef>
                <a:spcPts val="1800"/>
              </a:spcBef>
              <a:spcAft>
                <a:spcPts val="400"/>
              </a:spcAft>
              <a:buNone/>
            </a:pPr>
            <a:r>
              <a:rPr b="1" lang="zh-CN" sz="3000">
                <a:solidFill>
                  <a:schemeClr val="dk1"/>
                </a:solidFill>
                <a:latin typeface="Trebuchet MS"/>
                <a:ea typeface="Trebuchet MS"/>
                <a:cs typeface="Trebuchet MS"/>
                <a:sym typeface="Trebuchet MS"/>
              </a:rPr>
              <a:t>Plan</a:t>
            </a:r>
            <a:endParaRPr b="1" sz="3000">
              <a:solidFill>
                <a:schemeClr val="dk1"/>
              </a:solidFill>
              <a:latin typeface="Trebuchet MS"/>
              <a:ea typeface="Trebuchet MS"/>
              <a:cs typeface="Trebuchet MS"/>
              <a:sym typeface="Trebuchet MS"/>
            </a:endParaRPr>
          </a:p>
        </p:txBody>
      </p:sp>
      <p:grpSp>
        <p:nvGrpSpPr>
          <p:cNvPr id="250" name="Google Shape;250;p27"/>
          <p:cNvGrpSpPr/>
          <p:nvPr/>
        </p:nvGrpSpPr>
        <p:grpSpPr>
          <a:xfrm>
            <a:off x="-19102" y="1293391"/>
            <a:ext cx="9182202" cy="2766855"/>
            <a:chOff x="-11477" y="1270439"/>
            <a:chExt cx="9182202" cy="2766855"/>
          </a:xfrm>
        </p:grpSpPr>
        <p:grpSp>
          <p:nvGrpSpPr>
            <p:cNvPr id="251" name="Google Shape;251;p27"/>
            <p:cNvGrpSpPr/>
            <p:nvPr/>
          </p:nvGrpSpPr>
          <p:grpSpPr>
            <a:xfrm>
              <a:off x="281213" y="1955924"/>
              <a:ext cx="1055700" cy="1021200"/>
              <a:chOff x="791850" y="2001700"/>
              <a:chExt cx="1055700" cy="1021200"/>
            </a:xfrm>
          </p:grpSpPr>
          <p:sp>
            <p:nvSpPr>
              <p:cNvPr id="252" name="Google Shape;252;p27"/>
              <p:cNvSpPr/>
              <p:nvPr/>
            </p:nvSpPr>
            <p:spPr>
              <a:xfrm>
                <a:off x="952500" y="2146000"/>
                <a:ext cx="734400" cy="732600"/>
              </a:xfrm>
              <a:prstGeom prst="ellipse">
                <a:avLst/>
              </a:prstGeom>
              <a:solidFill>
                <a:srgbClr val="1C458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rebuchet MS"/>
                  <a:ea typeface="Trebuchet MS"/>
                  <a:cs typeface="Trebuchet MS"/>
                  <a:sym typeface="Trebuchet MS"/>
                </a:endParaRPr>
              </a:p>
            </p:txBody>
          </p:sp>
          <p:sp>
            <p:nvSpPr>
              <p:cNvPr id="253" name="Google Shape;253;p27"/>
              <p:cNvSpPr/>
              <p:nvPr/>
            </p:nvSpPr>
            <p:spPr>
              <a:xfrm>
                <a:off x="791850" y="2001700"/>
                <a:ext cx="1055700" cy="1021200"/>
              </a:xfrm>
              <a:prstGeom prst="ellipse">
                <a:avLst/>
              </a:prstGeom>
              <a:noFill/>
              <a:ln cap="flat" cmpd="sng" w="19050">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rebuchet MS"/>
                  <a:ea typeface="Trebuchet MS"/>
                  <a:cs typeface="Trebuchet MS"/>
                  <a:sym typeface="Trebuchet MS"/>
                </a:endParaRPr>
              </a:p>
            </p:txBody>
          </p:sp>
        </p:grpSp>
        <p:grpSp>
          <p:nvGrpSpPr>
            <p:cNvPr id="254" name="Google Shape;254;p27"/>
            <p:cNvGrpSpPr/>
            <p:nvPr/>
          </p:nvGrpSpPr>
          <p:grpSpPr>
            <a:xfrm>
              <a:off x="4049874" y="1270439"/>
              <a:ext cx="1055700" cy="1021200"/>
              <a:chOff x="791850" y="2001700"/>
              <a:chExt cx="1055700" cy="1021200"/>
            </a:xfrm>
          </p:grpSpPr>
          <p:sp>
            <p:nvSpPr>
              <p:cNvPr id="255" name="Google Shape;255;p27"/>
              <p:cNvSpPr/>
              <p:nvPr/>
            </p:nvSpPr>
            <p:spPr>
              <a:xfrm>
                <a:off x="952500" y="2146000"/>
                <a:ext cx="734400" cy="732600"/>
              </a:xfrm>
              <a:prstGeom prst="ellipse">
                <a:avLst/>
              </a:prstGeom>
              <a:solidFill>
                <a:srgbClr val="1C458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rebuchet MS"/>
                  <a:ea typeface="Trebuchet MS"/>
                  <a:cs typeface="Trebuchet MS"/>
                  <a:sym typeface="Trebuchet MS"/>
                </a:endParaRPr>
              </a:p>
            </p:txBody>
          </p:sp>
          <p:sp>
            <p:nvSpPr>
              <p:cNvPr id="256" name="Google Shape;256;p27"/>
              <p:cNvSpPr/>
              <p:nvPr/>
            </p:nvSpPr>
            <p:spPr>
              <a:xfrm>
                <a:off x="791850" y="2001700"/>
                <a:ext cx="1055700" cy="1021200"/>
              </a:xfrm>
              <a:prstGeom prst="ellipse">
                <a:avLst/>
              </a:prstGeom>
              <a:noFill/>
              <a:ln cap="flat" cmpd="sng" w="19050">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rebuchet MS"/>
                  <a:ea typeface="Trebuchet MS"/>
                  <a:cs typeface="Trebuchet MS"/>
                  <a:sym typeface="Trebuchet MS"/>
                </a:endParaRPr>
              </a:p>
            </p:txBody>
          </p:sp>
        </p:grpSp>
        <p:grpSp>
          <p:nvGrpSpPr>
            <p:cNvPr id="257" name="Google Shape;257;p27"/>
            <p:cNvGrpSpPr/>
            <p:nvPr/>
          </p:nvGrpSpPr>
          <p:grpSpPr>
            <a:xfrm>
              <a:off x="2102426" y="1579161"/>
              <a:ext cx="1055700" cy="1021200"/>
              <a:chOff x="791850" y="2001700"/>
              <a:chExt cx="1055700" cy="1021200"/>
            </a:xfrm>
          </p:grpSpPr>
          <p:sp>
            <p:nvSpPr>
              <p:cNvPr id="258" name="Google Shape;258;p27"/>
              <p:cNvSpPr/>
              <p:nvPr/>
            </p:nvSpPr>
            <p:spPr>
              <a:xfrm>
                <a:off x="952500" y="2146000"/>
                <a:ext cx="734400" cy="732600"/>
              </a:xfrm>
              <a:prstGeom prst="ellipse">
                <a:avLst/>
              </a:prstGeom>
              <a:solidFill>
                <a:srgbClr val="1C458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rebuchet MS"/>
                  <a:ea typeface="Trebuchet MS"/>
                  <a:cs typeface="Trebuchet MS"/>
                  <a:sym typeface="Trebuchet MS"/>
                </a:endParaRPr>
              </a:p>
            </p:txBody>
          </p:sp>
          <p:sp>
            <p:nvSpPr>
              <p:cNvPr id="259" name="Google Shape;259;p27"/>
              <p:cNvSpPr/>
              <p:nvPr/>
            </p:nvSpPr>
            <p:spPr>
              <a:xfrm>
                <a:off x="791850" y="2001700"/>
                <a:ext cx="1055700" cy="1021200"/>
              </a:xfrm>
              <a:prstGeom prst="ellipse">
                <a:avLst/>
              </a:prstGeom>
              <a:noFill/>
              <a:ln cap="flat" cmpd="sng" w="19050">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rebuchet MS"/>
                  <a:ea typeface="Trebuchet MS"/>
                  <a:cs typeface="Trebuchet MS"/>
                  <a:sym typeface="Trebuchet MS"/>
                </a:endParaRPr>
              </a:p>
            </p:txBody>
          </p:sp>
        </p:grpSp>
        <p:grpSp>
          <p:nvGrpSpPr>
            <p:cNvPr id="260" name="Google Shape;260;p27"/>
            <p:cNvGrpSpPr/>
            <p:nvPr/>
          </p:nvGrpSpPr>
          <p:grpSpPr>
            <a:xfrm>
              <a:off x="5871388" y="1934221"/>
              <a:ext cx="1055700" cy="1021200"/>
              <a:chOff x="791850" y="2001700"/>
              <a:chExt cx="1055700" cy="1021200"/>
            </a:xfrm>
          </p:grpSpPr>
          <p:sp>
            <p:nvSpPr>
              <p:cNvPr id="261" name="Google Shape;261;p27"/>
              <p:cNvSpPr/>
              <p:nvPr/>
            </p:nvSpPr>
            <p:spPr>
              <a:xfrm>
                <a:off x="952500" y="2146000"/>
                <a:ext cx="734400" cy="732600"/>
              </a:xfrm>
              <a:prstGeom prst="ellipse">
                <a:avLst/>
              </a:prstGeom>
              <a:solidFill>
                <a:srgbClr val="1C458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rebuchet MS"/>
                  <a:ea typeface="Trebuchet MS"/>
                  <a:cs typeface="Trebuchet MS"/>
                  <a:sym typeface="Trebuchet MS"/>
                </a:endParaRPr>
              </a:p>
            </p:txBody>
          </p:sp>
          <p:sp>
            <p:nvSpPr>
              <p:cNvPr id="262" name="Google Shape;262;p27"/>
              <p:cNvSpPr/>
              <p:nvPr/>
            </p:nvSpPr>
            <p:spPr>
              <a:xfrm>
                <a:off x="791850" y="2001700"/>
                <a:ext cx="1055700" cy="1021200"/>
              </a:xfrm>
              <a:prstGeom prst="ellipse">
                <a:avLst/>
              </a:prstGeom>
              <a:noFill/>
              <a:ln cap="flat" cmpd="sng" w="19050">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rebuchet MS"/>
                  <a:ea typeface="Trebuchet MS"/>
                  <a:cs typeface="Trebuchet MS"/>
                  <a:sym typeface="Trebuchet MS"/>
                </a:endParaRPr>
              </a:p>
            </p:txBody>
          </p:sp>
        </p:grpSp>
        <p:grpSp>
          <p:nvGrpSpPr>
            <p:cNvPr id="263" name="Google Shape;263;p27"/>
            <p:cNvGrpSpPr/>
            <p:nvPr/>
          </p:nvGrpSpPr>
          <p:grpSpPr>
            <a:xfrm>
              <a:off x="7726750" y="1417805"/>
              <a:ext cx="1055700" cy="1021200"/>
              <a:chOff x="7807081" y="1670275"/>
              <a:chExt cx="1055700" cy="1021200"/>
            </a:xfrm>
          </p:grpSpPr>
          <p:sp>
            <p:nvSpPr>
              <p:cNvPr id="264" name="Google Shape;264;p27"/>
              <p:cNvSpPr/>
              <p:nvPr/>
            </p:nvSpPr>
            <p:spPr>
              <a:xfrm>
                <a:off x="7807081" y="1670275"/>
                <a:ext cx="1055700" cy="1021200"/>
              </a:xfrm>
              <a:prstGeom prst="ellipse">
                <a:avLst/>
              </a:prstGeom>
              <a:noFill/>
              <a:ln cap="flat" cmpd="sng" w="19050">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rebuchet MS"/>
                  <a:ea typeface="Trebuchet MS"/>
                  <a:cs typeface="Trebuchet MS"/>
                  <a:sym typeface="Trebuchet MS"/>
                </a:endParaRPr>
              </a:p>
            </p:txBody>
          </p:sp>
          <p:sp>
            <p:nvSpPr>
              <p:cNvPr id="265" name="Google Shape;265;p27"/>
              <p:cNvSpPr/>
              <p:nvPr/>
            </p:nvSpPr>
            <p:spPr>
              <a:xfrm>
                <a:off x="7967731" y="1814575"/>
                <a:ext cx="734400" cy="732600"/>
              </a:xfrm>
              <a:prstGeom prst="ellipse">
                <a:avLst/>
              </a:prstGeom>
              <a:solidFill>
                <a:srgbClr val="E6913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rebuchet MS"/>
                  <a:ea typeface="Trebuchet MS"/>
                  <a:cs typeface="Trebuchet MS"/>
                  <a:sym typeface="Trebuchet MS"/>
                </a:endParaRPr>
              </a:p>
            </p:txBody>
          </p:sp>
        </p:grpSp>
        <p:sp>
          <p:nvSpPr>
            <p:cNvPr id="266" name="Google Shape;266;p27"/>
            <p:cNvSpPr txBox="1"/>
            <p:nvPr/>
          </p:nvSpPr>
          <p:spPr>
            <a:xfrm>
              <a:off x="407275" y="2077285"/>
              <a:ext cx="803400" cy="732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zh-CN" sz="4000">
                  <a:solidFill>
                    <a:schemeClr val="lt2"/>
                  </a:solidFill>
                  <a:latin typeface="Courier New"/>
                  <a:ea typeface="Courier New"/>
                  <a:cs typeface="Courier New"/>
                  <a:sym typeface="Courier New"/>
                </a:rPr>
                <a:t>1</a:t>
              </a:r>
              <a:endParaRPr b="1" sz="4000">
                <a:solidFill>
                  <a:schemeClr val="lt2"/>
                </a:solidFill>
                <a:latin typeface="Courier New"/>
                <a:ea typeface="Courier New"/>
                <a:cs typeface="Courier New"/>
                <a:sym typeface="Courier New"/>
              </a:endParaRPr>
            </a:p>
          </p:txBody>
        </p:sp>
        <p:sp>
          <p:nvSpPr>
            <p:cNvPr id="267" name="Google Shape;267;p27"/>
            <p:cNvSpPr txBox="1"/>
            <p:nvPr/>
          </p:nvSpPr>
          <p:spPr>
            <a:xfrm>
              <a:off x="2240051" y="1700508"/>
              <a:ext cx="803400" cy="732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zh-CN" sz="4000">
                  <a:solidFill>
                    <a:schemeClr val="lt2"/>
                  </a:solidFill>
                  <a:latin typeface="Courier New"/>
                  <a:ea typeface="Courier New"/>
                  <a:cs typeface="Courier New"/>
                  <a:sym typeface="Courier New"/>
                </a:rPr>
                <a:t>2</a:t>
              </a:r>
              <a:endParaRPr b="1" sz="4000">
                <a:solidFill>
                  <a:schemeClr val="lt2"/>
                </a:solidFill>
                <a:latin typeface="Courier New"/>
                <a:ea typeface="Courier New"/>
                <a:cs typeface="Courier New"/>
                <a:sym typeface="Courier New"/>
              </a:endParaRPr>
            </a:p>
          </p:txBody>
        </p:sp>
        <p:sp>
          <p:nvSpPr>
            <p:cNvPr id="268" name="Google Shape;268;p27"/>
            <p:cNvSpPr txBox="1"/>
            <p:nvPr/>
          </p:nvSpPr>
          <p:spPr>
            <a:xfrm>
              <a:off x="4170300" y="1403259"/>
              <a:ext cx="803400" cy="732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zh-CN" sz="4000">
                  <a:solidFill>
                    <a:schemeClr val="lt2"/>
                  </a:solidFill>
                  <a:latin typeface="Courier New"/>
                  <a:ea typeface="Courier New"/>
                  <a:cs typeface="Courier New"/>
                  <a:sym typeface="Courier New"/>
                </a:rPr>
                <a:t>3</a:t>
              </a:r>
              <a:endParaRPr b="1" sz="4000">
                <a:solidFill>
                  <a:schemeClr val="lt2"/>
                </a:solidFill>
                <a:latin typeface="Courier New"/>
                <a:ea typeface="Courier New"/>
                <a:cs typeface="Courier New"/>
                <a:sym typeface="Courier New"/>
              </a:endParaRPr>
            </a:p>
          </p:txBody>
        </p:sp>
        <p:sp>
          <p:nvSpPr>
            <p:cNvPr id="269" name="Google Shape;269;p27"/>
            <p:cNvSpPr txBox="1"/>
            <p:nvPr/>
          </p:nvSpPr>
          <p:spPr>
            <a:xfrm>
              <a:off x="5977212" y="2065807"/>
              <a:ext cx="803400" cy="732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zh-CN" sz="4000">
                  <a:solidFill>
                    <a:schemeClr val="lt2"/>
                  </a:solidFill>
                  <a:latin typeface="Courier New"/>
                  <a:ea typeface="Courier New"/>
                  <a:cs typeface="Courier New"/>
                  <a:sym typeface="Courier New"/>
                </a:rPr>
                <a:t>4</a:t>
              </a:r>
              <a:endParaRPr b="1" sz="4000">
                <a:solidFill>
                  <a:schemeClr val="lt2"/>
                </a:solidFill>
                <a:latin typeface="Courier New"/>
                <a:ea typeface="Courier New"/>
                <a:cs typeface="Courier New"/>
                <a:sym typeface="Courier New"/>
              </a:endParaRPr>
            </a:p>
          </p:txBody>
        </p:sp>
        <p:sp>
          <p:nvSpPr>
            <p:cNvPr id="270" name="Google Shape;270;p27"/>
            <p:cNvSpPr txBox="1"/>
            <p:nvPr/>
          </p:nvSpPr>
          <p:spPr>
            <a:xfrm>
              <a:off x="7864444" y="1562799"/>
              <a:ext cx="803400" cy="732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zh-CN" sz="4000">
                  <a:solidFill>
                    <a:schemeClr val="lt2"/>
                  </a:solidFill>
                  <a:latin typeface="Courier New"/>
                  <a:ea typeface="Courier New"/>
                  <a:cs typeface="Courier New"/>
                  <a:sym typeface="Courier New"/>
                </a:rPr>
                <a:t>5</a:t>
              </a:r>
              <a:endParaRPr b="1" sz="4000">
                <a:solidFill>
                  <a:schemeClr val="lt2"/>
                </a:solidFill>
                <a:latin typeface="Courier New"/>
                <a:ea typeface="Courier New"/>
                <a:cs typeface="Courier New"/>
                <a:sym typeface="Courier New"/>
              </a:endParaRPr>
            </a:p>
          </p:txBody>
        </p:sp>
        <p:cxnSp>
          <p:nvCxnSpPr>
            <p:cNvPr id="271" name="Google Shape;271;p27"/>
            <p:cNvCxnSpPr>
              <a:stCxn id="253" idx="6"/>
              <a:endCxn id="259" idx="2"/>
            </p:cNvCxnSpPr>
            <p:nvPr/>
          </p:nvCxnSpPr>
          <p:spPr>
            <a:xfrm flipH="1" rot="10800000">
              <a:off x="1336913" y="2089724"/>
              <a:ext cx="765600" cy="376800"/>
            </a:xfrm>
            <a:prstGeom prst="straightConnector1">
              <a:avLst/>
            </a:prstGeom>
            <a:noFill/>
            <a:ln cap="flat" cmpd="sng" w="38100">
              <a:solidFill>
                <a:srgbClr val="1C4587"/>
              </a:solidFill>
              <a:prstDash val="solid"/>
              <a:round/>
              <a:headEnd len="med" w="med" type="none"/>
              <a:tailEnd len="med" w="med" type="none"/>
            </a:ln>
          </p:spPr>
        </p:cxnSp>
        <p:cxnSp>
          <p:nvCxnSpPr>
            <p:cNvPr id="272" name="Google Shape;272;p27"/>
            <p:cNvCxnSpPr>
              <a:endCxn id="256" idx="2"/>
            </p:cNvCxnSpPr>
            <p:nvPr/>
          </p:nvCxnSpPr>
          <p:spPr>
            <a:xfrm flipH="1" rot="10800000">
              <a:off x="3158274" y="1781039"/>
              <a:ext cx="891600" cy="308700"/>
            </a:xfrm>
            <a:prstGeom prst="straightConnector1">
              <a:avLst/>
            </a:prstGeom>
            <a:noFill/>
            <a:ln cap="flat" cmpd="sng" w="38100">
              <a:solidFill>
                <a:srgbClr val="1C4587"/>
              </a:solidFill>
              <a:prstDash val="solid"/>
              <a:round/>
              <a:headEnd len="med" w="med" type="none"/>
              <a:tailEnd len="med" w="med" type="none"/>
            </a:ln>
          </p:spPr>
        </p:cxnSp>
        <p:cxnSp>
          <p:nvCxnSpPr>
            <p:cNvPr id="273" name="Google Shape;273;p27"/>
            <p:cNvCxnSpPr>
              <a:stCxn id="256" idx="6"/>
              <a:endCxn id="262" idx="2"/>
            </p:cNvCxnSpPr>
            <p:nvPr/>
          </p:nvCxnSpPr>
          <p:spPr>
            <a:xfrm>
              <a:off x="5105574" y="1781039"/>
              <a:ext cx="765900" cy="663900"/>
            </a:xfrm>
            <a:prstGeom prst="straightConnector1">
              <a:avLst/>
            </a:prstGeom>
            <a:noFill/>
            <a:ln cap="flat" cmpd="sng" w="38100">
              <a:solidFill>
                <a:srgbClr val="1C4587"/>
              </a:solidFill>
              <a:prstDash val="solid"/>
              <a:round/>
              <a:headEnd len="med" w="med" type="none"/>
              <a:tailEnd len="med" w="med" type="none"/>
            </a:ln>
          </p:spPr>
        </p:cxnSp>
        <p:cxnSp>
          <p:nvCxnSpPr>
            <p:cNvPr id="274" name="Google Shape;274;p27"/>
            <p:cNvCxnSpPr>
              <a:stCxn id="262" idx="6"/>
              <a:endCxn id="264" idx="2"/>
            </p:cNvCxnSpPr>
            <p:nvPr/>
          </p:nvCxnSpPr>
          <p:spPr>
            <a:xfrm flipH="1" rot="10800000">
              <a:off x="6927088" y="1928521"/>
              <a:ext cx="799800" cy="516300"/>
            </a:xfrm>
            <a:prstGeom prst="straightConnector1">
              <a:avLst/>
            </a:prstGeom>
            <a:noFill/>
            <a:ln cap="flat" cmpd="sng" w="38100">
              <a:solidFill>
                <a:srgbClr val="1C4587"/>
              </a:solidFill>
              <a:prstDash val="solid"/>
              <a:round/>
              <a:headEnd len="med" w="med" type="none"/>
              <a:tailEnd len="med" w="med" type="none"/>
            </a:ln>
          </p:spPr>
        </p:cxnSp>
        <p:sp>
          <p:nvSpPr>
            <p:cNvPr id="275" name="Google Shape;275;p27"/>
            <p:cNvSpPr txBox="1"/>
            <p:nvPr/>
          </p:nvSpPr>
          <p:spPr>
            <a:xfrm>
              <a:off x="11474" y="3052602"/>
              <a:ext cx="16296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zh-CN" sz="2000">
                  <a:solidFill>
                    <a:srgbClr val="1C4587"/>
                  </a:solidFill>
                  <a:latin typeface="Trebuchet MS"/>
                  <a:ea typeface="Trebuchet MS"/>
                  <a:cs typeface="Trebuchet MS"/>
                  <a:sym typeface="Trebuchet MS"/>
                </a:rPr>
                <a:t>ONLINE BO</a:t>
              </a:r>
              <a:endParaRPr b="1" sz="2000">
                <a:solidFill>
                  <a:srgbClr val="1C4587"/>
                </a:solidFill>
                <a:latin typeface="Trebuchet MS"/>
                <a:ea typeface="Trebuchet MS"/>
                <a:cs typeface="Trebuchet MS"/>
                <a:sym typeface="Trebuchet MS"/>
              </a:endParaRPr>
            </a:p>
          </p:txBody>
        </p:sp>
        <p:sp>
          <p:nvSpPr>
            <p:cNvPr id="276" name="Google Shape;276;p27"/>
            <p:cNvSpPr txBox="1"/>
            <p:nvPr/>
          </p:nvSpPr>
          <p:spPr>
            <a:xfrm>
              <a:off x="1529497" y="2664677"/>
              <a:ext cx="22461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zh-CN" sz="2000">
                  <a:solidFill>
                    <a:srgbClr val="1C4587"/>
                  </a:solidFill>
                  <a:latin typeface="Trebuchet MS"/>
                  <a:ea typeface="Trebuchet MS"/>
                  <a:cs typeface="Trebuchet MS"/>
                  <a:sym typeface="Trebuchet MS"/>
                </a:rPr>
                <a:t>MULTI-SCENARIO </a:t>
              </a:r>
              <a:endParaRPr b="1" sz="2000">
                <a:solidFill>
                  <a:srgbClr val="1C4587"/>
                </a:solidFill>
                <a:latin typeface="Trebuchet MS"/>
                <a:ea typeface="Trebuchet MS"/>
                <a:cs typeface="Trebuchet MS"/>
                <a:sym typeface="Trebuchet MS"/>
              </a:endParaRPr>
            </a:p>
          </p:txBody>
        </p:sp>
        <p:sp>
          <p:nvSpPr>
            <p:cNvPr id="277" name="Google Shape;277;p27"/>
            <p:cNvSpPr txBox="1"/>
            <p:nvPr/>
          </p:nvSpPr>
          <p:spPr>
            <a:xfrm>
              <a:off x="3434498" y="2317800"/>
              <a:ext cx="23379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zh-CN" sz="2000">
                  <a:solidFill>
                    <a:srgbClr val="1C4587"/>
                  </a:solidFill>
                  <a:latin typeface="Trebuchet MS"/>
                  <a:ea typeface="Trebuchet MS"/>
                  <a:cs typeface="Trebuchet MS"/>
                  <a:sym typeface="Trebuchet MS"/>
                </a:rPr>
                <a:t>BASELINE TUNING</a:t>
              </a:r>
              <a:endParaRPr b="1" sz="2000">
                <a:solidFill>
                  <a:srgbClr val="1C4587"/>
                </a:solidFill>
                <a:latin typeface="Trebuchet MS"/>
                <a:ea typeface="Trebuchet MS"/>
                <a:cs typeface="Trebuchet MS"/>
                <a:sym typeface="Trebuchet MS"/>
              </a:endParaRPr>
            </a:p>
          </p:txBody>
        </p:sp>
        <p:sp>
          <p:nvSpPr>
            <p:cNvPr id="278" name="Google Shape;278;p27"/>
            <p:cNvSpPr txBox="1"/>
            <p:nvPr/>
          </p:nvSpPr>
          <p:spPr>
            <a:xfrm>
              <a:off x="5285350" y="3000075"/>
              <a:ext cx="22461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zh-CN" sz="2000">
                  <a:solidFill>
                    <a:srgbClr val="1C4587"/>
                  </a:solidFill>
                  <a:latin typeface="Trebuchet MS"/>
                  <a:ea typeface="Trebuchet MS"/>
                  <a:cs typeface="Trebuchet MS"/>
                  <a:sym typeface="Trebuchet MS"/>
                </a:rPr>
                <a:t>MORE SAMPLES</a:t>
              </a:r>
              <a:endParaRPr b="1" sz="2000">
                <a:solidFill>
                  <a:srgbClr val="1C4587"/>
                </a:solidFill>
                <a:latin typeface="Trebuchet MS"/>
                <a:ea typeface="Trebuchet MS"/>
                <a:cs typeface="Trebuchet MS"/>
                <a:sym typeface="Trebuchet MS"/>
              </a:endParaRPr>
            </a:p>
          </p:txBody>
        </p:sp>
        <p:sp>
          <p:nvSpPr>
            <p:cNvPr id="279" name="Google Shape;279;p27"/>
            <p:cNvSpPr txBox="1"/>
            <p:nvPr/>
          </p:nvSpPr>
          <p:spPr>
            <a:xfrm>
              <a:off x="7451118" y="2502896"/>
              <a:ext cx="16296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zh-CN" sz="2000">
                  <a:solidFill>
                    <a:srgbClr val="1C4587"/>
                  </a:solidFill>
                  <a:latin typeface="Trebuchet MS"/>
                  <a:ea typeface="Trebuchet MS"/>
                  <a:cs typeface="Trebuchet MS"/>
                  <a:sym typeface="Trebuchet MS"/>
                </a:rPr>
                <a:t>MULTI-EDGE</a:t>
              </a:r>
              <a:endParaRPr b="1" sz="2000">
                <a:solidFill>
                  <a:srgbClr val="1C4587"/>
                </a:solidFill>
                <a:latin typeface="Trebuchet MS"/>
                <a:ea typeface="Trebuchet MS"/>
                <a:cs typeface="Trebuchet MS"/>
                <a:sym typeface="Trebuchet MS"/>
              </a:endParaRPr>
            </a:p>
          </p:txBody>
        </p:sp>
        <p:sp>
          <p:nvSpPr>
            <p:cNvPr id="280" name="Google Shape;280;p27"/>
            <p:cNvSpPr txBox="1"/>
            <p:nvPr/>
          </p:nvSpPr>
          <p:spPr>
            <a:xfrm>
              <a:off x="-11477" y="3360194"/>
              <a:ext cx="1755900" cy="677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zh-CN" sz="1200">
                  <a:solidFill>
                    <a:srgbClr val="333333"/>
                  </a:solidFill>
                  <a:latin typeface="Trebuchet MS"/>
                  <a:ea typeface="Trebuchet MS"/>
                  <a:cs typeface="Trebuchet MS"/>
                  <a:sym typeface="Trebuchet MS"/>
                </a:rPr>
                <a:t>Asynchronously update scheduling thresholds during inference. </a:t>
              </a:r>
              <a:endParaRPr sz="1200">
                <a:solidFill>
                  <a:srgbClr val="333333"/>
                </a:solidFill>
                <a:latin typeface="Trebuchet MS"/>
                <a:ea typeface="Trebuchet MS"/>
                <a:cs typeface="Trebuchet MS"/>
                <a:sym typeface="Trebuchet MS"/>
              </a:endParaRPr>
            </a:p>
          </p:txBody>
        </p:sp>
        <p:sp>
          <p:nvSpPr>
            <p:cNvPr id="281" name="Google Shape;281;p27"/>
            <p:cNvSpPr txBox="1"/>
            <p:nvPr/>
          </p:nvSpPr>
          <p:spPr>
            <a:xfrm>
              <a:off x="1786076" y="2965647"/>
              <a:ext cx="1840200" cy="677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zh-CN" sz="1200">
                  <a:solidFill>
                    <a:srgbClr val="333333"/>
                  </a:solidFill>
                  <a:latin typeface="Trebuchet MS"/>
                  <a:ea typeface="Trebuchet MS"/>
                  <a:cs typeface="Trebuchet MS"/>
                  <a:sym typeface="Trebuchet MS"/>
                </a:rPr>
                <a:t>Evaluate diverse bandwidths, latencies, and network dynamics. </a:t>
              </a:r>
              <a:endParaRPr sz="1200">
                <a:solidFill>
                  <a:srgbClr val="333333"/>
                </a:solidFill>
                <a:latin typeface="Trebuchet MS"/>
                <a:ea typeface="Trebuchet MS"/>
                <a:cs typeface="Trebuchet MS"/>
                <a:sym typeface="Trebuchet MS"/>
              </a:endParaRPr>
            </a:p>
          </p:txBody>
        </p:sp>
        <p:sp>
          <p:nvSpPr>
            <p:cNvPr id="282" name="Google Shape;282;p27"/>
            <p:cNvSpPr txBox="1"/>
            <p:nvPr/>
          </p:nvSpPr>
          <p:spPr>
            <a:xfrm>
              <a:off x="3719787" y="2628958"/>
              <a:ext cx="1755900" cy="677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zh-CN" sz="1200">
                  <a:solidFill>
                    <a:srgbClr val="333333"/>
                  </a:solidFill>
                  <a:latin typeface="Trebuchet MS"/>
                  <a:ea typeface="Trebuchet MS"/>
                  <a:cs typeface="Trebuchet MS"/>
                  <a:sym typeface="Trebuchet MS"/>
                </a:rPr>
                <a:t>Tune HSL and EdgeLLM thresholds for stronger and fairer baselines.</a:t>
              </a:r>
              <a:endParaRPr sz="1200">
                <a:solidFill>
                  <a:srgbClr val="333333"/>
                </a:solidFill>
                <a:latin typeface="Trebuchet MS"/>
                <a:ea typeface="Trebuchet MS"/>
                <a:cs typeface="Trebuchet MS"/>
                <a:sym typeface="Trebuchet MS"/>
              </a:endParaRPr>
            </a:p>
          </p:txBody>
        </p:sp>
        <p:sp>
          <p:nvSpPr>
            <p:cNvPr id="283" name="Google Shape;283;p27"/>
            <p:cNvSpPr txBox="1"/>
            <p:nvPr/>
          </p:nvSpPr>
          <p:spPr>
            <a:xfrm>
              <a:off x="5534205" y="3290075"/>
              <a:ext cx="1840200" cy="677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zh-CN" sz="1200">
                  <a:solidFill>
                    <a:srgbClr val="333333"/>
                  </a:solidFill>
                  <a:latin typeface="Trebuchet MS"/>
                  <a:ea typeface="Trebuchet MS"/>
                  <a:cs typeface="Trebuchet MS"/>
                  <a:sym typeface="Trebuchet MS"/>
                </a:rPr>
                <a:t>Increase the evaluation sample size when time and compute permit. </a:t>
              </a:r>
              <a:endParaRPr sz="1200">
                <a:solidFill>
                  <a:srgbClr val="333333"/>
                </a:solidFill>
                <a:latin typeface="Trebuchet MS"/>
                <a:ea typeface="Trebuchet MS"/>
                <a:cs typeface="Trebuchet MS"/>
                <a:sym typeface="Trebuchet MS"/>
              </a:endParaRPr>
            </a:p>
          </p:txBody>
        </p:sp>
        <p:sp>
          <p:nvSpPr>
            <p:cNvPr id="284" name="Google Shape;284;p27"/>
            <p:cNvSpPr txBox="1"/>
            <p:nvPr/>
          </p:nvSpPr>
          <p:spPr>
            <a:xfrm>
              <a:off x="7414825" y="2856950"/>
              <a:ext cx="1755900" cy="953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zh-CN" sz="1200">
                  <a:solidFill>
                    <a:srgbClr val="333333"/>
                  </a:solidFill>
                  <a:latin typeface="Trebuchet MS"/>
                  <a:ea typeface="Trebuchet MS"/>
                  <a:cs typeface="Trebuchet MS"/>
                  <a:sym typeface="Trebuchet MS"/>
                </a:rPr>
                <a:t>Extend PipeSD to multiple edge devices sharing one cloud and study resource-aware scheduling. </a:t>
              </a:r>
              <a:r>
                <a:rPr lang="zh-CN" sz="1200">
                  <a:solidFill>
                    <a:srgbClr val="333333"/>
                  </a:solidFill>
                  <a:latin typeface="Trebuchet MS"/>
                  <a:ea typeface="Trebuchet MS"/>
                  <a:cs typeface="Trebuchet MS"/>
                  <a:sym typeface="Trebuchet MS"/>
                </a:rPr>
                <a:t> </a:t>
              </a:r>
              <a:endParaRPr sz="1200">
                <a:solidFill>
                  <a:srgbClr val="333333"/>
                </a:solidFill>
                <a:latin typeface="Trebuchet MS"/>
                <a:ea typeface="Trebuchet MS"/>
                <a:cs typeface="Trebuchet MS"/>
                <a:sym typeface="Trebuchet MS"/>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pic>
        <p:nvPicPr>
          <p:cNvPr id="289" name="Google Shape;289;p28"/>
          <p:cNvPicPr preferRelativeResize="0"/>
          <p:nvPr/>
        </p:nvPicPr>
        <p:blipFill>
          <a:blip r:embed="rId3">
            <a:alphaModFix/>
          </a:blip>
          <a:stretch>
            <a:fillRect/>
          </a:stretch>
        </p:blipFill>
        <p:spPr>
          <a:xfrm>
            <a:off x="6382038" y="152353"/>
            <a:ext cx="2649075" cy="732650"/>
          </a:xfrm>
          <a:prstGeom prst="rect">
            <a:avLst/>
          </a:prstGeom>
          <a:noFill/>
          <a:ln>
            <a:noFill/>
          </a:ln>
        </p:spPr>
      </p:pic>
      <p:pic>
        <p:nvPicPr>
          <p:cNvPr id="290" name="Google Shape;290;p28"/>
          <p:cNvPicPr preferRelativeResize="0"/>
          <p:nvPr/>
        </p:nvPicPr>
        <p:blipFill rotWithShape="1">
          <a:blip r:embed="rId4">
            <a:alphaModFix/>
          </a:blip>
          <a:srcRect b="9297" l="681" r="1967" t="0"/>
          <a:stretch/>
        </p:blipFill>
        <p:spPr>
          <a:xfrm>
            <a:off x="0" y="3792200"/>
            <a:ext cx="9144003" cy="1351175"/>
          </a:xfrm>
          <a:prstGeom prst="rect">
            <a:avLst/>
          </a:prstGeom>
          <a:noFill/>
          <a:ln>
            <a:noFill/>
          </a:ln>
        </p:spPr>
      </p:pic>
      <p:sp>
        <p:nvSpPr>
          <p:cNvPr id="291" name="Google Shape;291;p28"/>
          <p:cNvSpPr txBox="1"/>
          <p:nvPr>
            <p:ph idx="4294967295" type="ctrTitle"/>
          </p:nvPr>
        </p:nvSpPr>
        <p:spPr>
          <a:xfrm>
            <a:off x="596550" y="1664288"/>
            <a:ext cx="7950900" cy="1399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SzPts val="990"/>
              <a:buNone/>
            </a:pPr>
            <a:r>
              <a:rPr b="1" lang="zh-CN" sz="5000"/>
              <a:t>Thank you for listening</a:t>
            </a:r>
            <a:endParaRPr b="1" sz="5000">
              <a:latin typeface="Trebuchet MS"/>
              <a:ea typeface="Trebuchet MS"/>
              <a:cs typeface="Trebuchet MS"/>
              <a:sym typeface="Trebuchet MS"/>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